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notesMasterIdLst>
    <p:notesMasterId r:id="rId52"/>
  </p:notesMasterIdLst>
  <p:handoutMasterIdLst>
    <p:handoutMasterId r:id="rId53"/>
  </p:handoutMasterIdLst>
  <p:sldIdLst>
    <p:sldId id="2891" r:id="rId2"/>
    <p:sldId id="5016" r:id="rId3"/>
    <p:sldId id="5017" r:id="rId4"/>
    <p:sldId id="4509" r:id="rId5"/>
    <p:sldId id="4538" r:id="rId6"/>
    <p:sldId id="4661" r:id="rId7"/>
    <p:sldId id="4080" r:id="rId8"/>
    <p:sldId id="4081" r:id="rId9"/>
    <p:sldId id="4082" r:id="rId10"/>
    <p:sldId id="4083" r:id="rId11"/>
    <p:sldId id="4084" r:id="rId12"/>
    <p:sldId id="4313" r:id="rId13"/>
    <p:sldId id="4314" r:id="rId14"/>
    <p:sldId id="4315" r:id="rId15"/>
    <p:sldId id="4316" r:id="rId16"/>
    <p:sldId id="4317" r:id="rId17"/>
    <p:sldId id="4318" r:id="rId18"/>
    <p:sldId id="4421" r:id="rId19"/>
    <p:sldId id="4320" r:id="rId20"/>
    <p:sldId id="4702" r:id="rId21"/>
    <p:sldId id="5020" r:id="rId22"/>
    <p:sldId id="4321" r:id="rId23"/>
    <p:sldId id="4322" r:id="rId24"/>
    <p:sldId id="4703" r:id="rId25"/>
    <p:sldId id="4071" r:id="rId26"/>
    <p:sldId id="2021" r:id="rId27"/>
    <p:sldId id="2018" r:id="rId28"/>
    <p:sldId id="2019" r:id="rId29"/>
    <p:sldId id="3921" r:id="rId30"/>
    <p:sldId id="2035" r:id="rId31"/>
    <p:sldId id="2036" r:id="rId32"/>
    <p:sldId id="2037" r:id="rId33"/>
    <p:sldId id="4157" r:id="rId34"/>
    <p:sldId id="2020" r:id="rId35"/>
    <p:sldId id="5021" r:id="rId36"/>
    <p:sldId id="5022" r:id="rId37"/>
    <p:sldId id="5023" r:id="rId38"/>
    <p:sldId id="5024" r:id="rId39"/>
    <p:sldId id="5025" r:id="rId40"/>
    <p:sldId id="5026" r:id="rId41"/>
    <p:sldId id="262" r:id="rId42"/>
    <p:sldId id="263" r:id="rId43"/>
    <p:sldId id="5018" r:id="rId44"/>
    <p:sldId id="5019" r:id="rId45"/>
    <p:sldId id="3527" r:id="rId46"/>
    <p:sldId id="3528" r:id="rId47"/>
    <p:sldId id="2833" r:id="rId48"/>
    <p:sldId id="4704" r:id="rId49"/>
    <p:sldId id="4208" r:id="rId50"/>
    <p:sldId id="1987" r:id="rId51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14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wepa" initials="r" lastIdx="3" clrIdx="0">
    <p:extLst>
      <p:ext uri="{19B8F6BF-5375-455C-9EA6-DF929625EA0E}">
        <p15:presenceInfo xmlns:p15="http://schemas.microsoft.com/office/powerpoint/2012/main" userId="rwep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FFFF00"/>
    <a:srgbClr val="FFFF66"/>
    <a:srgbClr val="05BCFE"/>
    <a:srgbClr val="B6FEDE"/>
    <a:srgbClr val="FFFAA4"/>
    <a:srgbClr val="FFFF99"/>
    <a:srgbClr val="FFC000"/>
    <a:srgbClr val="66CCFF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2700" autoAdjust="0"/>
    <p:restoredTop sz="95184" autoAdjust="0"/>
  </p:normalViewPr>
  <p:slideViewPr>
    <p:cSldViewPr>
      <p:cViewPr varScale="1">
        <p:scale>
          <a:sx n="91" d="100"/>
          <a:sy n="91" d="100"/>
        </p:scale>
        <p:origin x="234" y="51"/>
      </p:cViewPr>
      <p:guideLst>
        <p:guide orient="horz" pos="4110"/>
        <p:guide pos="1481"/>
      </p:guideLst>
    </p:cSldViewPr>
  </p:slideViewPr>
  <p:outlineViewPr>
    <p:cViewPr>
      <p:scale>
        <a:sx n="33" d="100"/>
        <a:sy n="33" d="100"/>
      </p:scale>
      <p:origin x="0" y="-274795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3235" y="58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D4FC04-06EC-4EE5-AFC5-869EA433F735}" type="doc">
      <dgm:prSet loTypeId="urn:microsoft.com/office/officeart/2005/8/layout/pyramid1" loCatId="pyramid" qsTypeId="urn:microsoft.com/office/officeart/2005/8/quickstyle/simple3" qsCatId="simple" csTypeId="urn:microsoft.com/office/officeart/2005/8/colors/colorful1" csCatId="colorful" phldr="1"/>
      <dgm:spPr/>
    </dgm:pt>
    <dgm:pt modelId="{59074501-6B58-498D-B9DE-60F802327CBE}">
      <dgm:prSet phldrT="[文字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zh-TW" altLang="en-US" sz="3200" dirty="0">
            <a:solidFill>
              <a:srgbClr val="002060"/>
            </a:solidFill>
          </a:endParaRPr>
        </a:p>
      </dgm:t>
    </dgm:pt>
    <dgm:pt modelId="{DDB9E394-4705-492E-A022-022D65A1E196}" type="sibTrans" cxnId="{F5B210F7-0A6B-4399-BF05-7FEE590E0C3B}">
      <dgm:prSet/>
      <dgm:spPr/>
      <dgm:t>
        <a:bodyPr/>
        <a:lstStyle/>
        <a:p>
          <a:endParaRPr lang="zh-TW" altLang="en-US"/>
        </a:p>
      </dgm:t>
    </dgm:pt>
    <dgm:pt modelId="{4C164D70-60C2-4520-89C6-DE56A8525846}" type="parTrans" cxnId="{F5B210F7-0A6B-4399-BF05-7FEE590E0C3B}">
      <dgm:prSet/>
      <dgm:spPr/>
      <dgm:t>
        <a:bodyPr/>
        <a:lstStyle/>
        <a:p>
          <a:endParaRPr lang="zh-TW" altLang="en-US"/>
        </a:p>
      </dgm:t>
    </dgm:pt>
    <dgm:pt modelId="{B087CF75-5FA3-4081-85FF-BE8BA76B6709}">
      <dgm:prSet phldrT="[文字]" custT="1"/>
      <dgm:spPr>
        <a:solidFill>
          <a:schemeClr val="bg1">
            <a:lumMod val="85000"/>
          </a:schemeClr>
        </a:solidFill>
      </dgm:spPr>
      <dgm:t>
        <a:bodyPr/>
        <a:lstStyle/>
        <a:p>
          <a:endParaRPr lang="zh-TW" altLang="en-US" sz="3200" dirty="0">
            <a:solidFill>
              <a:srgbClr val="002060"/>
            </a:solidFill>
          </a:endParaRPr>
        </a:p>
      </dgm:t>
    </dgm:pt>
    <dgm:pt modelId="{B377D933-5E19-441D-BB11-12F497470C4A}" type="sibTrans" cxnId="{5082CBAC-82AC-4D29-BA57-73ED20CFD193}">
      <dgm:prSet/>
      <dgm:spPr/>
      <dgm:t>
        <a:bodyPr/>
        <a:lstStyle/>
        <a:p>
          <a:endParaRPr lang="zh-TW" altLang="en-US"/>
        </a:p>
      </dgm:t>
    </dgm:pt>
    <dgm:pt modelId="{721B3784-C4A8-4467-92EE-E85FD63934B4}" type="parTrans" cxnId="{5082CBAC-82AC-4D29-BA57-73ED20CFD193}">
      <dgm:prSet/>
      <dgm:spPr/>
      <dgm:t>
        <a:bodyPr/>
        <a:lstStyle/>
        <a:p>
          <a:endParaRPr lang="zh-TW" altLang="en-US"/>
        </a:p>
      </dgm:t>
    </dgm:pt>
    <dgm:pt modelId="{9BC583AA-65DA-4388-AB84-DAFB00D7A49D}">
      <dgm:prSet phldrT="[文字]" custT="1"/>
      <dgm:spPr>
        <a:solidFill>
          <a:srgbClr val="92D050"/>
        </a:solidFill>
      </dgm:spPr>
      <dgm:t>
        <a:bodyPr/>
        <a:lstStyle/>
        <a:p>
          <a:endParaRPr lang="zh-TW" altLang="en-US" sz="3200" dirty="0">
            <a:solidFill>
              <a:srgbClr val="002060"/>
            </a:solidFill>
          </a:endParaRPr>
        </a:p>
      </dgm:t>
    </dgm:pt>
    <dgm:pt modelId="{3669CC12-9B65-4BC1-B3F2-F7E6271A73C0}" type="sibTrans" cxnId="{12E8796E-2D0E-4D8B-AACF-634F0545F954}">
      <dgm:prSet/>
      <dgm:spPr/>
      <dgm:t>
        <a:bodyPr/>
        <a:lstStyle/>
        <a:p>
          <a:endParaRPr lang="zh-TW" altLang="en-US"/>
        </a:p>
      </dgm:t>
    </dgm:pt>
    <dgm:pt modelId="{F6E47C43-7E15-4407-9C83-D70B59EBF428}" type="parTrans" cxnId="{12E8796E-2D0E-4D8B-AACF-634F0545F954}">
      <dgm:prSet/>
      <dgm:spPr/>
      <dgm:t>
        <a:bodyPr/>
        <a:lstStyle/>
        <a:p>
          <a:endParaRPr lang="zh-TW" altLang="en-US"/>
        </a:p>
      </dgm:t>
    </dgm:pt>
    <dgm:pt modelId="{598E24C7-6AA4-40CD-8060-80465F342C79}" type="pres">
      <dgm:prSet presAssocID="{ECD4FC04-06EC-4EE5-AFC5-869EA433F735}" presName="Name0" presStyleCnt="0">
        <dgm:presLayoutVars>
          <dgm:dir/>
          <dgm:animLvl val="lvl"/>
          <dgm:resizeHandles val="exact"/>
        </dgm:presLayoutVars>
      </dgm:prSet>
      <dgm:spPr/>
    </dgm:pt>
    <dgm:pt modelId="{063B7651-E05A-4294-B039-74DA255E6292}" type="pres">
      <dgm:prSet presAssocID="{9BC583AA-65DA-4388-AB84-DAFB00D7A49D}" presName="Name8" presStyleCnt="0"/>
      <dgm:spPr/>
    </dgm:pt>
    <dgm:pt modelId="{2FD1CB10-98CF-437E-A990-01497A58C1D9}" type="pres">
      <dgm:prSet presAssocID="{9BC583AA-65DA-4388-AB84-DAFB00D7A49D}" presName="level" presStyleLbl="node1" presStyleIdx="0" presStyleCnt="3">
        <dgm:presLayoutVars>
          <dgm:chMax val="1"/>
          <dgm:bulletEnabled val="1"/>
        </dgm:presLayoutVars>
      </dgm:prSet>
      <dgm:spPr/>
    </dgm:pt>
    <dgm:pt modelId="{F12DFF6B-F28C-4A33-BFE8-8736000ABFBB}" type="pres">
      <dgm:prSet presAssocID="{9BC583AA-65DA-4388-AB84-DAFB00D7A49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88E1571-BDD1-4A85-BEC3-E75C960AF4A9}" type="pres">
      <dgm:prSet presAssocID="{B087CF75-5FA3-4081-85FF-BE8BA76B6709}" presName="Name8" presStyleCnt="0"/>
      <dgm:spPr/>
    </dgm:pt>
    <dgm:pt modelId="{63EA7675-6554-4DD8-9A2A-94FEFE20EDAA}" type="pres">
      <dgm:prSet presAssocID="{B087CF75-5FA3-4081-85FF-BE8BA76B6709}" presName="level" presStyleLbl="node1" presStyleIdx="1" presStyleCnt="3">
        <dgm:presLayoutVars>
          <dgm:chMax val="1"/>
          <dgm:bulletEnabled val="1"/>
        </dgm:presLayoutVars>
      </dgm:prSet>
      <dgm:spPr/>
    </dgm:pt>
    <dgm:pt modelId="{5FE9D366-48D3-40B8-9BA1-EDE8232BD21A}" type="pres">
      <dgm:prSet presAssocID="{B087CF75-5FA3-4081-85FF-BE8BA76B6709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40C48677-6711-4E03-BA3A-58D1146CCABA}" type="pres">
      <dgm:prSet presAssocID="{59074501-6B58-498D-B9DE-60F802327CBE}" presName="Name8" presStyleCnt="0"/>
      <dgm:spPr/>
    </dgm:pt>
    <dgm:pt modelId="{148BBDE0-713E-42D6-ABA3-72661A68C879}" type="pres">
      <dgm:prSet presAssocID="{59074501-6B58-498D-B9DE-60F802327CBE}" presName="level" presStyleLbl="node1" presStyleIdx="2" presStyleCnt="3">
        <dgm:presLayoutVars>
          <dgm:chMax val="1"/>
          <dgm:bulletEnabled val="1"/>
        </dgm:presLayoutVars>
      </dgm:prSet>
      <dgm:spPr/>
    </dgm:pt>
    <dgm:pt modelId="{BA0C0E4D-7F90-43AB-85BB-CE6348D2699B}" type="pres">
      <dgm:prSet presAssocID="{59074501-6B58-498D-B9DE-60F802327CBE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4FB66502-2EB5-4B14-98E4-D044896E1CAF}" type="presOf" srcId="{ECD4FC04-06EC-4EE5-AFC5-869EA433F735}" destId="{598E24C7-6AA4-40CD-8060-80465F342C79}" srcOrd="0" destOrd="0" presId="urn:microsoft.com/office/officeart/2005/8/layout/pyramid1"/>
    <dgm:cxn modelId="{12E8796E-2D0E-4D8B-AACF-634F0545F954}" srcId="{ECD4FC04-06EC-4EE5-AFC5-869EA433F735}" destId="{9BC583AA-65DA-4388-AB84-DAFB00D7A49D}" srcOrd="0" destOrd="0" parTransId="{F6E47C43-7E15-4407-9C83-D70B59EBF428}" sibTransId="{3669CC12-9B65-4BC1-B3F2-F7E6271A73C0}"/>
    <dgm:cxn modelId="{E895AF50-6C37-4C74-815A-ABBA28917D4B}" type="presOf" srcId="{B087CF75-5FA3-4081-85FF-BE8BA76B6709}" destId="{63EA7675-6554-4DD8-9A2A-94FEFE20EDAA}" srcOrd="0" destOrd="0" presId="urn:microsoft.com/office/officeart/2005/8/layout/pyramid1"/>
    <dgm:cxn modelId="{D596E987-6EA6-40CE-9A5E-41C017C70244}" type="presOf" srcId="{59074501-6B58-498D-B9DE-60F802327CBE}" destId="{148BBDE0-713E-42D6-ABA3-72661A68C879}" srcOrd="0" destOrd="0" presId="urn:microsoft.com/office/officeart/2005/8/layout/pyramid1"/>
    <dgm:cxn modelId="{3E191C96-C5B0-47A7-88E7-E3498D9E2C78}" type="presOf" srcId="{9BC583AA-65DA-4388-AB84-DAFB00D7A49D}" destId="{F12DFF6B-F28C-4A33-BFE8-8736000ABFBB}" srcOrd="1" destOrd="0" presId="urn:microsoft.com/office/officeart/2005/8/layout/pyramid1"/>
    <dgm:cxn modelId="{D09D2B99-B1DA-4C4B-A300-7BC6550C6D1C}" type="presOf" srcId="{B087CF75-5FA3-4081-85FF-BE8BA76B6709}" destId="{5FE9D366-48D3-40B8-9BA1-EDE8232BD21A}" srcOrd="1" destOrd="0" presId="urn:microsoft.com/office/officeart/2005/8/layout/pyramid1"/>
    <dgm:cxn modelId="{5082CBAC-82AC-4D29-BA57-73ED20CFD193}" srcId="{ECD4FC04-06EC-4EE5-AFC5-869EA433F735}" destId="{B087CF75-5FA3-4081-85FF-BE8BA76B6709}" srcOrd="1" destOrd="0" parTransId="{721B3784-C4A8-4467-92EE-E85FD63934B4}" sibTransId="{B377D933-5E19-441D-BB11-12F497470C4A}"/>
    <dgm:cxn modelId="{A5699AC0-2C0D-4F6A-9CD0-5834D311DDD8}" type="presOf" srcId="{59074501-6B58-498D-B9DE-60F802327CBE}" destId="{BA0C0E4D-7F90-43AB-85BB-CE6348D2699B}" srcOrd="1" destOrd="0" presId="urn:microsoft.com/office/officeart/2005/8/layout/pyramid1"/>
    <dgm:cxn modelId="{CF685CDE-4AF3-47B7-9B7A-391350B181CC}" type="presOf" srcId="{9BC583AA-65DA-4388-AB84-DAFB00D7A49D}" destId="{2FD1CB10-98CF-437E-A990-01497A58C1D9}" srcOrd="0" destOrd="0" presId="urn:microsoft.com/office/officeart/2005/8/layout/pyramid1"/>
    <dgm:cxn modelId="{F5B210F7-0A6B-4399-BF05-7FEE590E0C3B}" srcId="{ECD4FC04-06EC-4EE5-AFC5-869EA433F735}" destId="{59074501-6B58-498D-B9DE-60F802327CBE}" srcOrd="2" destOrd="0" parTransId="{4C164D70-60C2-4520-89C6-DE56A8525846}" sibTransId="{DDB9E394-4705-492E-A022-022D65A1E196}"/>
    <dgm:cxn modelId="{8D0391AC-D311-4F9C-B8EB-8F97EB0ED173}" type="presParOf" srcId="{598E24C7-6AA4-40CD-8060-80465F342C79}" destId="{063B7651-E05A-4294-B039-74DA255E6292}" srcOrd="0" destOrd="0" presId="urn:microsoft.com/office/officeart/2005/8/layout/pyramid1"/>
    <dgm:cxn modelId="{436AABF5-549B-4D8E-A3BB-7FA24E74D664}" type="presParOf" srcId="{063B7651-E05A-4294-B039-74DA255E6292}" destId="{2FD1CB10-98CF-437E-A990-01497A58C1D9}" srcOrd="0" destOrd="0" presId="urn:microsoft.com/office/officeart/2005/8/layout/pyramid1"/>
    <dgm:cxn modelId="{E951AE69-1BF8-4EE4-ADEB-CD332FC21216}" type="presParOf" srcId="{063B7651-E05A-4294-B039-74DA255E6292}" destId="{F12DFF6B-F28C-4A33-BFE8-8736000ABFBB}" srcOrd="1" destOrd="0" presId="urn:microsoft.com/office/officeart/2005/8/layout/pyramid1"/>
    <dgm:cxn modelId="{5DAC8732-E254-41CE-AC34-BF94519B83B9}" type="presParOf" srcId="{598E24C7-6AA4-40CD-8060-80465F342C79}" destId="{688E1571-BDD1-4A85-BEC3-E75C960AF4A9}" srcOrd="1" destOrd="0" presId="urn:microsoft.com/office/officeart/2005/8/layout/pyramid1"/>
    <dgm:cxn modelId="{ED40AA77-E573-4CD8-8534-8923C5E0C426}" type="presParOf" srcId="{688E1571-BDD1-4A85-BEC3-E75C960AF4A9}" destId="{63EA7675-6554-4DD8-9A2A-94FEFE20EDAA}" srcOrd="0" destOrd="0" presId="urn:microsoft.com/office/officeart/2005/8/layout/pyramid1"/>
    <dgm:cxn modelId="{E5B6788A-128B-4840-AED4-D6B635A1E16E}" type="presParOf" srcId="{688E1571-BDD1-4A85-BEC3-E75C960AF4A9}" destId="{5FE9D366-48D3-40B8-9BA1-EDE8232BD21A}" srcOrd="1" destOrd="0" presId="urn:microsoft.com/office/officeart/2005/8/layout/pyramid1"/>
    <dgm:cxn modelId="{1E203CF5-BB8D-4471-BB95-2EB7DD165E00}" type="presParOf" srcId="{598E24C7-6AA4-40CD-8060-80465F342C79}" destId="{40C48677-6711-4E03-BA3A-58D1146CCABA}" srcOrd="2" destOrd="0" presId="urn:microsoft.com/office/officeart/2005/8/layout/pyramid1"/>
    <dgm:cxn modelId="{F8864C44-EBB3-4455-8711-7DABE2A1AACE}" type="presParOf" srcId="{40C48677-6711-4E03-BA3A-58D1146CCABA}" destId="{148BBDE0-713E-42D6-ABA3-72661A68C879}" srcOrd="0" destOrd="0" presId="urn:microsoft.com/office/officeart/2005/8/layout/pyramid1"/>
    <dgm:cxn modelId="{3DA9CFF1-5CF3-4044-8894-C747286822EB}" type="presParOf" srcId="{40C48677-6711-4E03-BA3A-58D1146CCABA}" destId="{BA0C0E4D-7F90-43AB-85BB-CE6348D2699B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C03789-BC64-4935-8632-E35E76E9972B}" type="doc">
      <dgm:prSet loTypeId="urn:microsoft.com/office/officeart/2005/8/layout/gear1" loCatId="process" qsTypeId="urn:microsoft.com/office/officeart/2005/8/quickstyle/simple1" qsCatId="simple" csTypeId="urn:microsoft.com/office/officeart/2005/8/colors/colorful5" csCatId="colorful" phldr="1"/>
      <dgm:spPr/>
    </dgm:pt>
    <dgm:pt modelId="{5A37AEC5-E50F-4C16-BB6E-4402B1ECE791}">
      <dgm:prSet phldrT="[文字]" custT="1"/>
      <dgm:spPr/>
      <dgm:t>
        <a:bodyPr/>
        <a:lstStyle/>
        <a:p>
          <a:r>
            <a:rPr lang="zh-TW" altLang="en-US" sz="1800" b="1"/>
            <a:t>建模</a:t>
          </a:r>
          <a:endParaRPr lang="zh-TW" altLang="en-US" sz="1800" b="1" dirty="0"/>
        </a:p>
      </dgm:t>
    </dgm:pt>
    <dgm:pt modelId="{F4D5D23B-FEC1-48E1-A35F-B254B022B231}" type="parTrans" cxnId="{034B4AB7-8ACB-4A20-B4EC-525A7EAC129B}">
      <dgm:prSet/>
      <dgm:spPr/>
      <dgm:t>
        <a:bodyPr/>
        <a:lstStyle/>
        <a:p>
          <a:endParaRPr lang="zh-TW" altLang="en-US" sz="2000" b="1">
            <a:solidFill>
              <a:schemeClr val="bg1"/>
            </a:solidFill>
          </a:endParaRPr>
        </a:p>
      </dgm:t>
    </dgm:pt>
    <dgm:pt modelId="{A07C8366-37D9-4319-8A42-60A45C98C2CE}" type="sibTrans" cxnId="{034B4AB7-8ACB-4A20-B4EC-525A7EAC129B}">
      <dgm:prSet/>
      <dgm:spPr/>
      <dgm:t>
        <a:bodyPr/>
        <a:lstStyle/>
        <a:p>
          <a:endParaRPr lang="zh-TW" altLang="en-US" sz="2000" b="1">
            <a:solidFill>
              <a:srgbClr val="002060"/>
            </a:solidFill>
          </a:endParaRPr>
        </a:p>
      </dgm:t>
    </dgm:pt>
    <dgm:pt modelId="{27BB9797-5051-4371-BB0C-91B448390949}">
      <dgm:prSet phldrT="[文字]" custT="1"/>
      <dgm:spPr/>
      <dgm:t>
        <a:bodyPr/>
        <a:lstStyle/>
        <a:p>
          <a:r>
            <a:rPr lang="zh-TW" altLang="en-US" sz="1600" b="1"/>
            <a:t>繪圖</a:t>
          </a:r>
          <a:endParaRPr lang="zh-TW" altLang="en-US" sz="1600" b="1" dirty="0"/>
        </a:p>
      </dgm:t>
    </dgm:pt>
    <dgm:pt modelId="{55948E18-8EBB-4139-952D-3C0502BA9EBE}" type="parTrans" cxnId="{9A100364-CABF-4C4D-95EE-6F67F2A0F095}">
      <dgm:prSet/>
      <dgm:spPr/>
      <dgm:t>
        <a:bodyPr/>
        <a:lstStyle/>
        <a:p>
          <a:endParaRPr lang="zh-TW" altLang="en-US" sz="2000" b="1">
            <a:solidFill>
              <a:schemeClr val="bg1"/>
            </a:solidFill>
          </a:endParaRPr>
        </a:p>
      </dgm:t>
    </dgm:pt>
    <dgm:pt modelId="{18CC97EF-558A-45A6-A340-F1FC653140F1}" type="sibTrans" cxnId="{9A100364-CABF-4C4D-95EE-6F67F2A0F095}">
      <dgm:prSet/>
      <dgm:spPr/>
      <dgm:t>
        <a:bodyPr/>
        <a:lstStyle/>
        <a:p>
          <a:endParaRPr lang="zh-TW" altLang="en-US" sz="2000" b="1">
            <a:solidFill>
              <a:srgbClr val="002060"/>
            </a:solidFill>
          </a:endParaRPr>
        </a:p>
      </dgm:t>
    </dgm:pt>
    <dgm:pt modelId="{FF381BF7-E246-4B5E-8443-B73D7AF806CA}">
      <dgm:prSet phldrT="[文字]" custT="1"/>
      <dgm:spPr/>
      <dgm:t>
        <a:bodyPr/>
        <a:lstStyle/>
        <a:p>
          <a:r>
            <a:rPr lang="zh-TW" altLang="en-US" sz="1400" b="1"/>
            <a:t>摘要</a:t>
          </a:r>
          <a:endParaRPr lang="zh-TW" altLang="en-US" sz="1200" b="1" dirty="0"/>
        </a:p>
      </dgm:t>
    </dgm:pt>
    <dgm:pt modelId="{F8CE2746-9545-4749-A909-5B477CF94FED}" type="parTrans" cxnId="{A9207E77-ADFB-4FB2-B566-AB28ED708748}">
      <dgm:prSet/>
      <dgm:spPr/>
      <dgm:t>
        <a:bodyPr/>
        <a:lstStyle/>
        <a:p>
          <a:endParaRPr lang="zh-TW" altLang="en-US" sz="1600"/>
        </a:p>
      </dgm:t>
    </dgm:pt>
    <dgm:pt modelId="{D568A782-E7B5-4D0D-B6C2-92D668D906E9}" type="sibTrans" cxnId="{A9207E77-ADFB-4FB2-B566-AB28ED708748}">
      <dgm:prSet/>
      <dgm:spPr/>
      <dgm:t>
        <a:bodyPr/>
        <a:lstStyle/>
        <a:p>
          <a:endParaRPr lang="zh-TW" altLang="en-US" sz="1400">
            <a:solidFill>
              <a:srgbClr val="002060"/>
            </a:solidFill>
          </a:endParaRPr>
        </a:p>
      </dgm:t>
    </dgm:pt>
    <dgm:pt modelId="{A7B2F769-F071-4096-B384-E7B06C4FD6E9}" type="pres">
      <dgm:prSet presAssocID="{A8C03789-BC64-4935-8632-E35E76E9972B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91F69281-A9B8-44D0-896F-F3AB9DC2BFBB}" type="pres">
      <dgm:prSet presAssocID="{5A37AEC5-E50F-4C16-BB6E-4402B1ECE791}" presName="gear1" presStyleLbl="node1" presStyleIdx="0" presStyleCnt="3">
        <dgm:presLayoutVars>
          <dgm:chMax val="1"/>
          <dgm:bulletEnabled val="1"/>
        </dgm:presLayoutVars>
      </dgm:prSet>
      <dgm:spPr/>
    </dgm:pt>
    <dgm:pt modelId="{96DA389E-FF3F-4AF4-88EA-BBEE5C4B25E4}" type="pres">
      <dgm:prSet presAssocID="{5A37AEC5-E50F-4C16-BB6E-4402B1ECE791}" presName="gear1srcNode" presStyleLbl="node1" presStyleIdx="0" presStyleCnt="3"/>
      <dgm:spPr/>
    </dgm:pt>
    <dgm:pt modelId="{9EDE377A-5CED-4AB7-A54F-9EC30E221168}" type="pres">
      <dgm:prSet presAssocID="{5A37AEC5-E50F-4C16-BB6E-4402B1ECE791}" presName="gear1dstNode" presStyleLbl="node1" presStyleIdx="0" presStyleCnt="3"/>
      <dgm:spPr/>
    </dgm:pt>
    <dgm:pt modelId="{1DCF094C-4928-4D49-87C1-FC56874F157E}" type="pres">
      <dgm:prSet presAssocID="{27BB9797-5051-4371-BB0C-91B448390949}" presName="gear2" presStyleLbl="node1" presStyleIdx="1" presStyleCnt="3" custScaleX="145384" custScaleY="145384">
        <dgm:presLayoutVars>
          <dgm:chMax val="1"/>
          <dgm:bulletEnabled val="1"/>
        </dgm:presLayoutVars>
      </dgm:prSet>
      <dgm:spPr/>
    </dgm:pt>
    <dgm:pt modelId="{C1BDDB65-9445-4B43-8173-A7C5A7D0E78E}" type="pres">
      <dgm:prSet presAssocID="{27BB9797-5051-4371-BB0C-91B448390949}" presName="gear2srcNode" presStyleLbl="node1" presStyleIdx="1" presStyleCnt="3"/>
      <dgm:spPr/>
    </dgm:pt>
    <dgm:pt modelId="{9A7832AB-28DA-4E5C-B598-49A52CB731F9}" type="pres">
      <dgm:prSet presAssocID="{27BB9797-5051-4371-BB0C-91B448390949}" presName="gear2dstNode" presStyleLbl="node1" presStyleIdx="1" presStyleCnt="3"/>
      <dgm:spPr/>
    </dgm:pt>
    <dgm:pt modelId="{B1BDB757-D571-48C8-AD36-813C07434721}" type="pres">
      <dgm:prSet presAssocID="{FF381BF7-E246-4B5E-8443-B73D7AF806CA}" presName="gear3" presStyleLbl="node1" presStyleIdx="2" presStyleCnt="3" custScaleX="126724" custScaleY="126724"/>
      <dgm:spPr/>
    </dgm:pt>
    <dgm:pt modelId="{B6914FCE-8B9B-4528-A3E9-64A79EE565F9}" type="pres">
      <dgm:prSet presAssocID="{FF381BF7-E246-4B5E-8443-B73D7AF806CA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0A278AD1-EE77-46AB-946A-765F1D631CD9}" type="pres">
      <dgm:prSet presAssocID="{FF381BF7-E246-4B5E-8443-B73D7AF806CA}" presName="gear3srcNode" presStyleLbl="node1" presStyleIdx="2" presStyleCnt="3"/>
      <dgm:spPr/>
    </dgm:pt>
    <dgm:pt modelId="{A60F10FF-E64B-4422-B3F9-6F2AAF918275}" type="pres">
      <dgm:prSet presAssocID="{FF381BF7-E246-4B5E-8443-B73D7AF806CA}" presName="gear3dstNode" presStyleLbl="node1" presStyleIdx="2" presStyleCnt="3"/>
      <dgm:spPr/>
    </dgm:pt>
    <dgm:pt modelId="{EA09BA07-0CE8-49C2-BD24-7EEEDEE509FF}" type="pres">
      <dgm:prSet presAssocID="{A07C8366-37D9-4319-8A42-60A45C98C2CE}" presName="connector1" presStyleLbl="sibTrans2D1" presStyleIdx="0" presStyleCnt="3" custLinFactNeighborX="7734"/>
      <dgm:spPr/>
    </dgm:pt>
    <dgm:pt modelId="{4F76619F-0FE2-47DD-B8C4-57398F7A28E6}" type="pres">
      <dgm:prSet presAssocID="{18CC97EF-558A-45A6-A340-F1FC653140F1}" presName="connector2" presStyleLbl="sibTrans2D1" presStyleIdx="1" presStyleCnt="3"/>
      <dgm:spPr/>
    </dgm:pt>
    <dgm:pt modelId="{1F04464B-0728-429E-A941-4598E7FFB69B}" type="pres">
      <dgm:prSet presAssocID="{D568A782-E7B5-4D0D-B6C2-92D668D906E9}" presName="connector3" presStyleLbl="sibTrans2D1" presStyleIdx="2" presStyleCnt="3"/>
      <dgm:spPr/>
    </dgm:pt>
  </dgm:ptLst>
  <dgm:cxnLst>
    <dgm:cxn modelId="{F1491802-B7B9-4BF0-B0D5-031DDD1DB85A}" type="presOf" srcId="{27BB9797-5051-4371-BB0C-91B448390949}" destId="{C1BDDB65-9445-4B43-8173-A7C5A7D0E78E}" srcOrd="1" destOrd="0" presId="urn:microsoft.com/office/officeart/2005/8/layout/gear1"/>
    <dgm:cxn modelId="{74DC5703-5116-44E0-86A7-D60D06209BFB}" type="presOf" srcId="{5A37AEC5-E50F-4C16-BB6E-4402B1ECE791}" destId="{96DA389E-FF3F-4AF4-88EA-BBEE5C4B25E4}" srcOrd="1" destOrd="0" presId="urn:microsoft.com/office/officeart/2005/8/layout/gear1"/>
    <dgm:cxn modelId="{12ADEC12-FBA3-4B94-B438-E9E1BA979292}" type="presOf" srcId="{FF381BF7-E246-4B5E-8443-B73D7AF806CA}" destId="{B6914FCE-8B9B-4528-A3E9-64A79EE565F9}" srcOrd="1" destOrd="0" presId="urn:microsoft.com/office/officeart/2005/8/layout/gear1"/>
    <dgm:cxn modelId="{A3DC4D2D-5977-43A0-9C64-AF7B2374C28A}" type="presOf" srcId="{A8C03789-BC64-4935-8632-E35E76E9972B}" destId="{A7B2F769-F071-4096-B384-E7B06C4FD6E9}" srcOrd="0" destOrd="0" presId="urn:microsoft.com/office/officeart/2005/8/layout/gear1"/>
    <dgm:cxn modelId="{611F8732-7823-46EF-96FB-5AD4B21E1259}" type="presOf" srcId="{27BB9797-5051-4371-BB0C-91B448390949}" destId="{1DCF094C-4928-4D49-87C1-FC56874F157E}" srcOrd="0" destOrd="0" presId="urn:microsoft.com/office/officeart/2005/8/layout/gear1"/>
    <dgm:cxn modelId="{9A100364-CABF-4C4D-95EE-6F67F2A0F095}" srcId="{A8C03789-BC64-4935-8632-E35E76E9972B}" destId="{27BB9797-5051-4371-BB0C-91B448390949}" srcOrd="1" destOrd="0" parTransId="{55948E18-8EBB-4139-952D-3C0502BA9EBE}" sibTransId="{18CC97EF-558A-45A6-A340-F1FC653140F1}"/>
    <dgm:cxn modelId="{5FDBF465-D501-4146-8427-C72293469351}" type="presOf" srcId="{FF381BF7-E246-4B5E-8443-B73D7AF806CA}" destId="{B1BDB757-D571-48C8-AD36-813C07434721}" srcOrd="0" destOrd="0" presId="urn:microsoft.com/office/officeart/2005/8/layout/gear1"/>
    <dgm:cxn modelId="{73701266-1AEE-4EA1-B79C-EE9AE3B2971C}" type="presOf" srcId="{5A37AEC5-E50F-4C16-BB6E-4402B1ECE791}" destId="{91F69281-A9B8-44D0-896F-F3AB9DC2BFBB}" srcOrd="0" destOrd="0" presId="urn:microsoft.com/office/officeart/2005/8/layout/gear1"/>
    <dgm:cxn modelId="{A9207E77-ADFB-4FB2-B566-AB28ED708748}" srcId="{A8C03789-BC64-4935-8632-E35E76E9972B}" destId="{FF381BF7-E246-4B5E-8443-B73D7AF806CA}" srcOrd="2" destOrd="0" parTransId="{F8CE2746-9545-4749-A909-5B477CF94FED}" sibTransId="{D568A782-E7B5-4D0D-B6C2-92D668D906E9}"/>
    <dgm:cxn modelId="{8DB9A782-42EF-4DB3-90F3-FB52D7C5526F}" type="presOf" srcId="{FF381BF7-E246-4B5E-8443-B73D7AF806CA}" destId="{0A278AD1-EE77-46AB-946A-765F1D631CD9}" srcOrd="2" destOrd="0" presId="urn:microsoft.com/office/officeart/2005/8/layout/gear1"/>
    <dgm:cxn modelId="{AB5BC384-2E4C-4475-A210-8AAD4DB70898}" type="presOf" srcId="{18CC97EF-558A-45A6-A340-F1FC653140F1}" destId="{4F76619F-0FE2-47DD-B8C4-57398F7A28E6}" srcOrd="0" destOrd="0" presId="urn:microsoft.com/office/officeart/2005/8/layout/gear1"/>
    <dgm:cxn modelId="{4B98628B-D80D-4B5F-8FCB-08B155AD5D27}" type="presOf" srcId="{27BB9797-5051-4371-BB0C-91B448390949}" destId="{9A7832AB-28DA-4E5C-B598-49A52CB731F9}" srcOrd="2" destOrd="0" presId="urn:microsoft.com/office/officeart/2005/8/layout/gear1"/>
    <dgm:cxn modelId="{242976A4-78A8-4944-9FAC-627FBD04B0D9}" type="presOf" srcId="{FF381BF7-E246-4B5E-8443-B73D7AF806CA}" destId="{A60F10FF-E64B-4422-B3F9-6F2AAF918275}" srcOrd="3" destOrd="0" presId="urn:microsoft.com/office/officeart/2005/8/layout/gear1"/>
    <dgm:cxn modelId="{034B4AB7-8ACB-4A20-B4EC-525A7EAC129B}" srcId="{A8C03789-BC64-4935-8632-E35E76E9972B}" destId="{5A37AEC5-E50F-4C16-BB6E-4402B1ECE791}" srcOrd="0" destOrd="0" parTransId="{F4D5D23B-FEC1-48E1-A35F-B254B022B231}" sibTransId="{A07C8366-37D9-4319-8A42-60A45C98C2CE}"/>
    <dgm:cxn modelId="{8334A3EC-0336-49B2-97A0-9357308DDD3C}" type="presOf" srcId="{A07C8366-37D9-4319-8A42-60A45C98C2CE}" destId="{EA09BA07-0CE8-49C2-BD24-7EEEDEE509FF}" srcOrd="0" destOrd="0" presId="urn:microsoft.com/office/officeart/2005/8/layout/gear1"/>
    <dgm:cxn modelId="{FD9AA3ED-A080-4747-AA11-0CF4D7EF56AC}" type="presOf" srcId="{5A37AEC5-E50F-4C16-BB6E-4402B1ECE791}" destId="{9EDE377A-5CED-4AB7-A54F-9EC30E221168}" srcOrd="2" destOrd="0" presId="urn:microsoft.com/office/officeart/2005/8/layout/gear1"/>
    <dgm:cxn modelId="{CE1C63F5-429C-42C2-A27C-B129E694D890}" type="presOf" srcId="{D568A782-E7B5-4D0D-B6C2-92D668D906E9}" destId="{1F04464B-0728-429E-A941-4598E7FFB69B}" srcOrd="0" destOrd="0" presId="urn:microsoft.com/office/officeart/2005/8/layout/gear1"/>
    <dgm:cxn modelId="{7A1B587C-08BB-47B3-8455-A7014E4519AA}" type="presParOf" srcId="{A7B2F769-F071-4096-B384-E7B06C4FD6E9}" destId="{91F69281-A9B8-44D0-896F-F3AB9DC2BFBB}" srcOrd="0" destOrd="0" presId="urn:microsoft.com/office/officeart/2005/8/layout/gear1"/>
    <dgm:cxn modelId="{4BDCE865-2B34-498E-B0BE-CE547AF03779}" type="presParOf" srcId="{A7B2F769-F071-4096-B384-E7B06C4FD6E9}" destId="{96DA389E-FF3F-4AF4-88EA-BBEE5C4B25E4}" srcOrd="1" destOrd="0" presId="urn:microsoft.com/office/officeart/2005/8/layout/gear1"/>
    <dgm:cxn modelId="{F4CC4ED3-5B6D-4CB9-8270-5C25CC4B403D}" type="presParOf" srcId="{A7B2F769-F071-4096-B384-E7B06C4FD6E9}" destId="{9EDE377A-5CED-4AB7-A54F-9EC30E221168}" srcOrd="2" destOrd="0" presId="urn:microsoft.com/office/officeart/2005/8/layout/gear1"/>
    <dgm:cxn modelId="{BCF8FED5-B064-4892-AB5B-8D9ADEB97EEB}" type="presParOf" srcId="{A7B2F769-F071-4096-B384-E7B06C4FD6E9}" destId="{1DCF094C-4928-4D49-87C1-FC56874F157E}" srcOrd="3" destOrd="0" presId="urn:microsoft.com/office/officeart/2005/8/layout/gear1"/>
    <dgm:cxn modelId="{DDD876F7-256D-49FB-B046-1828AA7291BB}" type="presParOf" srcId="{A7B2F769-F071-4096-B384-E7B06C4FD6E9}" destId="{C1BDDB65-9445-4B43-8173-A7C5A7D0E78E}" srcOrd="4" destOrd="0" presId="urn:microsoft.com/office/officeart/2005/8/layout/gear1"/>
    <dgm:cxn modelId="{F24F963E-7782-4D75-86C8-176609185DF2}" type="presParOf" srcId="{A7B2F769-F071-4096-B384-E7B06C4FD6E9}" destId="{9A7832AB-28DA-4E5C-B598-49A52CB731F9}" srcOrd="5" destOrd="0" presId="urn:microsoft.com/office/officeart/2005/8/layout/gear1"/>
    <dgm:cxn modelId="{ED773041-C8F3-4EA3-8973-BC250D5C2F9A}" type="presParOf" srcId="{A7B2F769-F071-4096-B384-E7B06C4FD6E9}" destId="{B1BDB757-D571-48C8-AD36-813C07434721}" srcOrd="6" destOrd="0" presId="urn:microsoft.com/office/officeart/2005/8/layout/gear1"/>
    <dgm:cxn modelId="{FB30155C-F16F-4079-A93C-0F60B045E1EE}" type="presParOf" srcId="{A7B2F769-F071-4096-B384-E7B06C4FD6E9}" destId="{B6914FCE-8B9B-4528-A3E9-64A79EE565F9}" srcOrd="7" destOrd="0" presId="urn:microsoft.com/office/officeart/2005/8/layout/gear1"/>
    <dgm:cxn modelId="{BB8858A0-EF9E-498A-BD3B-53D83F6B28AF}" type="presParOf" srcId="{A7B2F769-F071-4096-B384-E7B06C4FD6E9}" destId="{0A278AD1-EE77-46AB-946A-765F1D631CD9}" srcOrd="8" destOrd="0" presId="urn:microsoft.com/office/officeart/2005/8/layout/gear1"/>
    <dgm:cxn modelId="{AA964C20-9632-4261-A378-E0686038ADD7}" type="presParOf" srcId="{A7B2F769-F071-4096-B384-E7B06C4FD6E9}" destId="{A60F10FF-E64B-4422-B3F9-6F2AAF918275}" srcOrd="9" destOrd="0" presId="urn:microsoft.com/office/officeart/2005/8/layout/gear1"/>
    <dgm:cxn modelId="{D39DE6CE-F2CA-45A4-ACB7-E4377F3778B8}" type="presParOf" srcId="{A7B2F769-F071-4096-B384-E7B06C4FD6E9}" destId="{EA09BA07-0CE8-49C2-BD24-7EEEDEE509FF}" srcOrd="10" destOrd="0" presId="urn:microsoft.com/office/officeart/2005/8/layout/gear1"/>
    <dgm:cxn modelId="{D9FE6D35-3E0F-4528-B2F3-09645BBDB13E}" type="presParOf" srcId="{A7B2F769-F071-4096-B384-E7B06C4FD6E9}" destId="{4F76619F-0FE2-47DD-B8C4-57398F7A28E6}" srcOrd="11" destOrd="0" presId="urn:microsoft.com/office/officeart/2005/8/layout/gear1"/>
    <dgm:cxn modelId="{0DDD92D2-D76D-44C7-9ED5-D54F01EEF860}" type="presParOf" srcId="{A7B2F769-F071-4096-B384-E7B06C4FD6E9}" destId="{1F04464B-0728-429E-A941-4598E7FFB69B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BB7C26-08B3-44A1-9204-8F0811E04AAE}" type="doc">
      <dgm:prSet loTypeId="urn:microsoft.com/office/officeart/2005/8/layout/radial5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TW" altLang="en-US"/>
        </a:p>
      </dgm:t>
    </dgm:pt>
    <dgm:pt modelId="{307748B8-B721-4843-933C-4FD718DE28B0}">
      <dgm:prSet phldrT="[文字]" phldr="0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rPr>
            <a:t>DATA</a:t>
          </a:r>
          <a:endParaRPr lang="zh-TW" altLang="en-US" sz="28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9DFF86A1-C5D3-4725-ABCC-C670ED62DD16}" type="parTrans" cxnId="{E685A525-457A-4259-ACCE-7BAF10421BDB}">
      <dgm:prSet/>
      <dgm:spPr/>
      <dgm:t>
        <a:bodyPr/>
        <a:lstStyle/>
        <a:p>
          <a:endParaRPr lang="zh-TW" altLang="en-US"/>
        </a:p>
      </dgm:t>
    </dgm:pt>
    <dgm:pt modelId="{D4BFB0D8-7208-4BBB-BDFD-EAFE1C7F4D58}" type="sibTrans" cxnId="{E685A525-457A-4259-ACCE-7BAF10421BDB}">
      <dgm:prSet/>
      <dgm:spPr/>
      <dgm:t>
        <a:bodyPr/>
        <a:lstStyle/>
        <a:p>
          <a:endParaRPr lang="zh-TW" altLang="en-US"/>
        </a:p>
      </dgm:t>
    </dgm:pt>
    <dgm:pt modelId="{49425529-F8D1-44C9-8359-2AFE0BAE3181}">
      <dgm:prSet phldrT="[文字]" phldr="0" custT="1"/>
      <dgm:spPr/>
      <dgm:t>
        <a:bodyPr/>
        <a:lstStyle/>
        <a:p>
          <a:endParaRPr lang="zh-TW" alt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2E3CA3E-6E83-48EF-BF72-F6064A3BF92D}" type="parTrans" cxnId="{06EEA89F-A2C2-46F4-8409-DD7673963255}">
      <dgm:prSet/>
      <dgm:spPr/>
      <dgm:t>
        <a:bodyPr/>
        <a:lstStyle/>
        <a:p>
          <a:endParaRPr lang="zh-TW" altLang="en-US"/>
        </a:p>
      </dgm:t>
    </dgm:pt>
    <dgm:pt modelId="{7358FCFF-77E0-4DF0-9D17-E2A635865A4F}" type="sibTrans" cxnId="{06EEA89F-A2C2-46F4-8409-DD7673963255}">
      <dgm:prSet/>
      <dgm:spPr/>
      <dgm:t>
        <a:bodyPr/>
        <a:lstStyle/>
        <a:p>
          <a:endParaRPr lang="zh-TW" altLang="en-US"/>
        </a:p>
      </dgm:t>
    </dgm:pt>
    <dgm:pt modelId="{47E8A007-3218-4BC6-A157-9BE62A5A6034}">
      <dgm:prSet phldrT="[文字]" phldr="0" custT="1"/>
      <dgm:spPr/>
      <dgm:t>
        <a:bodyPr/>
        <a:lstStyle/>
        <a:p>
          <a:endParaRPr lang="zh-TW" alt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22293EF-9A7C-45A1-B4B8-8AE7AFC29E89}" type="parTrans" cxnId="{D33F7250-3484-4BF1-8910-024328CE542D}">
      <dgm:prSet/>
      <dgm:spPr/>
      <dgm:t>
        <a:bodyPr/>
        <a:lstStyle/>
        <a:p>
          <a:endParaRPr lang="zh-TW" altLang="en-US"/>
        </a:p>
      </dgm:t>
    </dgm:pt>
    <dgm:pt modelId="{37F4FC27-A12F-4C51-A05D-6A94958D26E6}" type="sibTrans" cxnId="{D33F7250-3484-4BF1-8910-024328CE542D}">
      <dgm:prSet/>
      <dgm:spPr/>
      <dgm:t>
        <a:bodyPr/>
        <a:lstStyle/>
        <a:p>
          <a:endParaRPr lang="zh-TW" altLang="en-US"/>
        </a:p>
      </dgm:t>
    </dgm:pt>
    <dgm:pt modelId="{0CBDDD02-AC8E-4D1D-9B02-E8CEDBEC43F9}">
      <dgm:prSet phldrT="[文字]" phldr="0" custT="1"/>
      <dgm:spPr/>
      <dgm:t>
        <a:bodyPr/>
        <a:lstStyle/>
        <a:p>
          <a:endParaRPr lang="zh-TW" alt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8248EC8-4EB7-426B-B61F-576534BB7BB4}" type="parTrans" cxnId="{984EB311-0E50-490C-BACF-4EFFA060344B}">
      <dgm:prSet/>
      <dgm:spPr/>
      <dgm:t>
        <a:bodyPr/>
        <a:lstStyle/>
        <a:p>
          <a:endParaRPr lang="zh-TW" altLang="en-US"/>
        </a:p>
      </dgm:t>
    </dgm:pt>
    <dgm:pt modelId="{19FEA222-A6EE-4E56-A716-22CA73852604}" type="sibTrans" cxnId="{984EB311-0E50-490C-BACF-4EFFA060344B}">
      <dgm:prSet/>
      <dgm:spPr/>
      <dgm:t>
        <a:bodyPr/>
        <a:lstStyle/>
        <a:p>
          <a:endParaRPr lang="zh-TW" altLang="en-US"/>
        </a:p>
      </dgm:t>
    </dgm:pt>
    <dgm:pt modelId="{2A1B3A0A-88C0-4219-A1F9-26BB10F53748}">
      <dgm:prSet phldrT="[文字]" phldr="0" custT="1"/>
      <dgm:spPr/>
      <dgm:t>
        <a:bodyPr/>
        <a:lstStyle/>
        <a:p>
          <a:endParaRPr lang="zh-TW" alt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ED76584A-9C23-409C-A783-79171BF77CB4}" type="parTrans" cxnId="{F87C449C-A041-4AB1-82F0-6AFACAAB5DF7}">
      <dgm:prSet/>
      <dgm:spPr/>
      <dgm:t>
        <a:bodyPr/>
        <a:lstStyle/>
        <a:p>
          <a:endParaRPr lang="zh-TW" altLang="en-US"/>
        </a:p>
      </dgm:t>
    </dgm:pt>
    <dgm:pt modelId="{30FBD300-B768-4480-928D-744DDF376DA7}" type="sibTrans" cxnId="{F87C449C-A041-4AB1-82F0-6AFACAAB5DF7}">
      <dgm:prSet/>
      <dgm:spPr/>
      <dgm:t>
        <a:bodyPr/>
        <a:lstStyle/>
        <a:p>
          <a:endParaRPr lang="zh-TW" altLang="en-US"/>
        </a:p>
      </dgm:t>
    </dgm:pt>
    <dgm:pt modelId="{2124C514-D380-4EF5-A2FA-5D93565744F9}">
      <dgm:prSet phldrT="[文字]" phldr="0" custT="1"/>
      <dgm:spPr/>
      <dgm:t>
        <a:bodyPr/>
        <a:lstStyle/>
        <a:p>
          <a:endParaRPr lang="zh-TW" altLang="en-US" sz="20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67023620-9AD3-4DFC-B832-50B09F5E0F4A}" type="parTrans" cxnId="{C49CB691-EDAF-4BF2-9E23-228E19EEA4C6}">
      <dgm:prSet/>
      <dgm:spPr/>
      <dgm:t>
        <a:bodyPr/>
        <a:lstStyle/>
        <a:p>
          <a:endParaRPr lang="zh-TW" altLang="en-US"/>
        </a:p>
      </dgm:t>
    </dgm:pt>
    <dgm:pt modelId="{EF91BFD9-D795-4E46-A7D5-4BA7C4CFC4F3}" type="sibTrans" cxnId="{C49CB691-EDAF-4BF2-9E23-228E19EEA4C6}">
      <dgm:prSet/>
      <dgm:spPr/>
      <dgm:t>
        <a:bodyPr/>
        <a:lstStyle/>
        <a:p>
          <a:endParaRPr lang="zh-TW" altLang="en-US"/>
        </a:p>
      </dgm:t>
    </dgm:pt>
    <dgm:pt modelId="{A071CE62-A714-4630-94DB-1C78D2FAA821}" type="pres">
      <dgm:prSet presAssocID="{20BB7C26-08B3-44A1-9204-8F0811E04AAE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9C6C373-AAA1-41CC-A9F1-B1690E71B493}" type="pres">
      <dgm:prSet presAssocID="{307748B8-B721-4843-933C-4FD718DE28B0}" presName="centerShape" presStyleLbl="node0" presStyleIdx="0" presStyleCnt="1"/>
      <dgm:spPr/>
    </dgm:pt>
    <dgm:pt modelId="{D339573B-B34D-4517-BE72-99C0A8841D29}" type="pres">
      <dgm:prSet presAssocID="{D2E3CA3E-6E83-48EF-BF72-F6064A3BF92D}" presName="parTrans" presStyleLbl="sibTrans2D1" presStyleIdx="0" presStyleCnt="5"/>
      <dgm:spPr/>
    </dgm:pt>
    <dgm:pt modelId="{8DB614E1-0200-4C3C-BF2F-506D7A6E9760}" type="pres">
      <dgm:prSet presAssocID="{D2E3CA3E-6E83-48EF-BF72-F6064A3BF92D}" presName="connectorText" presStyleLbl="sibTrans2D1" presStyleIdx="0" presStyleCnt="5"/>
      <dgm:spPr/>
    </dgm:pt>
    <dgm:pt modelId="{3078A574-1A31-4592-86D8-E59B8D18F972}" type="pres">
      <dgm:prSet presAssocID="{49425529-F8D1-44C9-8359-2AFE0BAE3181}" presName="node" presStyleLbl="node1" presStyleIdx="0" presStyleCnt="5">
        <dgm:presLayoutVars>
          <dgm:bulletEnabled val="1"/>
        </dgm:presLayoutVars>
      </dgm:prSet>
      <dgm:spPr/>
    </dgm:pt>
    <dgm:pt modelId="{AC1605C8-52C6-476B-A5CB-3EC0E5B75262}" type="pres">
      <dgm:prSet presAssocID="{522293EF-9A7C-45A1-B4B8-8AE7AFC29E89}" presName="parTrans" presStyleLbl="sibTrans2D1" presStyleIdx="1" presStyleCnt="5"/>
      <dgm:spPr/>
    </dgm:pt>
    <dgm:pt modelId="{11092491-6F4E-40EF-83F7-E3E2A1411FAA}" type="pres">
      <dgm:prSet presAssocID="{522293EF-9A7C-45A1-B4B8-8AE7AFC29E89}" presName="connectorText" presStyleLbl="sibTrans2D1" presStyleIdx="1" presStyleCnt="5"/>
      <dgm:spPr/>
    </dgm:pt>
    <dgm:pt modelId="{7B3649E6-8C60-441A-8CE2-C2E20F473322}" type="pres">
      <dgm:prSet presAssocID="{47E8A007-3218-4BC6-A157-9BE62A5A6034}" presName="node" presStyleLbl="node1" presStyleIdx="1" presStyleCnt="5">
        <dgm:presLayoutVars>
          <dgm:bulletEnabled val="1"/>
        </dgm:presLayoutVars>
      </dgm:prSet>
      <dgm:spPr/>
    </dgm:pt>
    <dgm:pt modelId="{6AFD0899-A9FB-466A-A1BE-D7C56F17610E}" type="pres">
      <dgm:prSet presAssocID="{E8248EC8-4EB7-426B-B61F-576534BB7BB4}" presName="parTrans" presStyleLbl="sibTrans2D1" presStyleIdx="2" presStyleCnt="5"/>
      <dgm:spPr/>
    </dgm:pt>
    <dgm:pt modelId="{6E42849E-0C39-4D2E-8E77-64ACF2D3A45A}" type="pres">
      <dgm:prSet presAssocID="{E8248EC8-4EB7-426B-B61F-576534BB7BB4}" presName="connectorText" presStyleLbl="sibTrans2D1" presStyleIdx="2" presStyleCnt="5"/>
      <dgm:spPr/>
    </dgm:pt>
    <dgm:pt modelId="{7109C361-E6B4-41CB-BB56-B37764FD914E}" type="pres">
      <dgm:prSet presAssocID="{0CBDDD02-AC8E-4D1D-9B02-E8CEDBEC43F9}" presName="node" presStyleLbl="node1" presStyleIdx="2" presStyleCnt="5">
        <dgm:presLayoutVars>
          <dgm:bulletEnabled val="1"/>
        </dgm:presLayoutVars>
      </dgm:prSet>
      <dgm:spPr/>
    </dgm:pt>
    <dgm:pt modelId="{EF68F423-1268-422F-B13C-86B4BCEF675C}" type="pres">
      <dgm:prSet presAssocID="{ED76584A-9C23-409C-A783-79171BF77CB4}" presName="parTrans" presStyleLbl="sibTrans2D1" presStyleIdx="3" presStyleCnt="5"/>
      <dgm:spPr/>
    </dgm:pt>
    <dgm:pt modelId="{45FC744F-D478-4C90-AC63-33D5AD2FBAA3}" type="pres">
      <dgm:prSet presAssocID="{ED76584A-9C23-409C-A783-79171BF77CB4}" presName="connectorText" presStyleLbl="sibTrans2D1" presStyleIdx="3" presStyleCnt="5"/>
      <dgm:spPr/>
    </dgm:pt>
    <dgm:pt modelId="{25022B17-5B7C-4724-9C9C-F64DC899451C}" type="pres">
      <dgm:prSet presAssocID="{2A1B3A0A-88C0-4219-A1F9-26BB10F53748}" presName="node" presStyleLbl="node1" presStyleIdx="3" presStyleCnt="5">
        <dgm:presLayoutVars>
          <dgm:bulletEnabled val="1"/>
        </dgm:presLayoutVars>
      </dgm:prSet>
      <dgm:spPr/>
    </dgm:pt>
    <dgm:pt modelId="{BD11C2A4-1FDF-4904-A499-0C369FC25022}" type="pres">
      <dgm:prSet presAssocID="{67023620-9AD3-4DFC-B832-50B09F5E0F4A}" presName="parTrans" presStyleLbl="sibTrans2D1" presStyleIdx="4" presStyleCnt="5"/>
      <dgm:spPr/>
    </dgm:pt>
    <dgm:pt modelId="{D8026E8D-B793-40D1-9127-8052931FC452}" type="pres">
      <dgm:prSet presAssocID="{67023620-9AD3-4DFC-B832-50B09F5E0F4A}" presName="connectorText" presStyleLbl="sibTrans2D1" presStyleIdx="4" presStyleCnt="5"/>
      <dgm:spPr/>
    </dgm:pt>
    <dgm:pt modelId="{37390D33-54E1-40F4-971F-727BB29411DF}" type="pres">
      <dgm:prSet presAssocID="{2124C514-D380-4EF5-A2FA-5D93565744F9}" presName="node" presStyleLbl="node1" presStyleIdx="4" presStyleCnt="5">
        <dgm:presLayoutVars>
          <dgm:bulletEnabled val="1"/>
        </dgm:presLayoutVars>
      </dgm:prSet>
      <dgm:spPr/>
    </dgm:pt>
  </dgm:ptLst>
  <dgm:cxnLst>
    <dgm:cxn modelId="{2C40F40D-3BD6-472A-92E5-A85DCFC7B1DE}" type="presOf" srcId="{0CBDDD02-AC8E-4D1D-9B02-E8CEDBEC43F9}" destId="{7109C361-E6B4-41CB-BB56-B37764FD914E}" srcOrd="0" destOrd="0" presId="urn:microsoft.com/office/officeart/2005/8/layout/radial5"/>
    <dgm:cxn modelId="{984EB311-0E50-490C-BACF-4EFFA060344B}" srcId="{307748B8-B721-4843-933C-4FD718DE28B0}" destId="{0CBDDD02-AC8E-4D1D-9B02-E8CEDBEC43F9}" srcOrd="2" destOrd="0" parTransId="{E8248EC8-4EB7-426B-B61F-576534BB7BB4}" sibTransId="{19FEA222-A6EE-4E56-A716-22CA73852604}"/>
    <dgm:cxn modelId="{E685A525-457A-4259-ACCE-7BAF10421BDB}" srcId="{20BB7C26-08B3-44A1-9204-8F0811E04AAE}" destId="{307748B8-B721-4843-933C-4FD718DE28B0}" srcOrd="0" destOrd="0" parTransId="{9DFF86A1-C5D3-4725-ABCC-C670ED62DD16}" sibTransId="{D4BFB0D8-7208-4BBB-BDFD-EAFE1C7F4D58}"/>
    <dgm:cxn modelId="{4A863D61-8C2F-4EFC-92D4-5FA6B129498B}" type="presOf" srcId="{2A1B3A0A-88C0-4219-A1F9-26BB10F53748}" destId="{25022B17-5B7C-4724-9C9C-F64DC899451C}" srcOrd="0" destOrd="0" presId="urn:microsoft.com/office/officeart/2005/8/layout/radial5"/>
    <dgm:cxn modelId="{601CE048-4248-4FA3-8B0E-5472B31F482B}" type="presOf" srcId="{47E8A007-3218-4BC6-A157-9BE62A5A6034}" destId="{7B3649E6-8C60-441A-8CE2-C2E20F473322}" srcOrd="0" destOrd="0" presId="urn:microsoft.com/office/officeart/2005/8/layout/radial5"/>
    <dgm:cxn modelId="{7F6EF54C-72BB-469E-9D08-C89464B7EBAD}" type="presOf" srcId="{307748B8-B721-4843-933C-4FD718DE28B0}" destId="{89C6C373-AAA1-41CC-A9F1-B1690E71B493}" srcOrd="0" destOrd="0" presId="urn:microsoft.com/office/officeart/2005/8/layout/radial5"/>
    <dgm:cxn modelId="{667D494E-26CB-4508-95EE-7A60769D4331}" type="presOf" srcId="{522293EF-9A7C-45A1-B4B8-8AE7AFC29E89}" destId="{11092491-6F4E-40EF-83F7-E3E2A1411FAA}" srcOrd="1" destOrd="0" presId="urn:microsoft.com/office/officeart/2005/8/layout/radial5"/>
    <dgm:cxn modelId="{D33F7250-3484-4BF1-8910-024328CE542D}" srcId="{307748B8-B721-4843-933C-4FD718DE28B0}" destId="{47E8A007-3218-4BC6-A157-9BE62A5A6034}" srcOrd="1" destOrd="0" parTransId="{522293EF-9A7C-45A1-B4B8-8AE7AFC29E89}" sibTransId="{37F4FC27-A12F-4C51-A05D-6A94958D26E6}"/>
    <dgm:cxn modelId="{F49FD651-D3F8-42DB-94CD-4242FBBE1B83}" type="presOf" srcId="{D2E3CA3E-6E83-48EF-BF72-F6064A3BF92D}" destId="{8DB614E1-0200-4C3C-BF2F-506D7A6E9760}" srcOrd="1" destOrd="0" presId="urn:microsoft.com/office/officeart/2005/8/layout/radial5"/>
    <dgm:cxn modelId="{3855BB81-129A-4E12-B7FD-BD1819495789}" type="presOf" srcId="{20BB7C26-08B3-44A1-9204-8F0811E04AAE}" destId="{A071CE62-A714-4630-94DB-1C78D2FAA821}" srcOrd="0" destOrd="0" presId="urn:microsoft.com/office/officeart/2005/8/layout/radial5"/>
    <dgm:cxn modelId="{6251A384-74DB-4086-8C8A-FA4CA7706DE0}" type="presOf" srcId="{D2E3CA3E-6E83-48EF-BF72-F6064A3BF92D}" destId="{D339573B-B34D-4517-BE72-99C0A8841D29}" srcOrd="0" destOrd="0" presId="urn:microsoft.com/office/officeart/2005/8/layout/radial5"/>
    <dgm:cxn modelId="{C49CB691-EDAF-4BF2-9E23-228E19EEA4C6}" srcId="{307748B8-B721-4843-933C-4FD718DE28B0}" destId="{2124C514-D380-4EF5-A2FA-5D93565744F9}" srcOrd="4" destOrd="0" parTransId="{67023620-9AD3-4DFC-B832-50B09F5E0F4A}" sibTransId="{EF91BFD9-D795-4E46-A7D5-4BA7C4CFC4F3}"/>
    <dgm:cxn modelId="{F87C449C-A041-4AB1-82F0-6AFACAAB5DF7}" srcId="{307748B8-B721-4843-933C-4FD718DE28B0}" destId="{2A1B3A0A-88C0-4219-A1F9-26BB10F53748}" srcOrd="3" destOrd="0" parTransId="{ED76584A-9C23-409C-A783-79171BF77CB4}" sibTransId="{30FBD300-B768-4480-928D-744DDF376DA7}"/>
    <dgm:cxn modelId="{06EEA89F-A2C2-46F4-8409-DD7673963255}" srcId="{307748B8-B721-4843-933C-4FD718DE28B0}" destId="{49425529-F8D1-44C9-8359-2AFE0BAE3181}" srcOrd="0" destOrd="0" parTransId="{D2E3CA3E-6E83-48EF-BF72-F6064A3BF92D}" sibTransId="{7358FCFF-77E0-4DF0-9D17-E2A635865A4F}"/>
    <dgm:cxn modelId="{799E93AC-2156-4060-B88C-39ECB2A1E279}" type="presOf" srcId="{E8248EC8-4EB7-426B-B61F-576534BB7BB4}" destId="{6E42849E-0C39-4D2E-8E77-64ACF2D3A45A}" srcOrd="1" destOrd="0" presId="urn:microsoft.com/office/officeart/2005/8/layout/radial5"/>
    <dgm:cxn modelId="{9CD82FAD-76EB-4040-B755-C712712726D7}" type="presOf" srcId="{67023620-9AD3-4DFC-B832-50B09F5E0F4A}" destId="{D8026E8D-B793-40D1-9127-8052931FC452}" srcOrd="1" destOrd="0" presId="urn:microsoft.com/office/officeart/2005/8/layout/radial5"/>
    <dgm:cxn modelId="{4478ACB3-F604-472D-A837-A98313C4302C}" type="presOf" srcId="{522293EF-9A7C-45A1-B4B8-8AE7AFC29E89}" destId="{AC1605C8-52C6-476B-A5CB-3EC0E5B75262}" srcOrd="0" destOrd="0" presId="urn:microsoft.com/office/officeart/2005/8/layout/radial5"/>
    <dgm:cxn modelId="{D4B6B8CA-7B13-4C2F-B40B-27A6516D6510}" type="presOf" srcId="{E8248EC8-4EB7-426B-B61F-576534BB7BB4}" destId="{6AFD0899-A9FB-466A-A1BE-D7C56F17610E}" srcOrd="0" destOrd="0" presId="urn:microsoft.com/office/officeart/2005/8/layout/radial5"/>
    <dgm:cxn modelId="{1D2668D8-7BC3-498C-BCA6-5351D68F07A6}" type="presOf" srcId="{67023620-9AD3-4DFC-B832-50B09F5E0F4A}" destId="{BD11C2A4-1FDF-4904-A499-0C369FC25022}" srcOrd="0" destOrd="0" presId="urn:microsoft.com/office/officeart/2005/8/layout/radial5"/>
    <dgm:cxn modelId="{830154F0-5F25-41DE-AB02-24E1AAF62095}" type="presOf" srcId="{2124C514-D380-4EF5-A2FA-5D93565744F9}" destId="{37390D33-54E1-40F4-971F-727BB29411DF}" srcOrd="0" destOrd="0" presId="urn:microsoft.com/office/officeart/2005/8/layout/radial5"/>
    <dgm:cxn modelId="{FE3279F0-020F-451C-A4D4-132FBCD6C0B1}" type="presOf" srcId="{ED76584A-9C23-409C-A783-79171BF77CB4}" destId="{45FC744F-D478-4C90-AC63-33D5AD2FBAA3}" srcOrd="1" destOrd="0" presId="urn:microsoft.com/office/officeart/2005/8/layout/radial5"/>
    <dgm:cxn modelId="{696AEFF0-2C1C-47C2-B91E-998533C30717}" type="presOf" srcId="{49425529-F8D1-44C9-8359-2AFE0BAE3181}" destId="{3078A574-1A31-4592-86D8-E59B8D18F972}" srcOrd="0" destOrd="0" presId="urn:microsoft.com/office/officeart/2005/8/layout/radial5"/>
    <dgm:cxn modelId="{DD5D35FA-DD16-4C5A-AF69-E91338E041BE}" type="presOf" srcId="{ED76584A-9C23-409C-A783-79171BF77CB4}" destId="{EF68F423-1268-422F-B13C-86B4BCEF675C}" srcOrd="0" destOrd="0" presId="urn:microsoft.com/office/officeart/2005/8/layout/radial5"/>
    <dgm:cxn modelId="{F91E2A35-D587-45CE-AE93-F0762D6DCB99}" type="presParOf" srcId="{A071CE62-A714-4630-94DB-1C78D2FAA821}" destId="{89C6C373-AAA1-41CC-A9F1-B1690E71B493}" srcOrd="0" destOrd="0" presId="urn:microsoft.com/office/officeart/2005/8/layout/radial5"/>
    <dgm:cxn modelId="{7EE85789-5418-44D5-A795-3C8D60ED0BFC}" type="presParOf" srcId="{A071CE62-A714-4630-94DB-1C78D2FAA821}" destId="{D339573B-B34D-4517-BE72-99C0A8841D29}" srcOrd="1" destOrd="0" presId="urn:microsoft.com/office/officeart/2005/8/layout/radial5"/>
    <dgm:cxn modelId="{3E666876-8D6C-4135-85A7-7F92B28DEBDB}" type="presParOf" srcId="{D339573B-B34D-4517-BE72-99C0A8841D29}" destId="{8DB614E1-0200-4C3C-BF2F-506D7A6E9760}" srcOrd="0" destOrd="0" presId="urn:microsoft.com/office/officeart/2005/8/layout/radial5"/>
    <dgm:cxn modelId="{53791BE1-17F3-436C-863B-40194303F059}" type="presParOf" srcId="{A071CE62-A714-4630-94DB-1C78D2FAA821}" destId="{3078A574-1A31-4592-86D8-E59B8D18F972}" srcOrd="2" destOrd="0" presId="urn:microsoft.com/office/officeart/2005/8/layout/radial5"/>
    <dgm:cxn modelId="{D95B7699-C2DD-4DE6-AC2D-03056B7C96F7}" type="presParOf" srcId="{A071CE62-A714-4630-94DB-1C78D2FAA821}" destId="{AC1605C8-52C6-476B-A5CB-3EC0E5B75262}" srcOrd="3" destOrd="0" presId="urn:microsoft.com/office/officeart/2005/8/layout/radial5"/>
    <dgm:cxn modelId="{7B0F8125-41B2-438E-88B7-2A6DC271D25D}" type="presParOf" srcId="{AC1605C8-52C6-476B-A5CB-3EC0E5B75262}" destId="{11092491-6F4E-40EF-83F7-E3E2A1411FAA}" srcOrd="0" destOrd="0" presId="urn:microsoft.com/office/officeart/2005/8/layout/radial5"/>
    <dgm:cxn modelId="{A58CD779-78CA-4F54-814A-EC7C9BE42E36}" type="presParOf" srcId="{A071CE62-A714-4630-94DB-1C78D2FAA821}" destId="{7B3649E6-8C60-441A-8CE2-C2E20F473322}" srcOrd="4" destOrd="0" presId="urn:microsoft.com/office/officeart/2005/8/layout/radial5"/>
    <dgm:cxn modelId="{6B0F65EE-E920-4701-891A-6D1402549B8D}" type="presParOf" srcId="{A071CE62-A714-4630-94DB-1C78D2FAA821}" destId="{6AFD0899-A9FB-466A-A1BE-D7C56F17610E}" srcOrd="5" destOrd="0" presId="urn:microsoft.com/office/officeart/2005/8/layout/radial5"/>
    <dgm:cxn modelId="{AE529620-466D-48A4-BAAC-729AB59A2713}" type="presParOf" srcId="{6AFD0899-A9FB-466A-A1BE-D7C56F17610E}" destId="{6E42849E-0C39-4D2E-8E77-64ACF2D3A45A}" srcOrd="0" destOrd="0" presId="urn:microsoft.com/office/officeart/2005/8/layout/radial5"/>
    <dgm:cxn modelId="{21DBF8E1-CB64-412C-B400-EF7F74252685}" type="presParOf" srcId="{A071CE62-A714-4630-94DB-1C78D2FAA821}" destId="{7109C361-E6B4-41CB-BB56-B37764FD914E}" srcOrd="6" destOrd="0" presId="urn:microsoft.com/office/officeart/2005/8/layout/radial5"/>
    <dgm:cxn modelId="{378DAFDD-123D-40F2-A2A2-5793040416B1}" type="presParOf" srcId="{A071CE62-A714-4630-94DB-1C78D2FAA821}" destId="{EF68F423-1268-422F-B13C-86B4BCEF675C}" srcOrd="7" destOrd="0" presId="urn:microsoft.com/office/officeart/2005/8/layout/radial5"/>
    <dgm:cxn modelId="{975A77FB-9935-4A8A-A3BB-5907FF0A0491}" type="presParOf" srcId="{EF68F423-1268-422F-B13C-86B4BCEF675C}" destId="{45FC744F-D478-4C90-AC63-33D5AD2FBAA3}" srcOrd="0" destOrd="0" presId="urn:microsoft.com/office/officeart/2005/8/layout/radial5"/>
    <dgm:cxn modelId="{CD0CF0B9-839F-4582-B848-DA1A01C18A71}" type="presParOf" srcId="{A071CE62-A714-4630-94DB-1C78D2FAA821}" destId="{25022B17-5B7C-4724-9C9C-F64DC899451C}" srcOrd="8" destOrd="0" presId="urn:microsoft.com/office/officeart/2005/8/layout/radial5"/>
    <dgm:cxn modelId="{2F0F0201-D0E3-44EE-824B-B6453D30EDC1}" type="presParOf" srcId="{A071CE62-A714-4630-94DB-1C78D2FAA821}" destId="{BD11C2A4-1FDF-4904-A499-0C369FC25022}" srcOrd="9" destOrd="0" presId="urn:microsoft.com/office/officeart/2005/8/layout/radial5"/>
    <dgm:cxn modelId="{1EB86D8B-EA65-4BE4-8397-5B5437BB43B9}" type="presParOf" srcId="{BD11C2A4-1FDF-4904-A499-0C369FC25022}" destId="{D8026E8D-B793-40D1-9127-8052931FC452}" srcOrd="0" destOrd="0" presId="urn:microsoft.com/office/officeart/2005/8/layout/radial5"/>
    <dgm:cxn modelId="{65F14619-F76E-4F8E-BCD8-E6075D11EEA0}" type="presParOf" srcId="{A071CE62-A714-4630-94DB-1C78D2FAA821}" destId="{37390D33-54E1-40F4-971F-727BB29411DF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D1CB10-98CF-437E-A990-01497A58C1D9}">
      <dsp:nvSpPr>
        <dsp:cNvPr id="0" name=""/>
        <dsp:cNvSpPr/>
      </dsp:nvSpPr>
      <dsp:spPr>
        <a:xfrm>
          <a:off x="2032000" y="0"/>
          <a:ext cx="2032000" cy="1354666"/>
        </a:xfrm>
        <a:prstGeom prst="trapezoid">
          <a:avLst>
            <a:gd name="adj" fmla="val 75000"/>
          </a:avLst>
        </a:prstGeom>
        <a:solidFill>
          <a:srgbClr val="92D050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>
            <a:solidFill>
              <a:srgbClr val="002060"/>
            </a:solidFill>
          </a:endParaRPr>
        </a:p>
      </dsp:txBody>
      <dsp:txXfrm>
        <a:off x="2032000" y="0"/>
        <a:ext cx="2032000" cy="1354666"/>
      </dsp:txXfrm>
    </dsp:sp>
    <dsp:sp modelId="{63EA7675-6554-4DD8-9A2A-94FEFE20EDAA}">
      <dsp:nvSpPr>
        <dsp:cNvPr id="0" name=""/>
        <dsp:cNvSpPr/>
      </dsp:nvSpPr>
      <dsp:spPr>
        <a:xfrm>
          <a:off x="1015999" y="1354666"/>
          <a:ext cx="4064000" cy="1354666"/>
        </a:xfrm>
        <a:prstGeom prst="trapezoid">
          <a:avLst>
            <a:gd name="adj" fmla="val 75000"/>
          </a:avLst>
        </a:prstGeom>
        <a:solidFill>
          <a:schemeClr val="bg1">
            <a:lumMod val="85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>
            <a:solidFill>
              <a:srgbClr val="002060"/>
            </a:solidFill>
          </a:endParaRPr>
        </a:p>
      </dsp:txBody>
      <dsp:txXfrm>
        <a:off x="1727199" y="1354666"/>
        <a:ext cx="2641600" cy="1354666"/>
      </dsp:txXfrm>
    </dsp:sp>
    <dsp:sp modelId="{148BBDE0-713E-42D6-ABA3-72661A68C879}">
      <dsp:nvSpPr>
        <dsp:cNvPr id="0" name=""/>
        <dsp:cNvSpPr/>
      </dsp:nvSpPr>
      <dsp:spPr>
        <a:xfrm>
          <a:off x="0" y="2709333"/>
          <a:ext cx="6096000" cy="1354666"/>
        </a:xfrm>
        <a:prstGeom prst="trapezoid">
          <a:avLst>
            <a:gd name="adj" fmla="val 75000"/>
          </a:avLst>
        </a:prstGeom>
        <a:solidFill>
          <a:schemeClr val="accent4">
            <a:lumMod val="60000"/>
            <a:lumOff val="4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3200" kern="1200" dirty="0">
            <a:solidFill>
              <a:srgbClr val="002060"/>
            </a:solidFill>
          </a:endParaRPr>
        </a:p>
      </dsp:txBody>
      <dsp:txXfrm>
        <a:off x="1066799" y="2709333"/>
        <a:ext cx="3962400" cy="13546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69281-A9B8-44D0-896F-F3AB9DC2BFBB}">
      <dsp:nvSpPr>
        <dsp:cNvPr id="0" name=""/>
        <dsp:cNvSpPr/>
      </dsp:nvSpPr>
      <dsp:spPr>
        <a:xfrm>
          <a:off x="1178171" y="811371"/>
          <a:ext cx="925707" cy="925707"/>
        </a:xfrm>
        <a:prstGeom prst="gear9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/>
            <a:t>建模</a:t>
          </a:r>
          <a:endParaRPr lang="zh-TW" altLang="en-US" sz="1800" b="1" kern="1200" dirty="0"/>
        </a:p>
      </dsp:txBody>
      <dsp:txXfrm>
        <a:off x="1364279" y="1028213"/>
        <a:ext cx="553491" cy="475833"/>
      </dsp:txXfrm>
    </dsp:sp>
    <dsp:sp modelId="{1DCF094C-4928-4D49-87C1-FC56874F157E}">
      <dsp:nvSpPr>
        <dsp:cNvPr id="0" name=""/>
        <dsp:cNvSpPr/>
      </dsp:nvSpPr>
      <dsp:spPr>
        <a:xfrm>
          <a:off x="486806" y="439796"/>
          <a:ext cx="978785" cy="978785"/>
        </a:xfrm>
        <a:prstGeom prst="gear6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600" b="1" kern="1200"/>
            <a:t>繪圖</a:t>
          </a:r>
          <a:endParaRPr lang="zh-TW" altLang="en-US" sz="1600" b="1" kern="1200" dirty="0"/>
        </a:p>
      </dsp:txBody>
      <dsp:txXfrm>
        <a:off x="733218" y="687697"/>
        <a:ext cx="485961" cy="482983"/>
      </dsp:txXfrm>
    </dsp:sp>
    <dsp:sp modelId="{B1BDB757-D571-48C8-AD36-813C07434721}">
      <dsp:nvSpPr>
        <dsp:cNvPr id="0" name=""/>
        <dsp:cNvSpPr/>
      </dsp:nvSpPr>
      <dsp:spPr>
        <a:xfrm rot="20700000">
          <a:off x="928521" y="39959"/>
          <a:ext cx="835921" cy="835921"/>
        </a:xfrm>
        <a:prstGeom prst="gear6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400" b="1" kern="1200"/>
            <a:t>摘要</a:t>
          </a:r>
          <a:endParaRPr lang="zh-TW" altLang="en-US" sz="1200" b="1" kern="1200" dirty="0"/>
        </a:p>
      </dsp:txBody>
      <dsp:txXfrm rot="-20700000">
        <a:off x="1111863" y="223301"/>
        <a:ext cx="469237" cy="469237"/>
      </dsp:txXfrm>
    </dsp:sp>
    <dsp:sp modelId="{EA09BA07-0CE8-49C2-BD24-7EEEDEE509FF}">
      <dsp:nvSpPr>
        <dsp:cNvPr id="0" name=""/>
        <dsp:cNvSpPr/>
      </dsp:nvSpPr>
      <dsp:spPr>
        <a:xfrm>
          <a:off x="1174110" y="685008"/>
          <a:ext cx="1184905" cy="1184905"/>
        </a:xfrm>
        <a:prstGeom prst="circularArrow">
          <a:avLst>
            <a:gd name="adj1" fmla="val 4687"/>
            <a:gd name="adj2" fmla="val 299029"/>
            <a:gd name="adj3" fmla="val 2392606"/>
            <a:gd name="adj4" fmla="val 16159231"/>
            <a:gd name="adj5" fmla="val 5469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6619F-0FE2-47DD-B8C4-57398F7A28E6}">
      <dsp:nvSpPr>
        <dsp:cNvPr id="0" name=""/>
        <dsp:cNvSpPr/>
      </dsp:nvSpPr>
      <dsp:spPr>
        <a:xfrm>
          <a:off x="520348" y="454382"/>
          <a:ext cx="860907" cy="860907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4464B-0728-429E-A941-4598E7FFB69B}">
      <dsp:nvSpPr>
        <dsp:cNvPr id="0" name=""/>
        <dsp:cNvSpPr/>
      </dsp:nvSpPr>
      <dsp:spPr>
        <a:xfrm>
          <a:off x="864081" y="-5608"/>
          <a:ext cx="928231" cy="928231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6C373-AAA1-41CC-A9F1-B1690E71B493}">
      <dsp:nvSpPr>
        <dsp:cNvPr id="0" name=""/>
        <dsp:cNvSpPr/>
      </dsp:nvSpPr>
      <dsp:spPr>
        <a:xfrm>
          <a:off x="2963829" y="1930512"/>
          <a:ext cx="1376700" cy="1376700"/>
        </a:xfrm>
        <a:prstGeom prst="ellipse">
          <a:avLst/>
        </a:prstGeom>
        <a:solidFill>
          <a:schemeClr val="accent5">
            <a:lumMod val="20000"/>
            <a:lumOff val="8000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800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DATA</a:t>
          </a:r>
          <a:endParaRPr lang="zh-TW" altLang="en-US" sz="28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65442" y="2132125"/>
        <a:ext cx="973474" cy="973474"/>
      </dsp:txXfrm>
    </dsp:sp>
    <dsp:sp modelId="{D339573B-B34D-4517-BE72-99C0A8841D29}">
      <dsp:nvSpPr>
        <dsp:cNvPr id="0" name=""/>
        <dsp:cNvSpPr/>
      </dsp:nvSpPr>
      <dsp:spPr>
        <a:xfrm rot="16200000">
          <a:off x="3506174" y="1429255"/>
          <a:ext cx="292010" cy="468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kern="1200"/>
        </a:p>
      </dsp:txBody>
      <dsp:txXfrm>
        <a:off x="3549976" y="1566673"/>
        <a:ext cx="204407" cy="280846"/>
      </dsp:txXfrm>
    </dsp:sp>
    <dsp:sp modelId="{3078A574-1A31-4592-86D8-E59B8D18F972}">
      <dsp:nvSpPr>
        <dsp:cNvPr id="0" name=""/>
        <dsp:cNvSpPr/>
      </dsp:nvSpPr>
      <dsp:spPr>
        <a:xfrm>
          <a:off x="2963829" y="2848"/>
          <a:ext cx="1376700" cy="1376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65442" y="204461"/>
        <a:ext cx="973474" cy="973474"/>
      </dsp:txXfrm>
    </dsp:sp>
    <dsp:sp modelId="{AC1605C8-52C6-476B-A5CB-3EC0E5B75262}">
      <dsp:nvSpPr>
        <dsp:cNvPr id="0" name=""/>
        <dsp:cNvSpPr/>
      </dsp:nvSpPr>
      <dsp:spPr>
        <a:xfrm rot="20520000">
          <a:off x="4414973" y="2089536"/>
          <a:ext cx="292010" cy="468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kern="1200"/>
        </a:p>
      </dsp:txBody>
      <dsp:txXfrm>
        <a:off x="4417117" y="2196687"/>
        <a:ext cx="204407" cy="280846"/>
      </dsp:txXfrm>
    </dsp:sp>
    <dsp:sp modelId="{7B3649E6-8C60-441A-8CE2-C2E20F473322}">
      <dsp:nvSpPr>
        <dsp:cNvPr id="0" name=""/>
        <dsp:cNvSpPr/>
      </dsp:nvSpPr>
      <dsp:spPr>
        <a:xfrm>
          <a:off x="4797147" y="1334831"/>
          <a:ext cx="1376700" cy="1376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998760" y="1536444"/>
        <a:ext cx="973474" cy="973474"/>
      </dsp:txXfrm>
    </dsp:sp>
    <dsp:sp modelId="{6AFD0899-A9FB-466A-A1BE-D7C56F17610E}">
      <dsp:nvSpPr>
        <dsp:cNvPr id="0" name=""/>
        <dsp:cNvSpPr/>
      </dsp:nvSpPr>
      <dsp:spPr>
        <a:xfrm rot="3240000">
          <a:off x="4067843" y="3157893"/>
          <a:ext cx="292010" cy="468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kern="1200"/>
        </a:p>
      </dsp:txBody>
      <dsp:txXfrm>
        <a:off x="4085899" y="3216073"/>
        <a:ext cx="204407" cy="280846"/>
      </dsp:txXfrm>
    </dsp:sp>
    <dsp:sp modelId="{7109C361-E6B4-41CB-BB56-B37764FD914E}">
      <dsp:nvSpPr>
        <dsp:cNvPr id="0" name=""/>
        <dsp:cNvSpPr/>
      </dsp:nvSpPr>
      <dsp:spPr>
        <a:xfrm>
          <a:off x="4096882" y="3490025"/>
          <a:ext cx="1376700" cy="1376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298495" y="3691638"/>
        <a:ext cx="973474" cy="973474"/>
      </dsp:txXfrm>
    </dsp:sp>
    <dsp:sp modelId="{EF68F423-1268-422F-B13C-86B4BCEF675C}">
      <dsp:nvSpPr>
        <dsp:cNvPr id="0" name=""/>
        <dsp:cNvSpPr/>
      </dsp:nvSpPr>
      <dsp:spPr>
        <a:xfrm rot="7560000">
          <a:off x="2944506" y="3157893"/>
          <a:ext cx="292010" cy="468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kern="1200"/>
        </a:p>
      </dsp:txBody>
      <dsp:txXfrm rot="10800000">
        <a:off x="3014053" y="3216073"/>
        <a:ext cx="204407" cy="280846"/>
      </dsp:txXfrm>
    </dsp:sp>
    <dsp:sp modelId="{25022B17-5B7C-4724-9C9C-F64DC899451C}">
      <dsp:nvSpPr>
        <dsp:cNvPr id="0" name=""/>
        <dsp:cNvSpPr/>
      </dsp:nvSpPr>
      <dsp:spPr>
        <a:xfrm>
          <a:off x="1830777" y="3490025"/>
          <a:ext cx="1376700" cy="1376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2032390" y="3691638"/>
        <a:ext cx="973474" cy="973474"/>
      </dsp:txXfrm>
    </dsp:sp>
    <dsp:sp modelId="{BD11C2A4-1FDF-4904-A499-0C369FC25022}">
      <dsp:nvSpPr>
        <dsp:cNvPr id="0" name=""/>
        <dsp:cNvSpPr/>
      </dsp:nvSpPr>
      <dsp:spPr>
        <a:xfrm rot="11880000">
          <a:off x="2597375" y="2089536"/>
          <a:ext cx="292010" cy="46807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kern="1200"/>
        </a:p>
      </dsp:txBody>
      <dsp:txXfrm rot="10800000">
        <a:off x="2682834" y="2196687"/>
        <a:ext cx="204407" cy="280846"/>
      </dsp:txXfrm>
    </dsp:sp>
    <dsp:sp modelId="{37390D33-54E1-40F4-971F-727BB29411DF}">
      <dsp:nvSpPr>
        <dsp:cNvPr id="0" name=""/>
        <dsp:cNvSpPr/>
      </dsp:nvSpPr>
      <dsp:spPr>
        <a:xfrm>
          <a:off x="1130512" y="1334831"/>
          <a:ext cx="1376700" cy="137670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000" kern="1200" dirty="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1332125" y="1536444"/>
        <a:ext cx="973474" cy="973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71390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3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2" tIns="48322" rIns="96642" bIns="48322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6" y="3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2" tIns="48322" rIns="96642" bIns="48322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8350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2" tIns="48322" rIns="96642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6" y="9721107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2" tIns="48322" rIns="96642" bIns="48322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49B0DF32-FF90-407A-9A3D-54ED1CF5B2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626903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  <a:prstGeom prst="rect">
            <a:avLst/>
          </a:prstGeo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7951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875447">
              <a:defRPr/>
            </a:pPr>
            <a:fld id="{0A68687B-0703-4452-9D0D-74167B5D9339}" type="slidenum">
              <a:rPr lang="en-US" altLang="zh-TW">
                <a:solidFill>
                  <a:srgbClr val="000000"/>
                </a:solidFill>
                <a:latin typeface="Calibri"/>
                <a:ea typeface="新細明體" panose="02020500000000000000" pitchFamily="18" charset="-120"/>
              </a:rPr>
              <a:pPr defTabSz="875447">
                <a:defRPr/>
              </a:pPr>
              <a:t>27</a:t>
            </a:fld>
            <a:endParaRPr lang="en-US" altLang="zh-TW">
              <a:solidFill>
                <a:srgbClr val="000000"/>
              </a:solidFill>
              <a:latin typeface="Calibri"/>
              <a:ea typeface="新細明體" panose="02020500000000000000" pitchFamily="18" charset="-120"/>
            </a:endParaRPr>
          </a:p>
        </p:txBody>
      </p:sp>
      <p:sp>
        <p:nvSpPr>
          <p:cNvPr id="69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2550" y="733425"/>
            <a:ext cx="6489700" cy="3651250"/>
          </a:xfrm>
          <a:ln/>
        </p:spPr>
      </p:sp>
      <p:sp>
        <p:nvSpPr>
          <p:cNvPr id="693251" name="Notes Placeholder 2"/>
          <p:cNvSpPr>
            <a:spLocks noGrp="1"/>
          </p:cNvSpPr>
          <p:nvPr>
            <p:ph type="body" idx="1"/>
          </p:nvPr>
        </p:nvSpPr>
        <p:spPr>
          <a:xfrm>
            <a:off x="887412" y="4629944"/>
            <a:ext cx="4880769" cy="4386264"/>
          </a:xfrm>
        </p:spPr>
        <p:txBody>
          <a:bodyPr lIns="88153" tIns="44077" rIns="88153" bIns="44077"/>
          <a:lstStyle/>
          <a:p>
            <a:endParaRPr lang="zh-TW" altLang="zh-TW"/>
          </a:p>
        </p:txBody>
      </p:sp>
      <p:sp>
        <p:nvSpPr>
          <p:cNvPr id="693252" name="Slide Number Placeholder 3"/>
          <p:cNvSpPr txBox="1">
            <a:spLocks noGrp="1"/>
          </p:cNvSpPr>
          <p:nvPr/>
        </p:nvSpPr>
        <p:spPr bwMode="auto">
          <a:xfrm>
            <a:off x="3771506" y="9259888"/>
            <a:ext cx="2884091" cy="48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53" tIns="44077" rIns="88153" bIns="44077" anchor="b"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defTabSz="875447" eaLnBrk="0" hangingPunct="0">
              <a:defRPr/>
            </a:pPr>
            <a:fld id="{3A859213-D7CE-4877-A461-D5B259F6ACB3}" type="slidenum">
              <a:rPr kumimoji="0" lang="en-US" altLang="zh-TW" sz="110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algn="r" defTabSz="875447" eaLnBrk="0" hangingPunct="0">
                <a:defRPr/>
              </a:pPr>
              <a:t>27</a:t>
            </a:fld>
            <a:endParaRPr kumimoji="0" lang="en-US" altLang="zh-TW" sz="11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91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defTabSz="875447">
              <a:defRPr/>
            </a:pPr>
            <a:fld id="{671B43FB-9C21-492B-8FF3-606A5A10EB3E}" type="slidenum">
              <a:rPr lang="en-US" altLang="zh-TW">
                <a:solidFill>
                  <a:srgbClr val="000000"/>
                </a:solidFill>
                <a:latin typeface="Calibri"/>
                <a:ea typeface="新細明體" panose="02020500000000000000" pitchFamily="18" charset="-120"/>
              </a:rPr>
              <a:pPr defTabSz="875447">
                <a:defRPr/>
              </a:pPr>
              <a:t>28</a:t>
            </a:fld>
            <a:endParaRPr lang="en-US" altLang="zh-TW">
              <a:solidFill>
                <a:srgbClr val="000000"/>
              </a:solidFill>
              <a:latin typeface="Calibri"/>
              <a:ea typeface="新細明體" panose="02020500000000000000" pitchFamily="18" charset="-120"/>
            </a:endParaRPr>
          </a:p>
        </p:txBody>
      </p:sp>
      <p:sp>
        <p:nvSpPr>
          <p:cNvPr id="69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2550" y="733425"/>
            <a:ext cx="6489700" cy="3651250"/>
          </a:xfrm>
          <a:ln/>
        </p:spPr>
      </p:sp>
      <p:sp>
        <p:nvSpPr>
          <p:cNvPr id="699395" name="Notes Placeholder 2"/>
          <p:cNvSpPr>
            <a:spLocks noGrp="1"/>
          </p:cNvSpPr>
          <p:nvPr>
            <p:ph type="body" idx="1"/>
          </p:nvPr>
        </p:nvSpPr>
        <p:spPr>
          <a:xfrm>
            <a:off x="887412" y="4629944"/>
            <a:ext cx="4880769" cy="4386264"/>
          </a:xfrm>
        </p:spPr>
        <p:txBody>
          <a:bodyPr lIns="88153" tIns="44077" rIns="88153" bIns="44077"/>
          <a:lstStyle/>
          <a:p>
            <a:endParaRPr lang="zh-TW" altLang="zh-TW"/>
          </a:p>
        </p:txBody>
      </p:sp>
      <p:sp>
        <p:nvSpPr>
          <p:cNvPr id="699396" name="Slide Number Placeholder 3"/>
          <p:cNvSpPr txBox="1">
            <a:spLocks noGrp="1"/>
          </p:cNvSpPr>
          <p:nvPr/>
        </p:nvSpPr>
        <p:spPr bwMode="auto">
          <a:xfrm>
            <a:off x="3771506" y="9259888"/>
            <a:ext cx="2884091" cy="48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153" tIns="44077" rIns="88153" bIns="44077" anchor="b"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defTabSz="875447" eaLnBrk="0" hangingPunct="0">
              <a:defRPr/>
            </a:pPr>
            <a:fld id="{10A60D8D-3C8E-4912-B916-6C427161B293}" type="slidenum">
              <a:rPr kumimoji="0" lang="en-US" altLang="zh-TW" sz="110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algn="r" defTabSz="875447" eaLnBrk="0" hangingPunct="0">
                <a:defRPr/>
              </a:pPr>
              <a:t>28</a:t>
            </a:fld>
            <a:endParaRPr kumimoji="0" lang="en-US" altLang="zh-TW" sz="11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492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A36395-77EF-43C1-860C-B6781D47EBB3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014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30200" y="666750"/>
            <a:ext cx="5905500" cy="3322638"/>
          </a:xfrm>
          <a:ln/>
        </p:spPr>
      </p:sp>
      <p:sp>
        <p:nvSpPr>
          <p:cNvPr id="701443" name="Notes Placeholder 2"/>
          <p:cNvSpPr>
            <a:spLocks noGrp="1"/>
          </p:cNvSpPr>
          <p:nvPr>
            <p:ph type="body" idx="1"/>
          </p:nvPr>
        </p:nvSpPr>
        <p:spPr>
          <a:xfrm>
            <a:off x="875551" y="4212700"/>
            <a:ext cx="4815526" cy="3990980"/>
          </a:xfrm>
        </p:spPr>
        <p:txBody>
          <a:bodyPr lIns="87094" tIns="43547" rIns="87094" bIns="43547"/>
          <a:lstStyle/>
          <a:p>
            <a:endParaRPr lang="zh-TW" altLang="zh-TW"/>
          </a:p>
        </p:txBody>
      </p:sp>
      <p:sp>
        <p:nvSpPr>
          <p:cNvPr id="701444" name="Slide Number Placeholder 3"/>
          <p:cNvSpPr txBox="1">
            <a:spLocks noGrp="1"/>
          </p:cNvSpPr>
          <p:nvPr/>
        </p:nvSpPr>
        <p:spPr bwMode="auto">
          <a:xfrm>
            <a:off x="3721089" y="8425401"/>
            <a:ext cx="2845539" cy="443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094" tIns="43547" rIns="87094" bIns="43547" anchor="b"/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r" eaLnBrk="0" hangingPunct="0"/>
            <a:fld id="{43757D54-910A-460C-957E-E53A6CC8173A}" type="slidenum">
              <a:rPr kumimoji="0" lang="en-US" altLang="zh-TW" sz="1100">
                <a:latin typeface="Times New Roman" pitchFamily="18" charset="0"/>
                <a:ea typeface="微軟正黑體" panose="020B0604030504040204" pitchFamily="34" charset="-120"/>
                <a:cs typeface="Arial" charset="0"/>
              </a:rPr>
              <a:pPr algn="r" eaLnBrk="0" hangingPunct="0"/>
              <a:t>31</a:t>
            </a:fld>
            <a:endParaRPr kumimoji="0" lang="en-US" altLang="zh-TW" sz="1100" dirty="0">
              <a:latin typeface="Times New Roman" pitchFamily="18" charset="0"/>
              <a:ea typeface="微軟正黑體" panose="020B0604030504040204" pitchFamily="34" charset="-12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31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8113" y="768350"/>
            <a:ext cx="6823075" cy="3838575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231">
              <a:defRPr/>
            </a:pPr>
            <a:endParaRPr lang="zh-TW" altLang="en-US" dirty="0"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B0DF32-FF90-407A-9A3D-54ED1CF5B204}" type="slidenum">
              <a:rPr lang="en-US" altLang="zh-TW" smtClean="0"/>
              <a:pPr>
                <a:defRPr/>
              </a:pPr>
              <a:t>50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877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notepad-memo-pencil-writing-note-117597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notepad-memo-pencil-writing-note-117597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23B79C-D4F4-4A9C-BBB6-E06D1B872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505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3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376" y="1473448"/>
            <a:ext cx="11447248" cy="2387600"/>
          </a:xfrm>
        </p:spPr>
        <p:txBody>
          <a:bodyPr anchor="b">
            <a:normAutofit/>
          </a:bodyPr>
          <a:lstStyle>
            <a:lvl1pPr algn="ctr">
              <a:defRPr sz="4800" b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3446" y="4137745"/>
            <a:ext cx="10561173" cy="1655762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57CC441E-1459-49B9-9A91-8C65B73580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E1ACC2D1-68E6-4FE9-8C00-FE1D510EA6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cxnSp>
        <p:nvCxnSpPr>
          <p:cNvPr id="10" name="Straight Connector 14">
            <a:extLst>
              <a:ext uri="{FF2B5EF4-FFF2-40B4-BE49-F238E27FC236}">
                <a16:creationId xmlns:a16="http://schemas.microsoft.com/office/drawing/2014/main" id="{0C2C22CE-A7E9-440F-956C-5B21836DBC3E}"/>
              </a:ext>
            </a:extLst>
          </p:cNvPr>
          <p:cNvCxnSpPr/>
          <p:nvPr userDrawn="1"/>
        </p:nvCxnSpPr>
        <p:spPr>
          <a:xfrm>
            <a:off x="337952" y="3861048"/>
            <a:ext cx="11516096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50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92398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02C0FD-B26F-384C-DE94-FE549F8E2B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7408" y="1916832"/>
            <a:ext cx="5181600" cy="4351338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FEF4DAB-7617-E3C6-342A-B44EC791C5B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40016" y="1916832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72408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練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7C1938-F74C-4E36-A73A-575A3A321F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3339" y="476672"/>
            <a:ext cx="1200133" cy="1296144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A858186-0E9C-4054-AF21-D5470B6C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CB15E39-B088-10A4-42A0-D70546E9E937}"/>
              </a:ext>
            </a:extLst>
          </p:cNvPr>
          <p:cNvSpPr txBox="1"/>
          <p:nvPr userDrawn="1"/>
        </p:nvSpPr>
        <p:spPr>
          <a:xfrm>
            <a:off x="275353" y="1815005"/>
            <a:ext cx="936104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</a:p>
        </p:txBody>
      </p:sp>
    </p:spTree>
    <p:extLst>
      <p:ext uri="{BB962C8B-B14F-4D97-AF65-F5344CB8AC3E}">
        <p14:creationId xmlns:p14="http://schemas.microsoft.com/office/powerpoint/2010/main" val="1532825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263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練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27C1938-F74C-4E36-A73A-575A3A321F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43339" y="476672"/>
            <a:ext cx="1200133" cy="1296144"/>
          </a:xfrm>
          <a:prstGeom prst="rect">
            <a:avLst/>
          </a:prstGeom>
        </p:spPr>
      </p:pic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A858186-0E9C-4054-AF21-D5470B6C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>
            <a:lvl1pPr>
              <a:defRPr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B02E16B-325B-48E4-A3FF-9D15D65F603D}"/>
              </a:ext>
            </a:extLst>
          </p:cNvPr>
          <p:cNvSpPr txBox="1"/>
          <p:nvPr userDrawn="1"/>
        </p:nvSpPr>
        <p:spPr>
          <a:xfrm>
            <a:off x="143339" y="1916832"/>
            <a:ext cx="1272141" cy="400110"/>
          </a:xfrm>
          <a:prstGeom prst="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實作練習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120D38-53B5-99C6-0D42-D98C03C61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345223"/>
            <a:ext cx="9938320" cy="4831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5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40768"/>
            <a:ext cx="10515600" cy="5107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333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98105" y="647642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>
                <a:solidFill>
                  <a:schemeClr val="tx1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B1E12A47-2836-4B6C-9741-462D60D86441}" type="slidenum">
              <a:rPr lang="en-US" altLang="zh-TW" smtClean="0">
                <a:ea typeface="Verdana" panose="020B0604030504040204" pitchFamily="34" charset="0"/>
              </a:rPr>
              <a:pPr>
                <a:defRPr/>
              </a:pPr>
              <a:t>‹#›</a:t>
            </a:fld>
            <a:endParaRPr lang="en-US" altLang="zh-TW" dirty="0">
              <a:ea typeface="Verdana" panose="020B060403050404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3000" y="3538"/>
            <a:ext cx="12186000" cy="360000"/>
          </a:xfrm>
          <a:prstGeom prst="rect">
            <a:avLst/>
          </a:prstGeom>
          <a:solidFill>
            <a:srgbClr val="0036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923713" algn="r"/>
              </a:tabLst>
              <a:defRPr/>
            </a:pPr>
            <a:r>
              <a:rPr lang="zh-TW" altLang="zh-TW" sz="1800" kern="1200" dirty="0">
                <a:solidFill>
                  <a:schemeClr val="lt1"/>
                </a:solidFill>
                <a:effectLst/>
                <a:latin typeface="+mn-lt"/>
                <a:ea typeface="+mn-ea"/>
                <a:cs typeface="+mn-cs"/>
              </a:rPr>
              <a:t>人工智慧實務應用</a:t>
            </a:r>
            <a:r>
              <a:rPr lang="en-US" altLang="zh-TW" sz="1800" dirty="0">
                <a:latin typeface="Verdana" panose="020B0604030504040204" pitchFamily="34" charset="0"/>
                <a:ea typeface="Verdana" panose="020B0604030504040204" pitchFamily="34" charset="0"/>
              </a:rPr>
              <a:t>	</a:t>
            </a:r>
            <a:r>
              <a:rPr lang="en-US" altLang="zh-TW" sz="1800" b="1" dirty="0">
                <a:solidFill>
                  <a:srgbClr val="FFC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BI</a:t>
            </a:r>
            <a:endParaRPr lang="zh-TW" altLang="en-US" sz="1800" b="1" dirty="0">
              <a:solidFill>
                <a:srgbClr val="FFC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50E148-7098-4E8D-A6B3-8B9A85A7B700}"/>
              </a:ext>
            </a:extLst>
          </p:cNvPr>
          <p:cNvSpPr txBox="1">
            <a:spLocks/>
          </p:cNvSpPr>
          <p:nvPr/>
        </p:nvSpPr>
        <p:spPr>
          <a:xfrm>
            <a:off x="-13085" y="6448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zh-TW"/>
            </a:defPPr>
            <a:lvl1pPr marL="0" algn="r" defTabSz="914400" rtl="0" eaLnBrk="1" latinLnBrk="0" hangingPunct="1"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1600" dirty="0">
                <a:latin typeface="Verdana" panose="020B0604030504040204" pitchFamily="34" charset="0"/>
                <a:ea typeface="Verdana" panose="020B0604030504040204" pitchFamily="34" charset="0"/>
              </a:rPr>
              <a:t>@RWEPA</a:t>
            </a:r>
            <a:endParaRPr lang="zh-TW" altLang="en-US" sz="1600" dirty="0">
              <a:latin typeface="Verdana" panose="020B0604030504040204" pitchFamily="34" charset="0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1811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2" r:id="rId3"/>
    <p:sldLayoutId id="2147483713" r:id="rId4"/>
    <p:sldLayoutId id="2147483708" r:id="rId5"/>
    <p:sldLayoutId id="2147483703" r:id="rId6"/>
    <p:sldLayoutId id="2147483714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 baseline="0">
          <a:solidFill>
            <a:srgbClr val="0070C0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image" Target="../media/image2.jpg"/><Relationship Id="rId7" Type="http://schemas.openxmlformats.org/officeDocument/2006/relationships/hyperlink" Target="mailto:alan9956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rwepa.blogspot.com/" TargetMode="External"/><Relationship Id="rId5" Type="http://schemas.openxmlformats.org/officeDocument/2006/relationships/hyperlink" Target="https://www.youtube.com/@alan9956" TargetMode="Externa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diagramQuickStyle" Target="../diagrams/quickStyle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12" Type="http://schemas.openxmlformats.org/officeDocument/2006/relationships/diagramLayout" Target="../diagrams/layout2.xml"/><Relationship Id="rId2" Type="http://schemas.openxmlformats.org/officeDocument/2006/relationships/diagramData" Target="../diagrams/data1.xml"/><Relationship Id="rId16" Type="http://schemas.openxmlformats.org/officeDocument/2006/relationships/image" Target="../media/image8.jpeg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openxmlformats.org/officeDocument/2006/relationships/diagramData" Target="../diagrams/data2.xml"/><Relationship Id="rId5" Type="http://schemas.openxmlformats.org/officeDocument/2006/relationships/diagramColors" Target="../diagrams/colors1.xml"/><Relationship Id="rId15" Type="http://schemas.microsoft.com/office/2007/relationships/diagramDrawing" Target="../diagrams/drawing2.xml"/><Relationship Id="rId10" Type="http://schemas.openxmlformats.org/officeDocument/2006/relationships/image" Target="../media/image7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Relationship Id="rId14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rwepa.blogspot.com/2023/10/excel-drop-down-list-and-conditional-formatting.html" TargetMode="External"/><Relationship Id="rId2" Type="http://schemas.openxmlformats.org/officeDocument/2006/relationships/hyperlink" Target="https://youtu.be/OVA4dvkrsB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rwepa.blogspot.com/2020/02/2019nCoV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rwepa.shinyapps.io/shinyCustomerConnect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wepa/shiny_spc/blob/main/data/spc_wafer_with_header.csv" TargetMode="External"/><Relationship Id="rId2" Type="http://schemas.openxmlformats.org/officeDocument/2006/relationships/hyperlink" Target="http://rwepa.blogspot.com/2021/10/r-shiny-quality-control-chart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rwepa.shinyapps.io/shiny_spc/" TargetMode="External"/><Relationship Id="rId4" Type="http://schemas.openxmlformats.org/officeDocument/2006/relationships/hyperlink" Target="https://github.com/rwepa/shiny_spc/blob/main/data/spc_pistonrings_without_header.csv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rwepa.shinyapps.io/shinyStockVis/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4GgZlf8heQk" TargetMode="External"/><Relationship Id="rId2" Type="http://schemas.openxmlformats.org/officeDocument/2006/relationships/hyperlink" Target="https://rwepa.shinyapps.io/shinySalesDashboard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hyperlink" Target="https://youtu.be/rrD6KV3eV-w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app/profile/ming.chang.lee/vizzes" TargetMode="External"/><Relationship Id="rId7" Type="http://schemas.openxmlformats.org/officeDocument/2006/relationships/image" Target="../media/image31.png"/><Relationship Id="rId2" Type="http://schemas.openxmlformats.org/officeDocument/2006/relationships/hyperlink" Target="https://github.com/rwepa/teaching_tableau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rwepa-climb.streamlit.app/" TargetMode="External"/><Relationship Id="rId2" Type="http://schemas.openxmlformats.org/officeDocument/2006/relationships/hyperlink" Target="https://youtu.be/-_zghs2qrI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wepa-sales-dashboard.streamlit.app/" TargetMode="External"/><Relationship Id="rId2" Type="http://schemas.openxmlformats.org/officeDocument/2006/relationships/hyperlink" Target="https://youtu.be/QmvlYHspvn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wepa.blogspot.com/2026/09/rwepa-pdf2mp3.html" TargetMode="External"/><Relationship Id="rId2" Type="http://schemas.openxmlformats.org/officeDocument/2006/relationships/hyperlink" Target="https://youtu.be/bzek9ALgx8c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gi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mastertalks.tw/products/r?ref=MCLEE" TargetMode="Externa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hyperlink" Target="https://mastertalks.tw/products/r-2?ref=MCLEE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NC2YAHmMPwY" TargetMode="External"/><Relationship Id="rId2" Type="http://schemas.openxmlformats.org/officeDocument/2006/relationships/hyperlink" Target="https://youtu.be/te2pbxnbmvQ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rwepa.blogspot.com/2025/10/anaconda-with-pandas-module.html" TargetMode="External"/><Relationship Id="rId5" Type="http://schemas.openxmlformats.org/officeDocument/2006/relationships/hyperlink" Target="https://youtu.be/hXVBchxuzhU" TargetMode="External"/><Relationship Id="rId4" Type="http://schemas.openxmlformats.org/officeDocument/2006/relationships/hyperlink" Target="https://youtu.be/vlWLHF5qXlI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rwepa.blogspot.com/2020/02/pythonprogramminglee.html" TargetMode="External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hyperlink" Target="https://github.com/rwepa/DataDemo/blob/master/Python_Programming_Lee.pdf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n.wikipedia.org/wiki/File:Cartoon_Cloud1.svg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wepa/python_data_scientist" TargetMode="External"/><Relationship Id="rId2" Type="http://schemas.openxmlformats.org/officeDocument/2006/relationships/hyperlink" Target="https://github.com/rwepa/r_data_scientist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ross_Industry_Standard_Process_for_Data_Mining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0.png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://rwepa.blogspot.com/2013/01/rocr-roc-curve.html" TargetMode="Externa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svg"/><Relationship Id="rId10" Type="http://schemas.openxmlformats.org/officeDocument/2006/relationships/image" Target="../media/image65.jpeg"/><Relationship Id="rId4" Type="http://schemas.openxmlformats.org/officeDocument/2006/relationships/image" Target="../media/image59.png"/><Relationship Id="rId9" Type="http://schemas.openxmlformats.org/officeDocument/2006/relationships/image" Target="../media/image64.sv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diagramLayout" Target="../diagrams/layout3.xml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6.jpeg"/><Relationship Id="rId2" Type="http://schemas.openxmlformats.org/officeDocument/2006/relationships/diagramData" Target="../diagrams/data3.xml"/><Relationship Id="rId16" Type="http://schemas.openxmlformats.org/officeDocument/2006/relationships/image" Target="../media/image75.png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11" Type="http://schemas.openxmlformats.org/officeDocument/2006/relationships/image" Target="../media/image71.png"/><Relationship Id="rId5" Type="http://schemas.openxmlformats.org/officeDocument/2006/relationships/diagramColors" Target="../diagrams/colors3.xml"/><Relationship Id="rId15" Type="http://schemas.openxmlformats.org/officeDocument/2006/relationships/hyperlink" Target="http://www.creative-commons-images.com/highway-signs/p/problem.html" TargetMode="External"/><Relationship Id="rId10" Type="http://schemas.openxmlformats.org/officeDocument/2006/relationships/image" Target="../media/image70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69.png"/><Relationship Id="rId14" Type="http://schemas.openxmlformats.org/officeDocument/2006/relationships/image" Target="../media/image74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alan9956" TargetMode="External"/><Relationship Id="rId7" Type="http://schemas.openxmlformats.org/officeDocument/2006/relationships/hyperlink" Target="https://rwepa.blogspot.com/2020/02/pythonprogramminglee.html" TargetMode="External"/><Relationship Id="rId2" Type="http://schemas.openxmlformats.org/officeDocument/2006/relationships/hyperlink" Target="http://rwepa.blogspot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mastertalks.tw/products/r-2?ref=MCLEE" TargetMode="External"/><Relationship Id="rId5" Type="http://schemas.openxmlformats.org/officeDocument/2006/relationships/hyperlink" Target="https://mastertalks.tw/products/r?ref=MCLEE" TargetMode="External"/><Relationship Id="rId4" Type="http://schemas.openxmlformats.org/officeDocument/2006/relationships/hyperlink" Target="https://github.com/rwepa/teaching-powerbi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C717C55E-03FB-0587-52A8-ABCB503E1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2656"/>
            <a:ext cx="12192000" cy="6517532"/>
          </a:xfrm>
          <a:prstGeom prst="rect">
            <a:avLst/>
          </a:prstGeom>
        </p:spPr>
      </p:pic>
      <p:sp>
        <p:nvSpPr>
          <p:cNvPr id="4" name="橢圓 3">
            <a:extLst>
              <a:ext uri="{FF2B5EF4-FFF2-40B4-BE49-F238E27FC236}">
                <a16:creationId xmlns:a16="http://schemas.microsoft.com/office/drawing/2014/main" id="{EAE3B07D-38DF-4D6D-A418-313740CB0B73}"/>
              </a:ext>
            </a:extLst>
          </p:cNvPr>
          <p:cNvSpPr/>
          <p:nvPr/>
        </p:nvSpPr>
        <p:spPr>
          <a:xfrm>
            <a:off x="7497110" y="2445202"/>
            <a:ext cx="4980689" cy="4980689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6A7142A-02A4-4694-89F0-0F8A256F79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23931" y="3667763"/>
            <a:ext cx="3135507" cy="1834056"/>
          </a:xfrm>
        </p:spPr>
        <p:txBody>
          <a:bodyPr>
            <a:normAutofit/>
          </a:bodyPr>
          <a:lstStyle/>
          <a:p>
            <a:pPr algn="r"/>
            <a:r>
              <a:rPr lang="zh-TW" altLang="en-US" sz="3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李明昌</a:t>
            </a:r>
            <a:r>
              <a:rPr lang="zh-TW" altLang="en-US" sz="24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博士</a:t>
            </a:r>
            <a:r>
              <a:rPr lang="zh-TW" altLang="en-US" sz="36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33FB38A-92EE-40B7-8750-5FB598617A74}"/>
              </a:ext>
            </a:extLst>
          </p:cNvPr>
          <p:cNvSpPr txBox="1"/>
          <p:nvPr/>
        </p:nvSpPr>
        <p:spPr>
          <a:xfrm>
            <a:off x="1298904" y="2254580"/>
            <a:ext cx="6484005" cy="3913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大數據分析</a:t>
            </a: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R/Python/Julia/SQL</a:t>
            </a: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程式設計與應用</a:t>
            </a:r>
            <a:b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(R/Python/Julia/SQL Programming and Application)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資料視覺化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(Data Visualization)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機器學習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(Machine Learning)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統計品管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(Statistical Quality Control)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最佳化 </a:t>
            </a:r>
            <a:r>
              <a:rPr kumimoji="0" lang="en-US" altLang="zh-TW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(Optimization)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3F6E8D8-8B04-4337-951B-9955D3526B7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990894" y="2445420"/>
            <a:ext cx="2444687" cy="2444687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6B7233B-FB7B-49CB-BE73-2D213BF01493}"/>
              </a:ext>
            </a:extLst>
          </p:cNvPr>
          <p:cNvSpPr txBox="1"/>
          <p:nvPr/>
        </p:nvSpPr>
        <p:spPr>
          <a:xfrm>
            <a:off x="1226126" y="980728"/>
            <a:ext cx="105585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6C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第</a:t>
            </a: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56C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</a:t>
            </a:r>
            <a:r>
              <a:rPr kumimoji="0" lang="zh-TW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6C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章 資料分析架構與</a:t>
            </a:r>
            <a:r>
              <a:rPr kumimoji="0" lang="en-US" altLang="zh-TW" sz="4800" b="1" i="0" u="none" strike="noStrike" kern="1200" cap="none" spc="0" normalizeH="0" baseline="0" noProof="0" dirty="0">
                <a:ln>
                  <a:noFill/>
                </a:ln>
                <a:solidFill>
                  <a:srgbClr val="56C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APC</a:t>
            </a:r>
            <a:r>
              <a:rPr kumimoji="0" lang="zh-TW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56C5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方法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2B2105-3D09-4899-834C-5F774A736F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</a:t>
            </a:fld>
            <a:endParaRPr lang="en-US" altLang="zh-TW" dirty="0"/>
          </a:p>
        </p:txBody>
      </p:sp>
      <p:sp>
        <p:nvSpPr>
          <p:cNvPr id="13" name="副標題 2">
            <a:extLst>
              <a:ext uri="{FF2B5EF4-FFF2-40B4-BE49-F238E27FC236}">
                <a16:creationId xmlns:a16="http://schemas.microsoft.com/office/drawing/2014/main" id="{C054E95D-C6A0-4C0C-A132-92BBE5DF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5574" y="5445224"/>
            <a:ext cx="4443074" cy="1289086"/>
          </a:xfrm>
        </p:spPr>
        <p:txBody>
          <a:bodyPr>
            <a:noAutofit/>
          </a:bodyPr>
          <a:lstStyle/>
          <a:p>
            <a:pPr algn="r"/>
            <a:r>
              <a:rPr lang="en-US" altLang="zh-TW" sz="1800" dirty="0">
                <a:solidFill>
                  <a:srgbClr val="7030A0"/>
                </a:solidFill>
                <a:highlight>
                  <a:srgbClr val="FFFF00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https://www.youtube.com/@alan9956</a:t>
            </a:r>
            <a:endParaRPr lang="en-US" altLang="zh-TW" sz="1800" dirty="0">
              <a:solidFill>
                <a:srgbClr val="7030A0"/>
              </a:solidFill>
              <a:highlight>
                <a:srgbClr val="FFFF00"/>
              </a:highlight>
            </a:endParaRPr>
          </a:p>
          <a:p>
            <a:pPr algn="r"/>
            <a:r>
              <a:rPr lang="en-US" altLang="zh-TW" sz="18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</a:t>
            </a:r>
            <a:r>
              <a:rPr lang="en-US" altLang="zh-TW" sz="1800" b="1" dirty="0">
                <a:solidFill>
                  <a:schemeClr val="accent6">
                    <a:lumMod val="50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rwepa</a:t>
            </a:r>
            <a:r>
              <a:rPr lang="en-US" altLang="zh-TW" sz="18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.blogspot.com/</a:t>
            </a:r>
            <a:endParaRPr lang="en-US" altLang="zh-TW" sz="1800" dirty="0">
              <a:solidFill>
                <a:srgbClr val="0070C0"/>
              </a:solidFill>
            </a:endParaRPr>
          </a:p>
          <a:p>
            <a:pPr algn="r"/>
            <a:r>
              <a:rPr lang="en-US" altLang="zh-TW" sz="1800" dirty="0">
                <a:solidFill>
                  <a:srgbClr val="7030A0"/>
                </a:solidFill>
                <a:latin typeface="Script MT Bold" panose="03040602040607080904" pitchFamily="66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alan9956</a:t>
            </a:r>
            <a:r>
              <a:rPr lang="en-US" altLang="zh-TW" sz="1800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@gmail.com</a:t>
            </a:r>
            <a:r>
              <a:rPr lang="zh-TW" altLang="en-US" sz="1800" dirty="0">
                <a:solidFill>
                  <a:srgbClr val="0070C0"/>
                </a:solidFill>
              </a:rPr>
              <a:t> </a:t>
            </a:r>
            <a:endParaRPr lang="en-US" altLang="zh-TW" sz="1800" dirty="0">
              <a:solidFill>
                <a:srgbClr val="0070C0"/>
              </a:solidFill>
            </a:endParaRP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C17C2EDC-D3DF-589A-0F1E-2D509CEB9634}"/>
              </a:ext>
            </a:extLst>
          </p:cNvPr>
          <p:cNvSpPr txBox="1">
            <a:spLocks/>
          </p:cNvSpPr>
          <p:nvPr/>
        </p:nvSpPr>
        <p:spPr>
          <a:xfrm>
            <a:off x="47328" y="6476422"/>
            <a:ext cx="1872208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zh-TW"/>
            </a:defPPr>
            <a:lvl1pPr marL="0" algn="r" defTabSz="914400" rtl="0" eaLnBrk="1" latinLnBrk="0" hangingPunct="1">
              <a:defRPr sz="16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TW" dirty="0">
                <a:solidFill>
                  <a:schemeClr val="bg1"/>
                </a:solidFill>
              </a:rPr>
              <a:t>2026.09.24</a:t>
            </a:r>
          </a:p>
        </p:txBody>
      </p:sp>
    </p:spTree>
    <p:extLst>
      <p:ext uri="{BB962C8B-B14F-4D97-AF65-F5344CB8AC3E}">
        <p14:creationId xmlns:p14="http://schemas.microsoft.com/office/powerpoint/2010/main" val="105477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7000" advClick="0">
        <p14:vortex dir="r"/>
        <p:sndAc>
          <p:stSnd>
            <p:snd r:embed="rId2" name="Friendly Dance - Nico Staf-7秒.wav"/>
          </p:stSnd>
        </p:sndAc>
      </p:transition>
    </mc:Choice>
    <mc:Fallback xmlns="">
      <p:transition spd="slow" advClick="0">
        <p:fade/>
        <p:sndAc>
          <p:stSnd>
            <p:snd r:embed="rId8" name="Friendly Dance - Nico Staf-7秒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73D5C6-A286-DB8B-A2B2-A7D1FEB2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zh-TW" altLang="en-US" dirty="0"/>
              <a:t>大綱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037B66F-D979-FEF1-7438-0A622867A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2</a:t>
            </a:fld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68CAB0-8B2C-A75A-4CD6-CB6EB1E82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5055576"/>
          </a:xfrm>
        </p:spPr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資料分析架構暨</a:t>
            </a:r>
            <a:r>
              <a:rPr lang="en-US" altLang="zh-TW" dirty="0"/>
              <a:t>APC</a:t>
            </a:r>
            <a:r>
              <a:rPr lang="zh-TW" altLang="en-US" dirty="0"/>
              <a:t>方法</a:t>
            </a:r>
          </a:p>
          <a:p>
            <a:r>
              <a:rPr lang="en-US" altLang="zh-TW" dirty="0"/>
              <a:t>2.</a:t>
            </a:r>
            <a:r>
              <a:rPr lang="zh-TW" altLang="en-US" dirty="0"/>
              <a:t>資料分析暨視覺化應用</a:t>
            </a:r>
          </a:p>
          <a:p>
            <a:r>
              <a:rPr lang="en-US" altLang="zh-TW" dirty="0"/>
              <a:t>3.CRISP-DM </a:t>
            </a:r>
            <a:r>
              <a:rPr lang="zh-TW" altLang="en-US" dirty="0"/>
              <a:t>簡介</a:t>
            </a:r>
          </a:p>
          <a:p>
            <a:r>
              <a:rPr lang="en-US" altLang="zh-TW" dirty="0"/>
              <a:t>4.</a:t>
            </a:r>
            <a:r>
              <a:rPr lang="zh-TW" altLang="en-US" dirty="0"/>
              <a:t>七大核心產業應用指南</a:t>
            </a:r>
          </a:p>
          <a:p>
            <a:r>
              <a:rPr lang="en-US" altLang="zh-TW" dirty="0"/>
              <a:t>5.</a:t>
            </a:r>
            <a:r>
              <a:rPr lang="zh-TW" altLang="en-US" dirty="0"/>
              <a:t>模型績效指標</a:t>
            </a:r>
          </a:p>
        </p:txBody>
      </p:sp>
    </p:spTree>
    <p:extLst>
      <p:ext uri="{BB962C8B-B14F-4D97-AF65-F5344CB8AC3E}">
        <p14:creationId xmlns:p14="http://schemas.microsoft.com/office/powerpoint/2010/main" val="416069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2B3DD6-09BA-AE81-B980-BCB8A519B0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資料分析架構暨</a:t>
            </a:r>
            <a:r>
              <a:rPr lang="en-US" altLang="zh-TW" dirty="0"/>
              <a:t>APC</a:t>
            </a:r>
            <a:r>
              <a:rPr lang="zh-TW" altLang="en-US" dirty="0"/>
              <a:t>方法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8A3583-3DE5-34B1-6C06-3EB8ED86F5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B76BB1-AE5D-EB6E-D519-E327D75B1E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1727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F956F8-BA75-4B5F-BF13-A9AA341F7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>
                <a:solidFill>
                  <a:srgbClr val="C00000"/>
                </a:solidFill>
                <a:effectLst/>
                <a:ea typeface="新細明體" panose="02020500000000000000" pitchFamily="18" charset="-120"/>
                <a:cs typeface="Times New Roman" panose="02020603050405020304" pitchFamily="18" charset="0"/>
              </a:rPr>
              <a:t>★★★</a:t>
            </a:r>
            <a:r>
              <a:rPr lang="zh-TW" altLang="en-US" dirty="0"/>
              <a:t>資料分析架構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en-US" altLang="zh-TW" dirty="0"/>
              <a:t>APC</a:t>
            </a:r>
            <a:r>
              <a:rPr lang="zh-TW" altLang="en-US" dirty="0"/>
              <a:t>方法</a:t>
            </a:r>
          </a:p>
        </p:txBody>
      </p:sp>
      <p:graphicFrame>
        <p:nvGraphicFramePr>
          <p:cNvPr id="5" name="資料庫圖表 4">
            <a:extLst>
              <a:ext uri="{FF2B5EF4-FFF2-40B4-BE49-F238E27FC236}">
                <a16:creationId xmlns:a16="http://schemas.microsoft.com/office/drawing/2014/main" id="{05363A13-B66C-4F3B-9F8F-000D9AB0FD0D}"/>
              </a:ext>
            </a:extLst>
          </p:cNvPr>
          <p:cNvGraphicFramePr/>
          <p:nvPr/>
        </p:nvGraphicFramePr>
        <p:xfrm>
          <a:off x="2865145" y="2428683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9E325267-D539-43A4-9B10-782A9206FF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8577" y="5672691"/>
            <a:ext cx="617436" cy="707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C621B53-7444-4CFE-8566-675F6E15E8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8132" y="5672692"/>
            <a:ext cx="546269" cy="7079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21D55D5-A2FD-41C7-9750-5F3551BF30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6520" y="5672693"/>
            <a:ext cx="567692" cy="7079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E16116D-3C55-42BE-BE53-FF4FCEF807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8293" y="5982248"/>
            <a:ext cx="1026605" cy="41129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76B72849-6FDC-4FCC-9BD0-41DE9A47810D}"/>
              </a:ext>
            </a:extLst>
          </p:cNvPr>
          <p:cNvSpPr txBox="1"/>
          <p:nvPr/>
        </p:nvSpPr>
        <p:spPr>
          <a:xfrm>
            <a:off x="1808690" y="2503924"/>
            <a:ext cx="5400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4000" b="1" dirty="0">
                <a:ln/>
                <a:solidFill>
                  <a:srgbClr val="0070C0"/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                    </a:t>
            </a:r>
            <a:r>
              <a:rPr kumimoji="0" lang="zh-TW" altLang="en-US" sz="4000" b="1" dirty="0">
                <a:ln/>
                <a:solidFill>
                  <a:srgbClr val="70AD47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溝通</a:t>
            </a:r>
            <a:endParaRPr kumimoji="0" lang="en-US" altLang="zh-TW" sz="4000" b="1" dirty="0">
              <a:ln/>
              <a:solidFill>
                <a:srgbClr val="70AD47">
                  <a:lumMod val="75000"/>
                </a:srgbClr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2400" b="1" dirty="0">
                <a:ln/>
                <a:solidFill>
                  <a:srgbClr val="70AD47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             </a:t>
            </a:r>
            <a:r>
              <a:rPr kumimoji="0" lang="en-US" altLang="zh-TW" sz="2400" b="1" dirty="0">
                <a:ln/>
                <a:solidFill>
                  <a:srgbClr val="70AD47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(Communication)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zh-TW" sz="4000" b="1" dirty="0">
              <a:ln/>
              <a:solidFill>
                <a:prstClr val="white">
                  <a:lumMod val="50000"/>
                </a:prstClr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4000" b="1" dirty="0">
                <a:ln/>
                <a:solidFill>
                  <a:prstClr val="white">
                    <a:lumMod val="50000"/>
                  </a:prst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         處理</a:t>
            </a:r>
            <a:endParaRPr kumimoji="0" lang="en-US" altLang="zh-TW" sz="4000" b="1" dirty="0">
              <a:ln/>
              <a:solidFill>
                <a:prstClr val="white">
                  <a:lumMod val="50000"/>
                </a:prstClr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ln/>
                <a:solidFill>
                  <a:prstClr val="white">
                    <a:lumMod val="50000"/>
                  </a:prst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                (Process)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en-US" altLang="zh-TW" sz="4000" b="1" dirty="0">
              <a:ln/>
              <a:solidFill>
                <a:srgbClr val="FFC000">
                  <a:lumMod val="75000"/>
                </a:srgbClr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4000" b="1" dirty="0">
                <a:ln/>
                <a:solidFill>
                  <a:srgbClr val="FFC000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擷取</a:t>
            </a:r>
            <a:endParaRPr kumimoji="0" lang="en-US" altLang="zh-TW" sz="4000" b="1" dirty="0">
              <a:ln/>
              <a:solidFill>
                <a:srgbClr val="FFC000">
                  <a:lumMod val="75000"/>
                </a:srgbClr>
              </a:solidFill>
              <a:effectLst>
                <a:outerShdw blurRad="38100" dist="19050" dir="2700000" algn="tl" rotWithShape="0">
                  <a:prstClr val="black">
                    <a:lumMod val="50000"/>
                    <a:alpha val="40000"/>
                  </a:prstClr>
                </a:outerShdw>
              </a:effectLst>
              <a:latin typeface="Calibri" panose="020F0502020204030204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ln/>
                <a:solidFill>
                  <a:srgbClr val="FFC000">
                    <a:lumMod val="75000"/>
                  </a:srgbClr>
                </a:solidFill>
                <a:effectLst>
                  <a:outerShdw blurRad="38100" dist="19050" dir="2700000" algn="tl" rotWithShape="0">
                    <a:prstClr val="black">
                      <a:lumMod val="50000"/>
                      <a:alpha val="40000"/>
                    </a:prstClr>
                  </a:outerShdw>
                </a:effectLst>
                <a:latin typeface="Calibri" panose="020F0502020204030204"/>
              </a:rPr>
              <a:t>(Access)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CF76E1A-63AD-4249-A9CE-2D1F9BABB1DE}"/>
              </a:ext>
            </a:extLst>
          </p:cNvPr>
          <p:cNvSpPr/>
          <p:nvPr/>
        </p:nvSpPr>
        <p:spPr>
          <a:xfrm>
            <a:off x="5647921" y="5477162"/>
            <a:ext cx="1070086" cy="408268"/>
          </a:xfrm>
          <a:prstGeom prst="rect">
            <a:avLst/>
          </a:prstGeom>
          <a:solidFill>
            <a:srgbClr val="274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{JSON}</a:t>
            </a:r>
            <a:endParaRPr kumimoji="0" lang="zh-TW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雲朵形圖說文字 12">
            <a:extLst>
              <a:ext uri="{FF2B5EF4-FFF2-40B4-BE49-F238E27FC236}">
                <a16:creationId xmlns:a16="http://schemas.microsoft.com/office/drawing/2014/main" id="{0C6BF747-11CF-4A2A-BC1A-36AF66315487}"/>
              </a:ext>
            </a:extLst>
          </p:cNvPr>
          <p:cNvSpPr/>
          <p:nvPr/>
        </p:nvSpPr>
        <p:spPr>
          <a:xfrm>
            <a:off x="6881381" y="5637191"/>
            <a:ext cx="1063619" cy="690113"/>
          </a:xfrm>
          <a:prstGeom prst="cloudCallout">
            <a:avLst>
              <a:gd name="adj1" fmla="val -14001"/>
              <a:gd name="adj2" fmla="val 16072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20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IOT</a:t>
            </a:r>
            <a:endParaRPr kumimoji="0" lang="zh-TW" altLang="en-US" sz="20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3" name="資料庫圖表 12">
            <a:extLst>
              <a:ext uri="{FF2B5EF4-FFF2-40B4-BE49-F238E27FC236}">
                <a16:creationId xmlns:a16="http://schemas.microsoft.com/office/drawing/2014/main" id="{E125D307-7A6E-43AE-B7EE-937EBE8917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2985" y="3694913"/>
          <a:ext cx="2524654" cy="16831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pic>
        <p:nvPicPr>
          <p:cNvPr id="14" name="Picture 2" descr="「communication」的圖片搜尋結果">
            <a:extLst>
              <a:ext uri="{FF2B5EF4-FFF2-40B4-BE49-F238E27FC236}">
                <a16:creationId xmlns:a16="http://schemas.microsoft.com/office/drawing/2014/main" id="{A8F58C77-B41C-4968-BEFD-07A35D206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999" y="3146962"/>
            <a:ext cx="970291" cy="54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E5C8AC9F-261D-4CE0-9569-2AF2D34F01AB}"/>
              </a:ext>
            </a:extLst>
          </p:cNvPr>
          <p:cNvSpPr/>
          <p:nvPr/>
        </p:nvSpPr>
        <p:spPr>
          <a:xfrm>
            <a:off x="8472264" y="2492896"/>
            <a:ext cx="3240360" cy="23702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zh-TW" altLang="en-US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群組</a:t>
            </a:r>
            <a:endParaRPr lang="en-US" altLang="zh-TW" sz="2800" b="1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 </a:t>
            </a:r>
            <a:r>
              <a:rPr lang="zh-TW" altLang="en-US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時間</a:t>
            </a:r>
            <a:endParaRPr lang="en-US" altLang="zh-TW" sz="2800" b="1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TW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 </a:t>
            </a:r>
            <a:r>
              <a:rPr lang="zh-TW" altLang="en-US" sz="2800" b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建立評估變數</a:t>
            </a:r>
            <a:endParaRPr lang="zh-TW" altLang="en-US" sz="2800" b="1" dirty="0">
              <a:solidFill>
                <a:srgbClr val="002060"/>
              </a:solidFill>
              <a:latin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344F0EF-9610-4141-AF68-53DC2C57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2D2DD61-2677-B97F-525C-125B123DCC4B}"/>
              </a:ext>
            </a:extLst>
          </p:cNvPr>
          <p:cNvSpPr txBox="1"/>
          <p:nvPr/>
        </p:nvSpPr>
        <p:spPr>
          <a:xfrm>
            <a:off x="4198717" y="1622078"/>
            <a:ext cx="2617363" cy="5107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資料分析架構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B6E795C-F844-8BC7-B77A-F235176D735D}"/>
              </a:ext>
            </a:extLst>
          </p:cNvPr>
          <p:cNvSpPr txBox="1"/>
          <p:nvPr/>
        </p:nvSpPr>
        <p:spPr>
          <a:xfrm>
            <a:off x="8832304" y="1622078"/>
            <a:ext cx="2617363" cy="510778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1782625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EBC57C-7A0F-8B6F-36AF-84FB623AC5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資料分析暨視覺化應用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783B42-3793-714D-F659-29A4E6AF60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1FB754-0AE6-89DA-9A30-9C07FD58B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9555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4A2B78-0A3A-F25E-2F64-B38FC202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en-US" altLang="zh-TW" dirty="0"/>
              <a:t>Excel </a:t>
            </a:r>
            <a:r>
              <a:rPr lang="zh-TW" altLang="en-US" dirty="0"/>
              <a:t>下拉式選單與條件式格式設定教學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F42BE7E-655E-5C67-461C-750F3EC9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6</a:t>
            </a:fld>
            <a:endParaRPr lang="en-US" altLang="zh-TW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66A60-4668-8A96-E94A-A11D7D47F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239" y="1345224"/>
            <a:ext cx="10515600" cy="5055576"/>
          </a:xfrm>
        </p:spPr>
        <p:txBody>
          <a:bodyPr>
            <a:normAutofit/>
          </a:bodyPr>
          <a:lstStyle/>
          <a:p>
            <a:pPr algn="l"/>
            <a:r>
              <a:rPr lang="zh-TW" altLang="pt-BR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🌸</a:t>
            </a:r>
            <a:r>
              <a:rPr lang="pt-BR" altLang="zh-TW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YouTube (</a:t>
            </a:r>
            <a:r>
              <a:rPr lang="zh-TW" altLang="pt-BR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包括中文字幕</a:t>
            </a:r>
            <a:r>
              <a:rPr lang="pt-BR" altLang="zh-TW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r>
              <a:rPr lang="zh-TW" altLang="pt-BR" sz="1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herit"/>
              </a:rPr>
              <a:t>：</a:t>
            </a:r>
            <a:r>
              <a:rPr lang="pt-BR" altLang="zh-TW" sz="1600" b="0" i="0" u="none" strike="noStrike" dirty="0">
                <a:solidFill>
                  <a:srgbClr val="2047AF"/>
                </a:solidFill>
                <a:effectLst/>
                <a:highlight>
                  <a:srgbClr val="FFFFFF"/>
                </a:highlight>
                <a:latin typeface="inherit"/>
                <a:hlinkClick r:id="rId2"/>
              </a:rPr>
              <a:t>https://youtu.be/OVA4dvkrsBM</a:t>
            </a:r>
            <a:endParaRPr lang="pt-BR" altLang="zh-TW" sz="16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pt-BR" altLang="zh-TW" sz="1600" dirty="0"/>
              <a:t>LINK: </a:t>
            </a:r>
            <a:r>
              <a:rPr lang="pt-BR" altLang="zh-TW" sz="1600" dirty="0">
                <a:hlinkClick r:id="rId3"/>
              </a:rPr>
              <a:t>https://rwepa.blogspot.com/2023/10/excel-drop-down-list-and-conditional-formatting.html</a:t>
            </a:r>
            <a:endParaRPr lang="pt-BR" altLang="zh-TW" sz="1600" dirty="0"/>
          </a:p>
          <a:p>
            <a:endParaRPr lang="zh-TW" altLang="en-US"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0FFC182-6835-FE94-99BA-C41F4DAD2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730" y="2420888"/>
            <a:ext cx="6388540" cy="3593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26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806" y="1874458"/>
            <a:ext cx="3054916" cy="21527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900643" y="501551"/>
            <a:ext cx="10390716" cy="911225"/>
          </a:xfrm>
        </p:spPr>
        <p:txBody>
          <a:bodyPr/>
          <a:lstStyle/>
          <a:p>
            <a:r>
              <a:rPr lang="zh-TW" altLang="en-US" dirty="0"/>
              <a:t>資料分析</a:t>
            </a:r>
            <a:r>
              <a:rPr lang="en-US" altLang="zh-TW" dirty="0"/>
              <a:t>/</a:t>
            </a:r>
            <a:r>
              <a:rPr lang="zh-TW" altLang="en-US" dirty="0"/>
              <a:t>視覺化應用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1824091"/>
            <a:ext cx="3226209" cy="21797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47473" y="2616450"/>
            <a:ext cx="3554111" cy="22257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5560" y="4084904"/>
            <a:ext cx="3312369" cy="22085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9" name="文字方塊 8"/>
          <p:cNvSpPr txBox="1"/>
          <p:nvPr/>
        </p:nvSpPr>
        <p:spPr>
          <a:xfrm>
            <a:off x="1303282" y="2070273"/>
            <a:ext cx="1704068" cy="54617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800">
                <a:solidFill>
                  <a:srgbClr val="002060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地理資訊</a:t>
            </a:r>
          </a:p>
        </p:txBody>
      </p:sp>
      <p:sp>
        <p:nvSpPr>
          <p:cNvPr id="10" name="文字方塊 9"/>
          <p:cNvSpPr txBox="1"/>
          <p:nvPr/>
        </p:nvSpPr>
        <p:spPr>
          <a:xfrm>
            <a:off x="5105948" y="2425943"/>
            <a:ext cx="2088232" cy="41531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氣象資訊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8040216" y="1824091"/>
            <a:ext cx="3456384" cy="46645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空間圓餅圖離群值分析</a:t>
            </a:r>
          </a:p>
        </p:txBody>
      </p:sp>
      <p:sp>
        <p:nvSpPr>
          <p:cNvPr id="13" name="文字方塊 12"/>
          <p:cNvSpPr txBox="1"/>
          <p:nvPr/>
        </p:nvSpPr>
        <p:spPr>
          <a:xfrm>
            <a:off x="1055440" y="4368386"/>
            <a:ext cx="1566267" cy="556683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保險預測</a:t>
            </a: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125" y="4202732"/>
            <a:ext cx="3201789" cy="20409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6071550-ADC5-4D16-9393-2E79F3411CA2}"/>
              </a:ext>
            </a:extLst>
          </p:cNvPr>
          <p:cNvSpPr/>
          <p:nvPr/>
        </p:nvSpPr>
        <p:spPr>
          <a:xfrm>
            <a:off x="2347666" y="1268760"/>
            <a:ext cx="74966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800" dirty="0">
                <a:solidFill>
                  <a:srgbClr val="0070C0"/>
                </a:solidFill>
                <a:ea typeface="微軟正黑體" panose="020B0604030504040204" pitchFamily="34" charset="-120"/>
              </a:rPr>
              <a:t>R + shiny, Python + </a:t>
            </a:r>
            <a:r>
              <a:rPr lang="en-US" altLang="zh-TW" sz="2800" dirty="0" err="1">
                <a:solidFill>
                  <a:srgbClr val="0070C0"/>
                </a:solidFill>
                <a:ea typeface="微軟正黑體" panose="020B0604030504040204" pitchFamily="34" charset="-120"/>
              </a:rPr>
              <a:t>Streamlit</a:t>
            </a:r>
            <a:r>
              <a:rPr lang="en-US" altLang="zh-TW" sz="2800" dirty="0">
                <a:solidFill>
                  <a:srgbClr val="0070C0"/>
                </a:solidFill>
                <a:ea typeface="微軟正黑體" panose="020B0604030504040204" pitchFamily="34" charset="-120"/>
              </a:rPr>
              <a:t> </a:t>
            </a:r>
            <a:r>
              <a:rPr lang="en-US" altLang="zh-TW" sz="2800" dirty="0">
                <a:solidFill>
                  <a:srgbClr val="0070C0"/>
                </a:solidFill>
                <a:ea typeface="微軟正黑體" panose="020B0604030504040204" pitchFamily="34" charset="-120"/>
                <a:sym typeface="Wingdings" panose="05000000000000000000" pitchFamily="2" charset="2"/>
              </a:rPr>
              <a:t></a:t>
            </a:r>
            <a:r>
              <a:rPr lang="en-US" altLang="zh-TW" sz="2800" dirty="0">
                <a:solidFill>
                  <a:srgbClr val="0070C0"/>
                </a:solidFill>
                <a:ea typeface="微軟正黑體" panose="020B0604030504040204" pitchFamily="34" charset="-120"/>
              </a:rPr>
              <a:t> </a:t>
            </a:r>
            <a:r>
              <a:rPr lang="zh-TW" altLang="en-US" sz="2800" dirty="0">
                <a:solidFill>
                  <a:srgbClr val="0070C0"/>
                </a:solidFill>
                <a:ea typeface="微軟正黑體" panose="020B0604030504040204" pitchFamily="34" charset="-120"/>
              </a:rPr>
              <a:t>互動式資料分析</a:t>
            </a:r>
          </a:p>
        </p:txBody>
      </p:sp>
      <p:sp>
        <p:nvSpPr>
          <p:cNvPr id="12" name="文字方塊 11"/>
          <p:cNvSpPr txBox="1"/>
          <p:nvPr/>
        </p:nvSpPr>
        <p:spPr>
          <a:xfrm>
            <a:off x="9656118" y="4481554"/>
            <a:ext cx="2128513" cy="46645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顧客連結分析</a:t>
            </a:r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7D0956E7-369A-4566-B4E5-6D326BC8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C5CC89C-F6A9-B62B-B636-046B9A427781}"/>
              </a:ext>
            </a:extLst>
          </p:cNvPr>
          <p:cNvSpPr txBox="1"/>
          <p:nvPr/>
        </p:nvSpPr>
        <p:spPr>
          <a:xfrm>
            <a:off x="4884299" y="4519613"/>
            <a:ext cx="2128513" cy="466457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TW"/>
            </a:defPPr>
            <a:lvl1pPr algn="ctr">
              <a:defRPr sz="240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dirty="0"/>
              <a:t>銷售儀表板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646E64C-9C36-FAA7-9E3F-2E542D69C1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4816" y="4846140"/>
            <a:ext cx="2776069" cy="173468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78009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200" dirty="0"/>
              <a:t>中央氣象局 </a:t>
            </a:r>
            <a:r>
              <a:rPr lang="en-US" altLang="zh-TW" sz="3200" dirty="0"/>
              <a:t>1,600</a:t>
            </a:r>
            <a:r>
              <a:rPr lang="zh-TW" altLang="en-US" sz="3200" dirty="0"/>
              <a:t>萬筆資料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940" y="1556792"/>
            <a:ext cx="7818120" cy="441198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圓角矩形圖說文字 4"/>
          <p:cNvSpPr/>
          <p:nvPr/>
        </p:nvSpPr>
        <p:spPr>
          <a:xfrm>
            <a:off x="2440930" y="5733256"/>
            <a:ext cx="2232248" cy="576064"/>
          </a:xfrm>
          <a:prstGeom prst="wedgeRoundRectCallout">
            <a:avLst>
              <a:gd name="adj1" fmla="val -17926"/>
              <a:gd name="adj2" fmla="val -6448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客製化選單</a:t>
            </a:r>
          </a:p>
        </p:txBody>
      </p:sp>
      <p:sp>
        <p:nvSpPr>
          <p:cNvPr id="7" name="圓角矩形圖說文字 6"/>
          <p:cNvSpPr/>
          <p:nvPr/>
        </p:nvSpPr>
        <p:spPr>
          <a:xfrm>
            <a:off x="8328248" y="3356992"/>
            <a:ext cx="1944216" cy="576064"/>
          </a:xfrm>
          <a:prstGeom prst="wedgeRoundRectCallout">
            <a:avLst>
              <a:gd name="adj1" fmla="val -53339"/>
              <a:gd name="adj2" fmla="val 12320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動態繪圖</a:t>
            </a:r>
          </a:p>
        </p:txBody>
      </p:sp>
      <p:sp>
        <p:nvSpPr>
          <p:cNvPr id="8" name="圓角矩形圖說文字 7"/>
          <p:cNvSpPr/>
          <p:nvPr/>
        </p:nvSpPr>
        <p:spPr>
          <a:xfrm>
            <a:off x="6456040" y="5851014"/>
            <a:ext cx="2232248" cy="576064"/>
          </a:xfrm>
          <a:prstGeom prst="wedgeRoundRectCallout">
            <a:avLst>
              <a:gd name="adj1" fmla="val 29644"/>
              <a:gd name="adj2" fmla="val -63462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</a:t>
            </a:r>
            <a:r>
              <a:rPr lang="zh-TW" altLang="en-US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統計運算</a:t>
            </a:r>
          </a:p>
        </p:txBody>
      </p:sp>
      <p:sp>
        <p:nvSpPr>
          <p:cNvPr id="13" name="圓角矩形圖說文字 12"/>
          <p:cNvSpPr/>
          <p:nvPr/>
        </p:nvSpPr>
        <p:spPr>
          <a:xfrm>
            <a:off x="4439816" y="2852936"/>
            <a:ext cx="1944216" cy="576064"/>
          </a:xfrm>
          <a:prstGeom prst="wedgeRoundRectCallout">
            <a:avLst>
              <a:gd name="adj1" fmla="val 15815"/>
              <a:gd name="adj2" fmla="val 84763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異常偵測</a:t>
            </a:r>
          </a:p>
        </p:txBody>
      </p:sp>
      <p:sp>
        <p:nvSpPr>
          <p:cNvPr id="16" name="圓角矩形圖說文字 15"/>
          <p:cNvSpPr/>
          <p:nvPr/>
        </p:nvSpPr>
        <p:spPr>
          <a:xfrm>
            <a:off x="1703512" y="867681"/>
            <a:ext cx="1944216" cy="576064"/>
          </a:xfrm>
          <a:prstGeom prst="wedgeRoundRectCallout">
            <a:avLst>
              <a:gd name="adj1" fmla="val -20229"/>
              <a:gd name="adj2" fmla="val 73559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網頁呈現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FC07E3-B3FC-4CDD-8FDE-06D9D12A9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8</a:t>
            </a:fld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1B1E51B-3F6E-A298-D786-751811920782}"/>
              </a:ext>
            </a:extLst>
          </p:cNvPr>
          <p:cNvGrpSpPr/>
          <p:nvPr/>
        </p:nvGrpSpPr>
        <p:grpSpPr>
          <a:xfrm>
            <a:off x="7880824" y="1124744"/>
            <a:ext cx="4248472" cy="1803794"/>
            <a:chOff x="7824192" y="1265166"/>
            <a:chExt cx="4248472" cy="1803794"/>
          </a:xfrm>
        </p:grpSpPr>
        <p:sp>
          <p:nvSpPr>
            <p:cNvPr id="3" name="語音泡泡: 圓角矩形 2">
              <a:extLst>
                <a:ext uri="{FF2B5EF4-FFF2-40B4-BE49-F238E27FC236}">
                  <a16:creationId xmlns:a16="http://schemas.microsoft.com/office/drawing/2014/main" id="{2568EBED-364D-6B9C-4076-9D91A3F96358}"/>
                </a:ext>
              </a:extLst>
            </p:cNvPr>
            <p:cNvSpPr/>
            <p:nvPr/>
          </p:nvSpPr>
          <p:spPr>
            <a:xfrm>
              <a:off x="7824192" y="1265166"/>
              <a:ext cx="4248472" cy="1803794"/>
            </a:xfrm>
            <a:prstGeom prst="wedgeRoundRectCallout">
              <a:avLst>
                <a:gd name="adj1" fmla="val -54531"/>
                <a:gd name="adj2" fmla="val 25632"/>
                <a:gd name="adj3" fmla="val 16667"/>
              </a:avLst>
            </a:prstGeom>
            <a:solidFill>
              <a:srgbClr val="F1F3F8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831912E1-1A7B-C1DA-8A3D-6C955FD70B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8311" y="1415234"/>
              <a:ext cx="3789463" cy="1547364"/>
            </a:xfrm>
            <a:prstGeom prst="rect">
              <a:avLst/>
            </a:prstGeom>
          </p:spPr>
        </p:pic>
      </p:grpSp>
      <p:sp>
        <p:nvSpPr>
          <p:cNvPr id="11" name="橢圓 10">
            <a:extLst>
              <a:ext uri="{FF2B5EF4-FFF2-40B4-BE49-F238E27FC236}">
                <a16:creationId xmlns:a16="http://schemas.microsoft.com/office/drawing/2014/main" id="{75D5F7E0-94DD-AB7F-02D4-58AB13AADFC4}"/>
              </a:ext>
            </a:extLst>
          </p:cNvPr>
          <p:cNvSpPr/>
          <p:nvPr/>
        </p:nvSpPr>
        <p:spPr>
          <a:xfrm>
            <a:off x="7752184" y="5032668"/>
            <a:ext cx="720080" cy="72008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5560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保險預測模型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034" y="1484784"/>
            <a:ext cx="8261933" cy="511286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9" name="圓角矩形圖說文字 8"/>
          <p:cNvSpPr/>
          <p:nvPr/>
        </p:nvSpPr>
        <p:spPr>
          <a:xfrm>
            <a:off x="862193" y="3140968"/>
            <a:ext cx="2448272" cy="1080120"/>
          </a:xfrm>
          <a:prstGeom prst="wedgeRoundRectCallout">
            <a:avLst>
              <a:gd name="adj1" fmla="val 23250"/>
              <a:gd name="adj2" fmla="val -60087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機率模型</a:t>
            </a:r>
            <a:endParaRPr lang="en-US" altLang="zh-TW" sz="3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2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閥值調整</a:t>
            </a:r>
          </a:p>
        </p:txBody>
      </p:sp>
      <p:sp>
        <p:nvSpPr>
          <p:cNvPr id="10" name="圓角矩形圖說文字 9"/>
          <p:cNvSpPr/>
          <p:nvPr/>
        </p:nvSpPr>
        <p:spPr>
          <a:xfrm>
            <a:off x="9768408" y="2204864"/>
            <a:ext cx="2107067" cy="648072"/>
          </a:xfrm>
          <a:prstGeom prst="wedgeRoundRectCallout">
            <a:avLst>
              <a:gd name="adj1" fmla="val -24313"/>
              <a:gd name="adj2" fmla="val 6962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2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預測結果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6C1C73D-737F-48E7-AAE8-E66D1B84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pPr>
                <a:defRPr/>
              </a:pPr>
              <a:t>9</a:t>
            </a:fld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94441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空間圓餅圖離群值分析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659" y="1642451"/>
            <a:ext cx="5740682" cy="4967477"/>
          </a:xfrm>
          <a:prstGeom prst="rect">
            <a:avLst/>
          </a:prstGeom>
        </p:spPr>
      </p:pic>
      <p:sp>
        <p:nvSpPr>
          <p:cNvPr id="6" name="圓角矩形圖說文字 9">
            <a:extLst>
              <a:ext uri="{FF2B5EF4-FFF2-40B4-BE49-F238E27FC236}">
                <a16:creationId xmlns:a16="http://schemas.microsoft.com/office/drawing/2014/main" id="{7C3AEFA4-6DA0-4076-90F5-9E7210723DD1}"/>
              </a:ext>
            </a:extLst>
          </p:cNvPr>
          <p:cNvSpPr/>
          <p:nvPr/>
        </p:nvSpPr>
        <p:spPr>
          <a:xfrm>
            <a:off x="7968208" y="2852936"/>
            <a:ext cx="3168352" cy="623792"/>
          </a:xfrm>
          <a:prstGeom prst="wedgeRoundRectCallout">
            <a:avLst>
              <a:gd name="adj1" fmla="val -54612"/>
              <a:gd name="adj2" fmla="val 26351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海洋生態視覺化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3F9B09-4F55-4723-B1A3-20715C16D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180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978E02-C6F5-49CC-8BA3-3137CC24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en-US" altLang="zh-TW" dirty="0"/>
              <a:t>2020</a:t>
            </a:r>
            <a:r>
              <a:rPr lang="zh-TW" altLang="en-US" dirty="0"/>
              <a:t>新型冠狀病毒視覺化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B9B8B0F-16FD-4671-ADF2-FEC98144C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830" y="1628801"/>
            <a:ext cx="7694341" cy="412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80624C7-6A5D-4F1C-8633-617919AAF6B2}"/>
              </a:ext>
            </a:extLst>
          </p:cNvPr>
          <p:cNvSpPr/>
          <p:nvPr/>
        </p:nvSpPr>
        <p:spPr>
          <a:xfrm>
            <a:off x="2628185" y="6206612"/>
            <a:ext cx="6935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ea typeface="微軟正黑體" panose="020B0604030504040204" pitchFamily="34" charset="-120"/>
                <a:hlinkClick r:id="rId3"/>
              </a:rPr>
              <a:t>http://rwepa.blogspot.com/2020/02/2019nCoV.html</a:t>
            </a:r>
            <a:r>
              <a:rPr lang="en-US" altLang="zh-TW" sz="2400" dirty="0">
                <a:ea typeface="微軟正黑體" panose="020B0604030504040204" pitchFamily="34" charset="-120"/>
              </a:rPr>
              <a:t> </a:t>
            </a:r>
            <a:endParaRPr lang="zh-TW" altLang="en-US" sz="2400" dirty="0"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633B83-6F4A-4812-84FB-E8944075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5784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B4A8F9C-E4D5-492A-8E76-1F41D8D5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shiny </a:t>
            </a:r>
            <a:r>
              <a:rPr lang="zh-TW" altLang="en-US" dirty="0"/>
              <a:t>顧客連接分析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AC8A8AF-F41E-4189-A657-BABE8FC5B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4831740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https://rwepa.shinyapps.io/shinyCustomerConnect/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FBFCD3-935E-4F7F-9A54-1A46B4CD3F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886026"/>
            <a:ext cx="4286250" cy="428625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5D6C7A4-8503-4544-AB55-0F9AAEF26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494" y="2362280"/>
            <a:ext cx="7359766" cy="279491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2238596-F9D5-9ABF-6280-80B3640F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5566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959B15F3-984C-4044-A473-A6422650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TW" altLang="en-US" sz="3200" dirty="0"/>
              <a:t>品質管制圖</a:t>
            </a:r>
            <a:r>
              <a:rPr lang="en-US" altLang="zh-TW" sz="3200" dirty="0"/>
              <a:t>(quality control chart)</a:t>
            </a:r>
            <a:r>
              <a:rPr lang="zh-TW" altLang="en-US" sz="3200" dirty="0"/>
              <a:t>應用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B5C05A9-0922-4934-A6E9-8436D245C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1600" dirty="0"/>
              <a:t>說明</a:t>
            </a:r>
            <a:r>
              <a:rPr lang="en-US" altLang="zh-TW" sz="1600" dirty="0"/>
              <a:t>: </a:t>
            </a:r>
            <a:r>
              <a:rPr lang="en-US" altLang="zh-TW" sz="1600" dirty="0">
                <a:hlinkClick r:id="rId2"/>
              </a:rPr>
              <a:t>http://rwepa.blogspot.com/2021/10/r-shiny-quality-control-chart.html</a:t>
            </a:r>
            <a:endParaRPr lang="en-US" altLang="zh-TW" sz="1600" dirty="0"/>
          </a:p>
          <a:p>
            <a:r>
              <a:rPr lang="zh-TW" altLang="en-US" sz="1600" dirty="0"/>
              <a:t>資料</a:t>
            </a:r>
            <a:r>
              <a:rPr lang="en-US" altLang="zh-TW" sz="1600" dirty="0"/>
              <a:t>1: </a:t>
            </a:r>
            <a:r>
              <a:rPr lang="en-US" altLang="zh-TW" sz="1600" dirty="0">
                <a:hlinkClick r:id="rId3"/>
              </a:rPr>
              <a:t>https://github.com/rwepa/shiny_spc/blob/main/data/spc_wafer_with_header.csv</a:t>
            </a:r>
            <a:r>
              <a:rPr lang="en-US" altLang="zh-TW" sz="1600" dirty="0"/>
              <a:t> </a:t>
            </a:r>
          </a:p>
          <a:p>
            <a:r>
              <a:rPr lang="zh-TW" altLang="en-US" sz="1600" dirty="0"/>
              <a:t>資料</a:t>
            </a:r>
            <a:r>
              <a:rPr lang="en-US" altLang="zh-TW" sz="1600" dirty="0"/>
              <a:t>2: </a:t>
            </a:r>
            <a:r>
              <a:rPr lang="en-US" altLang="zh-TW" sz="1600" dirty="0">
                <a:hlinkClick r:id="rId4"/>
              </a:rPr>
              <a:t>https://github.com/rwepa/shiny_spc/blob/main/data/spc_pistonrings_without_header.csv</a:t>
            </a:r>
            <a:r>
              <a:rPr lang="en-US" altLang="zh-TW" sz="1600" dirty="0"/>
              <a:t> </a:t>
            </a:r>
          </a:p>
          <a:p>
            <a:r>
              <a:rPr lang="zh-TW" altLang="en-US" sz="1600" dirty="0"/>
              <a:t>線上示範</a:t>
            </a:r>
            <a:r>
              <a:rPr lang="en-US" altLang="zh-TW" sz="1600" dirty="0"/>
              <a:t>:</a:t>
            </a:r>
            <a:r>
              <a:rPr lang="zh-TW" altLang="en-US" sz="1600" dirty="0"/>
              <a:t> </a:t>
            </a:r>
            <a:r>
              <a:rPr lang="en-US" altLang="zh-TW" sz="1600" dirty="0">
                <a:hlinkClick r:id="rId5"/>
              </a:rPr>
              <a:t>https://rwepa.shinyapps.io/shiny_spc/</a:t>
            </a:r>
            <a:endParaRPr lang="zh-TW" alt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EAFD44E1-66DF-4D67-B162-4DC7492C2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0594" y="3008010"/>
            <a:ext cx="6690812" cy="358934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7EC29AA-B4E0-937F-B2D6-DC9AC44A2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7831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0E51F4-6935-3F68-85A6-A474DFB6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Taiwan Stock App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946FD5A4-ED5B-6A34-22DE-58F52089B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https://rwepa.shinyapps.io/shinyStockVis/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4514111-8AF3-6679-2976-9C90FFEEE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630" y="1955717"/>
            <a:ext cx="7752741" cy="4735136"/>
          </a:xfrm>
          <a:prstGeom prst="rect">
            <a:avLst/>
          </a:prstGeom>
        </p:spPr>
      </p:pic>
      <p:sp>
        <p:nvSpPr>
          <p:cNvPr id="6" name="圓角矩形圖說文字 15">
            <a:extLst>
              <a:ext uri="{FF2B5EF4-FFF2-40B4-BE49-F238E27FC236}">
                <a16:creationId xmlns:a16="http://schemas.microsoft.com/office/drawing/2014/main" id="{907F5029-055E-B8EA-7483-6A33815C79E5}"/>
              </a:ext>
            </a:extLst>
          </p:cNvPr>
          <p:cNvSpPr/>
          <p:nvPr/>
        </p:nvSpPr>
        <p:spPr>
          <a:xfrm>
            <a:off x="759660" y="3536259"/>
            <a:ext cx="1514475" cy="468053"/>
          </a:xfrm>
          <a:prstGeom prst="wedgeRoundRectCallout">
            <a:avLst>
              <a:gd name="adj1" fmla="val 54077"/>
              <a:gd name="adj2" fmla="val -1129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下拉式選單</a:t>
            </a:r>
          </a:p>
        </p:txBody>
      </p:sp>
      <p:sp>
        <p:nvSpPr>
          <p:cNvPr id="7" name="圓角矩形圖說文字 15">
            <a:extLst>
              <a:ext uri="{FF2B5EF4-FFF2-40B4-BE49-F238E27FC236}">
                <a16:creationId xmlns:a16="http://schemas.microsoft.com/office/drawing/2014/main" id="{8746A160-71EF-316B-6F3A-B173AF458133}"/>
              </a:ext>
            </a:extLst>
          </p:cNvPr>
          <p:cNvSpPr/>
          <p:nvPr/>
        </p:nvSpPr>
        <p:spPr>
          <a:xfrm>
            <a:off x="759660" y="4917687"/>
            <a:ext cx="1514475" cy="468053"/>
          </a:xfrm>
          <a:prstGeom prst="wedgeRoundRectCallout">
            <a:avLst>
              <a:gd name="adj1" fmla="val 55376"/>
              <a:gd name="adj2" fmla="val -32302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日期範圍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A0CD5C1-349C-3840-07F1-1C105EB8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06970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2C5B2A9A-475D-4C90-B0FC-95A0CF68F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04" y="1412776"/>
            <a:ext cx="10176792" cy="495058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6F671E90-6BFE-4928-B115-FB538D29F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zh-TW" altLang="en-US" dirty="0"/>
              <a:t>離子資料分析與視覺化應用</a:t>
            </a:r>
          </a:p>
        </p:txBody>
      </p:sp>
      <p:sp>
        <p:nvSpPr>
          <p:cNvPr id="7" name="圓角矩形圖說文字 15">
            <a:extLst>
              <a:ext uri="{FF2B5EF4-FFF2-40B4-BE49-F238E27FC236}">
                <a16:creationId xmlns:a16="http://schemas.microsoft.com/office/drawing/2014/main" id="{8EE7769B-35C6-4872-9916-07E891A55966}"/>
              </a:ext>
            </a:extLst>
          </p:cNvPr>
          <p:cNvSpPr/>
          <p:nvPr/>
        </p:nvSpPr>
        <p:spPr>
          <a:xfrm>
            <a:off x="877650" y="1628800"/>
            <a:ext cx="1514475" cy="468053"/>
          </a:xfrm>
          <a:prstGeom prst="wedgeRoundRectCallout">
            <a:avLst>
              <a:gd name="adj1" fmla="val 25512"/>
              <a:gd name="adj2" fmla="val -7641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網頁應用</a:t>
            </a:r>
          </a:p>
        </p:txBody>
      </p:sp>
      <p:sp>
        <p:nvSpPr>
          <p:cNvPr id="11" name="圓角矩形圖說文字 15">
            <a:extLst>
              <a:ext uri="{FF2B5EF4-FFF2-40B4-BE49-F238E27FC236}">
                <a16:creationId xmlns:a16="http://schemas.microsoft.com/office/drawing/2014/main" id="{33E95FAB-A232-46BA-BDD5-DCE1BC1824F3}"/>
              </a:ext>
            </a:extLst>
          </p:cNvPr>
          <p:cNvSpPr/>
          <p:nvPr/>
        </p:nvSpPr>
        <p:spPr>
          <a:xfrm>
            <a:off x="5951984" y="2636912"/>
            <a:ext cx="1514475" cy="468053"/>
          </a:xfrm>
          <a:prstGeom prst="wedgeRoundRectCallout">
            <a:avLst>
              <a:gd name="adj1" fmla="val -26937"/>
              <a:gd name="adj2" fmla="val -72469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Offset</a:t>
            </a:r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測試</a:t>
            </a:r>
          </a:p>
        </p:txBody>
      </p:sp>
      <p:sp>
        <p:nvSpPr>
          <p:cNvPr id="12" name="圓角矩形圖說文字 15">
            <a:extLst>
              <a:ext uri="{FF2B5EF4-FFF2-40B4-BE49-F238E27FC236}">
                <a16:creationId xmlns:a16="http://schemas.microsoft.com/office/drawing/2014/main" id="{177F5D15-7B1B-4286-BBE1-26CBC8FEAAD4}"/>
              </a:ext>
            </a:extLst>
          </p:cNvPr>
          <p:cNvSpPr/>
          <p:nvPr/>
        </p:nvSpPr>
        <p:spPr>
          <a:xfrm>
            <a:off x="7680176" y="3392995"/>
            <a:ext cx="1514475" cy="468053"/>
          </a:xfrm>
          <a:prstGeom prst="wedgeRoundRectCallout">
            <a:avLst>
              <a:gd name="adj1" fmla="val -31206"/>
              <a:gd name="adj2" fmla="val 7158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Slope</a:t>
            </a:r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分析</a:t>
            </a:r>
          </a:p>
        </p:txBody>
      </p:sp>
      <p:sp>
        <p:nvSpPr>
          <p:cNvPr id="13" name="圓角矩形圖說文字 15">
            <a:extLst>
              <a:ext uri="{FF2B5EF4-FFF2-40B4-BE49-F238E27FC236}">
                <a16:creationId xmlns:a16="http://schemas.microsoft.com/office/drawing/2014/main" id="{4C7E419C-FA69-45E2-8449-4C3768ABBAE0}"/>
              </a:ext>
            </a:extLst>
          </p:cNvPr>
          <p:cNvSpPr/>
          <p:nvPr/>
        </p:nvSpPr>
        <p:spPr>
          <a:xfrm>
            <a:off x="2855640" y="2780928"/>
            <a:ext cx="1370459" cy="468053"/>
          </a:xfrm>
          <a:prstGeom prst="wedgeRoundRectCallout">
            <a:avLst>
              <a:gd name="adj1" fmla="val 61046"/>
              <a:gd name="adj2" fmla="val 36066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統計分析</a:t>
            </a:r>
          </a:p>
        </p:txBody>
      </p:sp>
      <p:sp>
        <p:nvSpPr>
          <p:cNvPr id="14" name="圓角矩形圖說文字 15">
            <a:extLst>
              <a:ext uri="{FF2B5EF4-FFF2-40B4-BE49-F238E27FC236}">
                <a16:creationId xmlns:a16="http://schemas.microsoft.com/office/drawing/2014/main" id="{1BC0AC9C-B26B-4232-AB2F-B2EC46C57CEB}"/>
              </a:ext>
            </a:extLst>
          </p:cNvPr>
          <p:cNvSpPr/>
          <p:nvPr/>
        </p:nvSpPr>
        <p:spPr>
          <a:xfrm>
            <a:off x="1452639" y="5085184"/>
            <a:ext cx="1514474" cy="468053"/>
          </a:xfrm>
          <a:prstGeom prst="wedgeRoundRectCallout">
            <a:avLst>
              <a:gd name="adj1" fmla="val -56581"/>
              <a:gd name="adj2" fmla="val -46815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Excel </a:t>
            </a:r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下載</a:t>
            </a:r>
          </a:p>
        </p:txBody>
      </p:sp>
      <p:sp>
        <p:nvSpPr>
          <p:cNvPr id="15" name="圓角矩形圖說文字 15">
            <a:extLst>
              <a:ext uri="{FF2B5EF4-FFF2-40B4-BE49-F238E27FC236}">
                <a16:creationId xmlns:a16="http://schemas.microsoft.com/office/drawing/2014/main" id="{F283ACB9-9633-41BB-B607-1A6FEBCB405C}"/>
              </a:ext>
            </a:extLst>
          </p:cNvPr>
          <p:cNvSpPr/>
          <p:nvPr/>
        </p:nvSpPr>
        <p:spPr>
          <a:xfrm>
            <a:off x="8976320" y="4652798"/>
            <a:ext cx="1370459" cy="468053"/>
          </a:xfrm>
          <a:prstGeom prst="wedgeRoundRectCallout">
            <a:avLst>
              <a:gd name="adj1" fmla="val 59698"/>
              <a:gd name="adj2" fmla="val -13268"/>
              <a:gd name="adj3" fmla="val 16667"/>
            </a:avLst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solidFill>
                  <a:srgbClr val="002060"/>
                </a:solidFill>
                <a:ea typeface="微軟正黑體" panose="020B0604030504040204" pitchFamily="34" charset="-120"/>
              </a:rPr>
              <a:t>雙軸繪圖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D39351-A904-B56F-EAF9-3662EC13F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626625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84AA3B3-6DAE-B746-1871-17BB0F22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RWEPA | shiny</a:t>
            </a:r>
            <a:r>
              <a:rPr lang="zh-TW" altLang="en-US" sz="3200" dirty="0"/>
              <a:t>企業實務應用 第</a:t>
            </a:r>
            <a:r>
              <a:rPr lang="en-US" altLang="zh-TW" sz="3200" dirty="0"/>
              <a:t>4</a:t>
            </a:r>
            <a:r>
              <a:rPr lang="zh-TW" altLang="en-US" sz="3200" dirty="0"/>
              <a:t>集</a:t>
            </a:r>
            <a:r>
              <a:rPr lang="en-US" altLang="zh-TW" sz="3200" dirty="0"/>
              <a:t>-shiny</a:t>
            </a:r>
            <a:r>
              <a:rPr lang="zh-TW" altLang="en-US" sz="3200" dirty="0"/>
              <a:t>銷售儀表板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60EAEC-250A-76F9-19BD-61B6AC5DC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000000"/>
                </a:solidFill>
                <a:latin typeface="Arial" panose="020B0604020202020204" pitchFamily="34" charset="0"/>
              </a:rPr>
              <a:t>S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hiny: </a:t>
            </a:r>
            <a:r>
              <a:rPr lang="en-US" altLang="zh-TW" b="0" i="0" u="none" strike="noStrike" dirty="0">
                <a:solidFill>
                  <a:srgbClr val="2047AF"/>
                </a:solidFill>
                <a:effectLst/>
                <a:latin typeface="Arial" panose="020B0604020202020204" pitchFamily="34" charset="0"/>
                <a:hlinkClick r:id="rId2"/>
              </a:rPr>
              <a:t>https://rwepa.shinyapps.io/shinySalesDashboard/</a:t>
            </a:r>
            <a:endParaRPr lang="en-US" altLang="zh-TW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TW" sz="2800" dirty="0"/>
              <a:t>YouTube: </a:t>
            </a:r>
            <a:r>
              <a:rPr lang="en-US" altLang="zh-TW" sz="2800" dirty="0">
                <a:hlinkClick r:id="rId3"/>
              </a:rPr>
              <a:t>https://youtu.be/4GgZlf8heQk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CD47180-4E1C-1086-8624-FA47278D3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7488" y="2444343"/>
            <a:ext cx="6406694" cy="4067390"/>
          </a:xfrm>
          <a:prstGeom prst="rect">
            <a:avLst/>
          </a:prstGeom>
        </p:spPr>
      </p:pic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9873B489-7347-8586-9D38-831AFDF48BDF}"/>
              </a:ext>
            </a:extLst>
          </p:cNvPr>
          <p:cNvSpPr/>
          <p:nvPr/>
        </p:nvSpPr>
        <p:spPr>
          <a:xfrm>
            <a:off x="8040216" y="2744924"/>
            <a:ext cx="3744416" cy="1260140"/>
          </a:xfrm>
          <a:prstGeom prst="wedgeRoundRectCallout">
            <a:avLst>
              <a:gd name="adj1" fmla="val -56719"/>
              <a:gd name="adj2" fmla="val -14095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TW" altLang="en-US" sz="24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謝謝 </a:t>
            </a:r>
            <a:r>
              <a:rPr lang="en-US" altLang="zh-TW" sz="24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^_^</a:t>
            </a:r>
          </a:p>
          <a:p>
            <a:pPr algn="ctr">
              <a:lnSpc>
                <a:spcPct val="150000"/>
              </a:lnSpc>
            </a:pPr>
            <a:r>
              <a:rPr lang="zh-TW" altLang="en-US" sz="2400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訂閱、讚、開啟小鈴鐺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DE183BD-FF95-E4B8-85C0-86AFD86A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37031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498DA21-1F67-9C2B-8EA1-23E073DE9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shiny</a:t>
            </a:r>
            <a:r>
              <a:rPr lang="zh-TW" altLang="en-US" sz="3200" dirty="0"/>
              <a:t>企業實務應用 第</a:t>
            </a:r>
            <a:r>
              <a:rPr lang="en-US" altLang="zh-TW" sz="3200" dirty="0"/>
              <a:t>6</a:t>
            </a:r>
            <a:r>
              <a:rPr lang="zh-TW" altLang="en-US" sz="3200" dirty="0"/>
              <a:t>集</a:t>
            </a:r>
            <a:r>
              <a:rPr lang="en-US" altLang="zh-TW" sz="3200" dirty="0"/>
              <a:t>-</a:t>
            </a:r>
            <a:r>
              <a:rPr lang="zh-TW" altLang="en-US" sz="3200" dirty="0"/>
              <a:t>小明算命師</a:t>
            </a:r>
            <a:r>
              <a:rPr lang="en-US" altLang="zh-TW" sz="3200" dirty="0"/>
              <a:t>(</a:t>
            </a:r>
            <a:r>
              <a:rPr lang="zh-TW" altLang="en-US" sz="3200" dirty="0"/>
              <a:t>下</a:t>
            </a:r>
            <a:r>
              <a:rPr lang="en-US" altLang="zh-TW" sz="3200" dirty="0"/>
              <a:t>) - </a:t>
            </a:r>
            <a:r>
              <a:rPr lang="zh-TW" altLang="en-US" sz="3200" dirty="0"/>
              <a:t>第</a:t>
            </a:r>
            <a:r>
              <a:rPr lang="en-US" altLang="zh-TW" sz="3200" dirty="0"/>
              <a:t>1</a:t>
            </a:r>
            <a:r>
              <a:rPr lang="zh-TW" altLang="en-US" sz="3200" dirty="0"/>
              <a:t>季完結篇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1122F33-1AD8-A27A-D7F9-4BF73DF45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YouTube: </a:t>
            </a:r>
            <a:r>
              <a:rPr lang="en-US" altLang="zh-TW" sz="2800" b="0" i="0" u="none" strike="noStrike" dirty="0">
                <a:solidFill>
                  <a:srgbClr val="2047AF"/>
                </a:solidFill>
                <a:effectLst/>
                <a:latin typeface="Arial" panose="020B0604020202020204" pitchFamily="34" charset="0"/>
                <a:hlinkClick r:id="rId2"/>
              </a:rPr>
              <a:t>https://youtu.be/rrD6KV3eV-w</a:t>
            </a:r>
            <a:endParaRPr lang="zh-TW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2E66094-881F-F1AE-1A7A-29626DAA7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684" y="2219830"/>
            <a:ext cx="5688632" cy="4184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6664E8-1942-D3D5-8DA3-8C53E84CB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345191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096492-6DDB-5187-019A-BA40F274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Tableau - </a:t>
            </a:r>
            <a:r>
              <a:rPr lang="zh-TW" altLang="en-US" dirty="0"/>
              <a:t>智慧製造應用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0759F0-4DE5-DE1D-8F2C-E53A5E4C93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546" y="1340768"/>
            <a:ext cx="10515600" cy="4831740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hlinkClick r:id="rId2"/>
              </a:rPr>
              <a:t>https://github.com/rwepa/teaching_tableau</a:t>
            </a:r>
            <a:r>
              <a:rPr lang="en-US" altLang="zh-TW" sz="2000" dirty="0"/>
              <a:t> </a:t>
            </a:r>
          </a:p>
          <a:p>
            <a:r>
              <a:rPr lang="en-US" altLang="zh-TW" sz="2000" dirty="0">
                <a:hlinkClick r:id="rId3"/>
              </a:rPr>
              <a:t>https://public.tableau.com/app/profile/ming.chang.lee/vizzes</a:t>
            </a:r>
            <a:endParaRPr lang="zh-TW" altLang="en-US" sz="20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ACF0070-F390-5BCB-0333-22A265418A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2340292"/>
            <a:ext cx="4143375" cy="218313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C3981C4-86B9-3A46-B84D-9D95CEE01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8897" y="2340292"/>
            <a:ext cx="4089083" cy="217741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7885B39-1FB9-3B7C-F804-8E566DBF78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964" y="4588255"/>
            <a:ext cx="4143375" cy="21488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0EC1C9D1-3849-A0CC-03D5-B663F7F5A2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6040" y="4588255"/>
            <a:ext cx="4091940" cy="214026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F837B2-CCED-7C1A-5282-CE1997841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96562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63882A-9587-A445-B304-42C04F899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zh-TW" altLang="en-US" dirty="0"/>
              <a:t>登山路線視覺化分析平台 </a:t>
            </a:r>
            <a:r>
              <a:rPr lang="en-US" altLang="zh-TW" dirty="0"/>
              <a:t>(Python + Streamlit)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1A81B1A-677C-ECE8-0DD6-05B152330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4831740"/>
          </a:xfrm>
        </p:spPr>
        <p:txBody>
          <a:bodyPr>
            <a:normAutofit/>
          </a:bodyPr>
          <a:lstStyle/>
          <a:p>
            <a:r>
              <a:rPr lang="en-US" altLang="zh-TW" dirty="0"/>
              <a:t>YouTube</a:t>
            </a:r>
            <a:r>
              <a:rPr lang="zh-TW" altLang="en-US" dirty="0"/>
              <a:t>：</a:t>
            </a:r>
            <a:r>
              <a:rPr lang="en-US" altLang="zh-TW" b="0" i="0" u="none" strike="noStrike" dirty="0">
                <a:solidFill>
                  <a:srgbClr val="2047AF"/>
                </a:solidFill>
                <a:effectLst/>
                <a:hlinkClick r:id="rId2"/>
              </a:rPr>
              <a:t>https://youtu.be/-_zghs2qrIg</a:t>
            </a:r>
            <a:endParaRPr lang="en-US" altLang="zh-TW" dirty="0"/>
          </a:p>
          <a:p>
            <a:r>
              <a:rPr lang="zh-TW" altLang="en-US" dirty="0"/>
              <a:t>系統展示： </a:t>
            </a:r>
            <a:r>
              <a:rPr lang="en-US" altLang="zh-TW" dirty="0">
                <a:hlinkClick r:id="rId3"/>
              </a:rPr>
              <a:t>https://rwepa-climb.streamlit.app/</a:t>
            </a:r>
            <a:endParaRPr lang="zh-TW" altLang="en-US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366E454-50A8-533B-DC52-7E624FA24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877" y="2561029"/>
            <a:ext cx="7576246" cy="396431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EEBF3FF-EABA-AE69-21B1-ABF6439B1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8733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948DE-18D4-59B8-7528-8AED05544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zh-TW" altLang="en-US" dirty="0"/>
              <a:t>銷售儀表板</a:t>
            </a:r>
            <a:r>
              <a:rPr lang="en-US" altLang="zh-TW" dirty="0"/>
              <a:t>2025 (Python + </a:t>
            </a:r>
            <a:r>
              <a:rPr lang="en-US" altLang="zh-TW" dirty="0" err="1"/>
              <a:t>Streamlit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120D520-826A-E975-6D64-CED1862E7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20</a:t>
            </a:fld>
            <a:endParaRPr lang="en-US" altLang="zh-TW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853C0B4-9D2D-1F70-7A98-2087D5496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5055576"/>
          </a:xfrm>
        </p:spPr>
        <p:txBody>
          <a:bodyPr/>
          <a:lstStyle/>
          <a:p>
            <a:r>
              <a:rPr lang="en-US" altLang="zh-TW" dirty="0"/>
              <a:t>YouTube</a:t>
            </a:r>
            <a:r>
              <a:rPr lang="zh-TW" altLang="en-US" dirty="0"/>
              <a:t>：</a:t>
            </a:r>
            <a:r>
              <a:rPr lang="en-US" altLang="zh-TW" dirty="0">
                <a:hlinkClick r:id="rId2"/>
              </a:rPr>
              <a:t>https://youtu.be/QmvlYHspvns</a:t>
            </a:r>
            <a:r>
              <a:rPr lang="en-US" altLang="zh-TW" dirty="0"/>
              <a:t> </a:t>
            </a:r>
          </a:p>
          <a:p>
            <a:r>
              <a:rPr lang="zh-TW" altLang="en-US" dirty="0"/>
              <a:t>系統展示： </a:t>
            </a:r>
            <a:r>
              <a:rPr lang="en-US" altLang="zh-TW" dirty="0">
                <a:hlinkClick r:id="rId3"/>
              </a:rPr>
              <a:t>https://rwepa-sales-dashboard.streamlit.app/</a:t>
            </a:r>
            <a:r>
              <a:rPr lang="en-US" altLang="zh-TW" dirty="0"/>
              <a:t> 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91BB4302-CCCF-044F-2447-0E5D6B89B5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6" y="2690094"/>
            <a:ext cx="6014044" cy="375799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087E579-91AC-03E6-656D-D602AC049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224" y="2852936"/>
            <a:ext cx="2975348" cy="29523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528665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907F0C-6AD2-79B4-0DA2-D6D2D40FF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RWEPA(</a:t>
            </a:r>
            <a:r>
              <a:rPr lang="zh-TW" altLang="en-US" dirty="0"/>
              <a:t>小明</a:t>
            </a:r>
            <a:r>
              <a:rPr lang="en-US" altLang="zh-TW" dirty="0"/>
              <a:t>) | PDF2MP3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139306A-117E-A811-518F-ADEB2A292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21</a:t>
            </a:fld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D7D208-3D16-7BDB-F2BB-75EB1F6A53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400" dirty="0"/>
              <a:t>🌸</a:t>
            </a:r>
            <a:r>
              <a:rPr lang="en-US" altLang="zh-TW" sz="2400" dirty="0"/>
              <a:t>YouTube【</a:t>
            </a:r>
            <a:r>
              <a:rPr lang="zh-TW" altLang="en-US" sz="2400" dirty="0"/>
              <a:t>中文字幕</a:t>
            </a:r>
            <a:r>
              <a:rPr lang="en-US" altLang="zh-TW" sz="2400" dirty="0"/>
              <a:t>】</a:t>
            </a:r>
            <a:r>
              <a:rPr lang="zh-TW" altLang="en-US" sz="2400" dirty="0"/>
              <a:t>：</a:t>
            </a:r>
            <a:r>
              <a:rPr lang="en-US" altLang="zh-TW" sz="2400" dirty="0">
                <a:hlinkClick r:id="rId2"/>
              </a:rPr>
              <a:t>https://youtu.be/bzek9ALgx8c</a:t>
            </a:r>
            <a:r>
              <a:rPr lang="en-US" altLang="zh-TW" sz="2400" dirty="0"/>
              <a:t> </a:t>
            </a:r>
          </a:p>
          <a:p>
            <a:r>
              <a:rPr lang="zh-TW" altLang="en-US" sz="2400" dirty="0"/>
              <a:t>🌸</a:t>
            </a:r>
            <a:r>
              <a:rPr lang="en-US" altLang="zh-TW" sz="2400" dirty="0"/>
              <a:t>【</a:t>
            </a:r>
            <a:r>
              <a:rPr lang="zh-TW" altLang="en-US" sz="2400" dirty="0"/>
              <a:t>謝謝訂閱、按讚、分享與開啟小鈴鐺💡</a:t>
            </a:r>
            <a:r>
              <a:rPr lang="en-US" altLang="zh-TW" sz="2400" dirty="0"/>
              <a:t>】</a:t>
            </a:r>
          </a:p>
          <a:p>
            <a:r>
              <a:rPr lang="en-US" altLang="zh-TW" sz="2400" dirty="0"/>
              <a:t>LINK</a:t>
            </a:r>
            <a:r>
              <a:rPr lang="zh-TW" altLang="en-US" sz="2400" dirty="0"/>
              <a:t>：</a:t>
            </a:r>
            <a:r>
              <a:rPr lang="en-US" altLang="zh-TW" sz="2400" dirty="0">
                <a:hlinkClick r:id="rId3"/>
              </a:rPr>
              <a:t>https://rwepa.blogspot.com/2026/09/rwepa-pdf2mp3.html</a:t>
            </a:r>
            <a:endParaRPr lang="en-US" altLang="zh-TW" sz="2400" dirty="0"/>
          </a:p>
          <a:p>
            <a:endParaRPr lang="en-US" altLang="zh-TW" sz="2400" dirty="0"/>
          </a:p>
          <a:p>
            <a:endParaRPr lang="zh-TW" alt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3C481C-19BA-3B12-18C9-3A90246F2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5665" y="2983450"/>
            <a:ext cx="6040670" cy="339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90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C402200-D063-4E4E-B07D-65461982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R </a:t>
            </a:r>
            <a:r>
              <a:rPr lang="zh-TW" altLang="en-US" dirty="0"/>
              <a:t>入門資料分析與視覺化應用</a:t>
            </a:r>
            <a:r>
              <a:rPr lang="en-US" altLang="zh-TW" dirty="0"/>
              <a:t>(7</a:t>
            </a:r>
            <a:r>
              <a:rPr lang="zh-TW" altLang="en-US" dirty="0"/>
              <a:t>小時</a:t>
            </a:r>
            <a:r>
              <a:rPr lang="en-US" altLang="zh-TW" dirty="0"/>
              <a:t>28</a:t>
            </a:r>
            <a:r>
              <a:rPr lang="zh-TW" altLang="en-US" dirty="0"/>
              <a:t>分鐘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F9A5F21-BCD4-41BC-9568-2397F2F6A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4831740"/>
          </a:xfrm>
        </p:spPr>
        <p:txBody>
          <a:bodyPr/>
          <a:lstStyle/>
          <a:p>
            <a:r>
              <a:rPr lang="en-US" altLang="zh-TW" dirty="0">
                <a:hlinkClick r:id="rId2"/>
              </a:rPr>
              <a:t>https://mastertalks.tw/products/r?ref=MCLEE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0211615-227D-4DEF-87CC-199FE7E05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71" y="2573511"/>
            <a:ext cx="5758007" cy="337254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5B71BA8-78D2-4908-BDE8-66D567BEDA58}"/>
              </a:ext>
            </a:extLst>
          </p:cNvPr>
          <p:cNvSpPr txBox="1"/>
          <p:nvPr/>
        </p:nvSpPr>
        <p:spPr>
          <a:xfrm>
            <a:off x="6954985" y="2466855"/>
            <a:ext cx="3662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主題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 R,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 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RStudio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簡介與套件使用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認識資料物件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資料處理與分析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資料視覺化應用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774E8C3-17EA-4823-9F13-1A3D92A414C7}"/>
              </a:ext>
            </a:extLst>
          </p:cNvPr>
          <p:cNvSpPr txBox="1"/>
          <p:nvPr/>
        </p:nvSpPr>
        <p:spPr>
          <a:xfrm>
            <a:off x="7018136" y="4183409"/>
            <a:ext cx="492448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特色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資料分析的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關鍵八步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提供必備</a:t>
            </a:r>
            <a:r>
              <a:rPr lang="en-US" altLang="zh-TW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ggplot2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套件的應用知識與使用情境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提供日期時間</a:t>
            </a:r>
            <a:r>
              <a:rPr lang="en-US" altLang="zh-TW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zoo, </a:t>
            </a:r>
            <a:r>
              <a:rPr lang="en-US" altLang="zh-TW" b="1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xts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套件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的整合應用操作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人力資源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資料與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銷售資料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，強化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實務資料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操作能力</a:t>
            </a:r>
          </a:p>
        </p:txBody>
      </p:sp>
      <p:sp>
        <p:nvSpPr>
          <p:cNvPr id="15" name="想法泡泡: 雲朵 14">
            <a:extLst>
              <a:ext uri="{FF2B5EF4-FFF2-40B4-BE49-F238E27FC236}">
                <a16:creationId xmlns:a16="http://schemas.microsoft.com/office/drawing/2014/main" id="{81BAAF01-3BE8-4712-9F3A-27E57CCB38A7}"/>
              </a:ext>
            </a:extLst>
          </p:cNvPr>
          <p:cNvSpPr/>
          <p:nvPr/>
        </p:nvSpPr>
        <p:spPr>
          <a:xfrm>
            <a:off x="8779165" y="1307452"/>
            <a:ext cx="3001818" cy="1477327"/>
          </a:xfrm>
          <a:prstGeom prst="cloudCallout">
            <a:avLst>
              <a:gd name="adj1" fmla="val -36693"/>
              <a:gd name="adj2" fmla="val 12500"/>
            </a:avLst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課程提供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教學範例的原始程式檔案與資料集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中文字幕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8D93426-7E41-689A-9378-6C1B39B92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44323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B5AC0D-CAAA-4995-9F0B-4326521DA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R </a:t>
            </a:r>
            <a:r>
              <a:rPr lang="zh-TW" altLang="en-US" dirty="0"/>
              <a:t>商業預測應用</a:t>
            </a:r>
            <a:r>
              <a:rPr lang="en-US" altLang="zh-TW" dirty="0"/>
              <a:t>(8</a:t>
            </a:r>
            <a:r>
              <a:rPr lang="zh-TW" altLang="en-US" dirty="0"/>
              <a:t>小時</a:t>
            </a:r>
            <a:r>
              <a:rPr lang="en-US" altLang="zh-TW" dirty="0"/>
              <a:t>53</a:t>
            </a:r>
            <a:r>
              <a:rPr lang="zh-TW" altLang="en-US" dirty="0"/>
              <a:t>分鐘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A044991-FD69-4E2D-9868-EF16E0004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https://mastertalks.tw/products/r-2?ref=MCLEE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3304B0-AA51-412E-921C-EFBF6725FC4E}"/>
              </a:ext>
            </a:extLst>
          </p:cNvPr>
          <p:cNvSpPr txBox="1"/>
          <p:nvPr/>
        </p:nvSpPr>
        <p:spPr>
          <a:xfrm>
            <a:off x="6954985" y="2466855"/>
            <a:ext cx="36622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主題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1. R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RStudio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工具操作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非監督式學習業預測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監督式學習商業預測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4.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財金資料預測應用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8B4C9D3-6443-481E-B4BF-BEBFDE465A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68" y="2794337"/>
            <a:ext cx="5795201" cy="340309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23F4D426-F609-4DA9-8146-6B9612FDCF23}"/>
              </a:ext>
            </a:extLst>
          </p:cNvPr>
          <p:cNvSpPr txBox="1"/>
          <p:nvPr/>
        </p:nvSpPr>
        <p:spPr>
          <a:xfrm>
            <a:off x="7018137" y="4183409"/>
            <a:ext cx="44349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特色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採用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最有效率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方式學習大數據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R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語言，並應用於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職場資料分析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與</a:t>
            </a: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商業預測應用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多元線性迴歸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的必備知識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財金資料商業預測應用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的基礎與進階必學技能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提供學員人力資源資料與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台指期</a:t>
            </a:r>
            <a:r>
              <a:rPr lang="en-US" altLang="zh-TW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tick</a:t>
            </a:r>
            <a:r>
              <a:rPr lang="zh-TW" altLang="en-US" b="1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預測演練</a:t>
            </a:r>
          </a:p>
        </p:txBody>
      </p:sp>
      <p:sp>
        <p:nvSpPr>
          <p:cNvPr id="11" name="想法泡泡: 雲朵 10">
            <a:extLst>
              <a:ext uri="{FF2B5EF4-FFF2-40B4-BE49-F238E27FC236}">
                <a16:creationId xmlns:a16="http://schemas.microsoft.com/office/drawing/2014/main" id="{DDE526AF-0A35-4FA8-A1CA-8C5B83347FA3}"/>
              </a:ext>
            </a:extLst>
          </p:cNvPr>
          <p:cNvSpPr/>
          <p:nvPr/>
        </p:nvSpPr>
        <p:spPr>
          <a:xfrm>
            <a:off x="9120336" y="1608578"/>
            <a:ext cx="2772210" cy="1477328"/>
          </a:xfrm>
          <a:prstGeom prst="cloudCallout">
            <a:avLst>
              <a:gd name="adj1" fmla="val -36693"/>
              <a:gd name="adj2" fmla="val 12500"/>
            </a:avLst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zh-TW" altLang="en-US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課程提供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教學範例的原始程式檔案與資料集</a:t>
            </a:r>
            <a:endParaRPr kumimoji="0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algn="ctr" defTabSz="457200"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+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中文字幕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7B9CDE0-21B0-7F2B-EDCC-A0EFD499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36154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24BB33-EE9D-B92F-E593-AAD10B516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zh-TW" altLang="en-US" dirty="0"/>
              <a:t>免費 </a:t>
            </a:r>
            <a:r>
              <a:rPr lang="en-US" altLang="zh-TW" dirty="0"/>
              <a:t>Anaconda + Pandas </a:t>
            </a:r>
            <a:r>
              <a:rPr lang="zh-TW" altLang="en-US" dirty="0"/>
              <a:t>實作教學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E483B6A8-C89E-4A0D-854D-7025C227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24</a:t>
            </a:fld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9C8205-0407-6F81-7E49-665A90661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4831740"/>
          </a:xfrm>
        </p:spPr>
        <p:txBody>
          <a:bodyPr/>
          <a:lstStyle/>
          <a:p>
            <a:r>
              <a:rPr lang="pt-BR" altLang="zh-TW" dirty="0"/>
              <a:t>RWEPA | Anaconda + Pandas - Part 1 </a:t>
            </a:r>
            <a:r>
              <a:rPr lang="zh-TW" altLang="pt-BR" dirty="0"/>
              <a:t>下載與安裝白話篇</a:t>
            </a:r>
            <a:endParaRPr lang="pt-BR" altLang="zh-TW" dirty="0"/>
          </a:p>
          <a:p>
            <a:pPr lvl="1"/>
            <a:r>
              <a:rPr lang="zh-TW" altLang="pt-BR" dirty="0"/>
              <a:t>🌸</a:t>
            </a:r>
            <a:r>
              <a:rPr lang="pt-BR" altLang="zh-TW" dirty="0"/>
              <a:t>YouTube</a:t>
            </a:r>
            <a:r>
              <a:rPr lang="zh-TW" altLang="pt-BR" dirty="0"/>
              <a:t>：</a:t>
            </a:r>
            <a:r>
              <a:rPr lang="pt-BR" altLang="zh-TW" dirty="0">
                <a:hlinkClick r:id="rId2"/>
              </a:rPr>
              <a:t>https://youtu.be/te2pbxnbmvQ</a:t>
            </a:r>
            <a:endParaRPr lang="pt-BR" altLang="zh-TW" dirty="0"/>
          </a:p>
          <a:p>
            <a:pPr lvl="1"/>
            <a:r>
              <a:rPr lang="zh-TW" altLang="pt-BR" dirty="0"/>
              <a:t>🌸</a:t>
            </a:r>
            <a:r>
              <a:rPr lang="pt-BR" altLang="zh-TW" dirty="0"/>
              <a:t>【</a:t>
            </a:r>
            <a:r>
              <a:rPr lang="zh-TW" altLang="pt-BR" dirty="0"/>
              <a:t>謝謝訂閱、按讚、分享與開啟小鈴鐺💡</a:t>
            </a:r>
            <a:r>
              <a:rPr lang="pt-BR" altLang="zh-TW" dirty="0"/>
              <a:t>】</a:t>
            </a:r>
          </a:p>
          <a:p>
            <a:r>
              <a:rPr lang="pt-BR" altLang="zh-TW" dirty="0"/>
              <a:t>RWEPA | Anaconda + Pandas - Part 2 </a:t>
            </a:r>
            <a:r>
              <a:rPr lang="zh-TW" altLang="pt-BR" dirty="0"/>
              <a:t>資料匯入探索</a:t>
            </a:r>
            <a:endParaRPr lang="pt-BR" altLang="zh-TW" dirty="0"/>
          </a:p>
          <a:p>
            <a:pPr lvl="1"/>
            <a:r>
              <a:rPr lang="zh-TW" altLang="pt-BR" dirty="0"/>
              <a:t>🌸</a:t>
            </a:r>
            <a:r>
              <a:rPr lang="pt-BR" altLang="zh-TW" dirty="0"/>
              <a:t>YouTube</a:t>
            </a:r>
            <a:r>
              <a:rPr lang="zh-TW" altLang="pt-BR" dirty="0"/>
              <a:t>：</a:t>
            </a:r>
            <a:r>
              <a:rPr lang="pt-BR" altLang="zh-TW" dirty="0">
                <a:hlinkClick r:id="rId3"/>
              </a:rPr>
              <a:t>https://youtu.be/NC2YAHmMPwY</a:t>
            </a:r>
            <a:endParaRPr lang="pt-BR" altLang="zh-TW" dirty="0"/>
          </a:p>
          <a:p>
            <a:r>
              <a:rPr lang="pt-BR" altLang="zh-TW" dirty="0"/>
              <a:t>RWEPA | Anaconda + Pandas - Part 3 </a:t>
            </a:r>
            <a:r>
              <a:rPr lang="zh-TW" altLang="pt-BR" dirty="0"/>
              <a:t>資料處理探索</a:t>
            </a:r>
            <a:endParaRPr lang="pt-BR" altLang="zh-TW" dirty="0"/>
          </a:p>
          <a:p>
            <a:pPr lvl="1"/>
            <a:r>
              <a:rPr lang="zh-TW" altLang="pt-BR" dirty="0"/>
              <a:t>🌸</a:t>
            </a:r>
            <a:r>
              <a:rPr lang="pt-BR" altLang="zh-TW" dirty="0"/>
              <a:t>YouTube</a:t>
            </a:r>
            <a:r>
              <a:rPr lang="zh-TW" altLang="pt-BR" dirty="0"/>
              <a:t>：</a:t>
            </a:r>
            <a:r>
              <a:rPr lang="pt-BR" altLang="zh-TW" dirty="0">
                <a:hlinkClick r:id="rId4"/>
              </a:rPr>
              <a:t>https://youtu.be/vlWLHF5qXlI</a:t>
            </a:r>
            <a:endParaRPr lang="pt-BR" altLang="zh-TW" dirty="0"/>
          </a:p>
          <a:p>
            <a:r>
              <a:rPr lang="pt-BR" altLang="zh-TW" dirty="0"/>
              <a:t>RWEPA | Anaconda + Pandas - Part 4 </a:t>
            </a:r>
            <a:r>
              <a:rPr lang="zh-TW" altLang="pt-BR" dirty="0"/>
              <a:t>資料視覺化</a:t>
            </a:r>
            <a:endParaRPr lang="pt-BR" altLang="zh-TW" dirty="0"/>
          </a:p>
          <a:p>
            <a:pPr lvl="1"/>
            <a:r>
              <a:rPr lang="zh-TW" altLang="pt-BR" dirty="0"/>
              <a:t>🌸</a:t>
            </a:r>
            <a:r>
              <a:rPr lang="pt-BR" altLang="zh-TW" dirty="0"/>
              <a:t>YouTube</a:t>
            </a:r>
            <a:r>
              <a:rPr lang="zh-TW" altLang="pt-BR" dirty="0"/>
              <a:t>：</a:t>
            </a:r>
            <a:r>
              <a:rPr lang="pt-BR" altLang="zh-TW" dirty="0">
                <a:hlinkClick r:id="rId5"/>
              </a:rPr>
              <a:t>https://youtu.be/hXVBchxuzhU</a:t>
            </a:r>
            <a:endParaRPr lang="pt-BR" altLang="zh-TW" dirty="0"/>
          </a:p>
          <a:p>
            <a:pPr lvl="1"/>
            <a:endParaRPr lang="pt-BR" altLang="zh-TW" dirty="0"/>
          </a:p>
          <a:p>
            <a:endParaRPr lang="pt-BR" altLang="zh-TW" dirty="0"/>
          </a:p>
          <a:p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9AF6773-1294-1442-8CFB-8DE54F748404}"/>
              </a:ext>
            </a:extLst>
          </p:cNvPr>
          <p:cNvSpPr txBox="1"/>
          <p:nvPr/>
        </p:nvSpPr>
        <p:spPr>
          <a:xfrm>
            <a:off x="299356" y="6053226"/>
            <a:ext cx="115932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ea typeface="微軟正黑體" panose="020B0604030504040204" pitchFamily="34" charset="-120"/>
              </a:rPr>
              <a:t>LINK: </a:t>
            </a:r>
            <a:r>
              <a:rPr lang="zh-TW" altLang="en-US" sz="2400" dirty="0">
                <a:ea typeface="微軟正黑體" panose="020B0604030504040204" pitchFamily="34" charset="-120"/>
                <a:hlinkClick r:id="rId6"/>
              </a:rPr>
              <a:t>https://rwepa.blogspot.com/2025/10/anaconda-with-pandas-module.html</a:t>
            </a:r>
            <a:r>
              <a:rPr lang="zh-TW" altLang="en-US" sz="2400" dirty="0">
                <a:ea typeface="微軟正黑體" panose="020B0604030504040204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7825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B5FE669F-B970-4E93-91CC-75F0101E9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714" y="2564904"/>
            <a:ext cx="7590573" cy="204220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標題 4">
            <a:extLst>
              <a:ext uri="{FF2B5EF4-FFF2-40B4-BE49-F238E27FC236}">
                <a16:creationId xmlns:a16="http://schemas.microsoft.com/office/drawing/2014/main" id="{A5B4B79A-6375-4025-B53A-526F3B76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Python </a:t>
            </a:r>
            <a:r>
              <a:rPr lang="zh-TW" altLang="en-US" dirty="0"/>
              <a:t>程式設計</a:t>
            </a:r>
            <a:r>
              <a:rPr lang="en-US" altLang="zh-TW" dirty="0"/>
              <a:t>-</a:t>
            </a:r>
            <a:r>
              <a:rPr lang="zh-TW" altLang="en-US" dirty="0"/>
              <a:t>李明昌 免費電子書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E1EEA81-48CE-4C43-89D8-89CC4B701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12A47-2836-4B6C-9741-462D60D86441}" type="slidenum">
              <a:rPr lang="en-US" altLang="zh-TW" smtClean="0"/>
              <a:pPr/>
              <a:t>25</a:t>
            </a:fld>
            <a:endParaRPr lang="en-US" altLang="zh-TW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CDC9D51-11B4-4257-A2C1-673236D3E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800" dirty="0">
                <a:hlinkClick r:id="rId3"/>
              </a:rPr>
              <a:t>http://rwepa.blogspot.com/2020/02/pythonprogramminglee.html</a:t>
            </a:r>
            <a:endParaRPr lang="en-US" altLang="zh-TW" sz="1800" dirty="0"/>
          </a:p>
          <a:p>
            <a:r>
              <a:rPr lang="en-US" altLang="zh-TW" sz="1800" dirty="0"/>
              <a:t>PDF: </a:t>
            </a:r>
            <a:r>
              <a:rPr lang="en-US" altLang="zh-TW" sz="1800" dirty="0">
                <a:hlinkClick r:id="rId4"/>
              </a:rPr>
              <a:t>https://github.com/rwepa/DataDemo/blob/master/Python_Programming_Lee.pdf</a:t>
            </a:r>
            <a:endParaRPr lang="en-US" altLang="zh-TW" sz="1800" dirty="0"/>
          </a:p>
          <a:p>
            <a:endParaRPr lang="en-US" altLang="zh-TW" sz="1800" dirty="0"/>
          </a:p>
          <a:p>
            <a:endParaRPr lang="zh-TW" altLang="en-US" sz="1800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1BA0884-398B-40A2-B4BD-D0AE8513B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688" y="4725144"/>
            <a:ext cx="4286250" cy="19716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" name="語音泡泡: 圓角矩形 1">
            <a:extLst>
              <a:ext uri="{FF2B5EF4-FFF2-40B4-BE49-F238E27FC236}">
                <a16:creationId xmlns:a16="http://schemas.microsoft.com/office/drawing/2014/main" id="{F7107156-CF58-48A9-FA77-41FE5A1EA636}"/>
              </a:ext>
            </a:extLst>
          </p:cNvPr>
          <p:cNvSpPr/>
          <p:nvPr/>
        </p:nvSpPr>
        <p:spPr>
          <a:xfrm>
            <a:off x="7752184" y="5080729"/>
            <a:ext cx="3816424" cy="864096"/>
          </a:xfrm>
          <a:prstGeom prst="wedgeRoundRectCallout">
            <a:avLst>
              <a:gd name="adj1" fmla="val -53336"/>
              <a:gd name="adj2" fmla="val -15036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Jupyter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Notebook 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完整程式碼</a:t>
            </a:r>
          </a:p>
        </p:txBody>
      </p:sp>
    </p:spTree>
    <p:extLst>
      <p:ext uri="{BB962C8B-B14F-4D97-AF65-F5344CB8AC3E}">
        <p14:creationId xmlns:p14="http://schemas.microsoft.com/office/powerpoint/2010/main" val="34987385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72376" y="1473448"/>
            <a:ext cx="11447248" cy="2387600"/>
          </a:xfrm>
        </p:spPr>
        <p:txBody>
          <a:bodyPr>
            <a:normAutofit/>
          </a:bodyPr>
          <a:lstStyle/>
          <a:p>
            <a:r>
              <a:rPr lang="en-US" altLang="zh-TW" dirty="0"/>
              <a:t>3.CRISP-DM </a:t>
            </a:r>
            <a:r>
              <a:rPr lang="zh-TW" altLang="en-US" dirty="0"/>
              <a:t>簡介</a:t>
            </a:r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AC439177-2AC3-5C37-784D-D4533E176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CDAB44-422E-9288-0F5D-D502F091A4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26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80871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CRISP-DM</a:t>
            </a:r>
          </a:p>
        </p:txBody>
      </p:sp>
      <p:sp>
        <p:nvSpPr>
          <p:cNvPr id="692229" name="Rectangle 5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跨產業資料探勘標準作業流程 </a:t>
            </a:r>
            <a:br>
              <a:rPr lang="en-US" altLang="zh-TW" dirty="0"/>
            </a:br>
            <a:r>
              <a:rPr lang="en-US" altLang="zh-TW" dirty="0"/>
              <a:t>(</a:t>
            </a:r>
            <a:r>
              <a:rPr lang="en-US" altLang="zh-TW" dirty="0" err="1"/>
              <a:t>CRoss</a:t>
            </a:r>
            <a:r>
              <a:rPr lang="en-US" altLang="zh-TW" dirty="0"/>
              <a:t> Industry Standard Process for Data Mining)</a:t>
            </a:r>
          </a:p>
          <a:p>
            <a:r>
              <a:rPr lang="en-US" altLang="zh-TW" dirty="0"/>
              <a:t>CRISP-DM</a:t>
            </a:r>
            <a:r>
              <a:rPr lang="zh-TW" altLang="en-US" dirty="0"/>
              <a:t>是於</a:t>
            </a:r>
            <a:r>
              <a:rPr lang="en-US" altLang="zh-TW" dirty="0"/>
              <a:t>1990</a:t>
            </a:r>
            <a:r>
              <a:rPr lang="zh-TW" altLang="en-US" dirty="0"/>
              <a:t>年起，由</a:t>
            </a:r>
            <a:r>
              <a:rPr lang="en-US" altLang="zh-TW" dirty="0"/>
              <a:t>SPSS</a:t>
            </a:r>
            <a:r>
              <a:rPr lang="zh-TW" altLang="en-US" dirty="0"/>
              <a:t>以及</a:t>
            </a:r>
            <a:r>
              <a:rPr lang="en-US" altLang="zh-TW" dirty="0"/>
              <a:t>NCR</a:t>
            </a:r>
            <a:r>
              <a:rPr lang="zh-TW" altLang="en-US" dirty="0"/>
              <a:t>兩大廠商在合作戴姆克萊斯勒</a:t>
            </a:r>
            <a:r>
              <a:rPr lang="en-US" altLang="zh-TW" dirty="0"/>
              <a:t>-</a:t>
            </a:r>
            <a:r>
              <a:rPr lang="zh-TW" altLang="en-US" dirty="0"/>
              <a:t>賓士</a:t>
            </a:r>
            <a:r>
              <a:rPr lang="en-US" altLang="zh-TW" dirty="0"/>
              <a:t>(Daimler Benz)</a:t>
            </a:r>
            <a:r>
              <a:rPr lang="zh-TW" altLang="en-US" dirty="0"/>
              <a:t>的資料倉儲以及資料探勘過程中發展出來的。</a:t>
            </a:r>
            <a:endParaRPr lang="en-US" altLang="zh-TW" dirty="0"/>
          </a:p>
          <a:p>
            <a:r>
              <a:rPr lang="en-US" altLang="zh-TW" dirty="0"/>
              <a:t>CRISP-DM</a:t>
            </a:r>
            <a:r>
              <a:rPr lang="zh-TW" altLang="en-US" dirty="0"/>
              <a:t>是目前資料科學、數據分析與機器學習領域中最廣泛採用的專案實務架構。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8290F4F-9C46-1B90-8DB0-E2FA971A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0412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CRISP-DM </a:t>
            </a:r>
            <a:r>
              <a:rPr lang="zh-TW" altLang="en-US" dirty="0"/>
              <a:t>資料探勘流程</a:t>
            </a:r>
            <a:r>
              <a:rPr lang="en-US" altLang="zh-TW" dirty="0"/>
              <a:t>(</a:t>
            </a:r>
            <a:r>
              <a:rPr lang="zh-TW" altLang="en-US" dirty="0"/>
              <a:t>續</a:t>
            </a:r>
            <a:r>
              <a:rPr lang="en-US" altLang="zh-TW" dirty="0"/>
              <a:t>)</a:t>
            </a:r>
          </a:p>
        </p:txBody>
      </p:sp>
      <p:sp>
        <p:nvSpPr>
          <p:cNvPr id="698375" name="Rectangle 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步驟 </a:t>
            </a:r>
            <a:r>
              <a:rPr lang="en-US" altLang="zh-TW" dirty="0"/>
              <a:t>1</a:t>
            </a:r>
            <a:r>
              <a:rPr lang="zh-TW" altLang="en-US" dirty="0"/>
              <a:t>：商業理解</a:t>
            </a:r>
          </a:p>
          <a:p>
            <a:r>
              <a:rPr lang="zh-TW" altLang="en-US" dirty="0"/>
              <a:t>步驟 </a:t>
            </a:r>
            <a:r>
              <a:rPr lang="en-US" altLang="zh-TW" dirty="0"/>
              <a:t>2</a:t>
            </a:r>
            <a:r>
              <a:rPr lang="zh-TW" altLang="en-US" dirty="0"/>
              <a:t>：資料理解 </a:t>
            </a:r>
          </a:p>
          <a:p>
            <a:r>
              <a:rPr lang="zh-TW" altLang="en-US" dirty="0"/>
              <a:t>步驟 </a:t>
            </a:r>
            <a:r>
              <a:rPr lang="en-US" altLang="zh-TW" dirty="0"/>
              <a:t>3</a:t>
            </a:r>
            <a:r>
              <a:rPr lang="zh-TW" altLang="en-US" dirty="0"/>
              <a:t>：資料準備</a:t>
            </a:r>
            <a:endParaRPr lang="en-US" altLang="zh-TW" dirty="0"/>
          </a:p>
          <a:p>
            <a:r>
              <a:rPr lang="zh-TW" altLang="en-US" dirty="0"/>
              <a:t>步驟 </a:t>
            </a:r>
            <a:r>
              <a:rPr lang="en-US" altLang="zh-TW" dirty="0"/>
              <a:t>4</a:t>
            </a:r>
            <a:r>
              <a:rPr lang="zh-TW" altLang="en-US" dirty="0"/>
              <a:t>：模式建立</a:t>
            </a:r>
            <a:r>
              <a:rPr lang="en-US" altLang="zh-TW" dirty="0"/>
              <a:t>(</a:t>
            </a:r>
            <a:r>
              <a:rPr lang="zh-TW" altLang="en-US" dirty="0"/>
              <a:t>分析、視覺化、建立模型</a:t>
            </a:r>
            <a:r>
              <a:rPr lang="en-US" altLang="zh-TW" dirty="0"/>
              <a:t>)</a:t>
            </a:r>
            <a:endParaRPr lang="zh-TW" altLang="en-US" dirty="0"/>
          </a:p>
          <a:p>
            <a:r>
              <a:rPr lang="zh-TW" altLang="en-US" dirty="0"/>
              <a:t>步驟 </a:t>
            </a:r>
            <a:r>
              <a:rPr lang="en-US" altLang="zh-TW" dirty="0"/>
              <a:t>5</a:t>
            </a:r>
            <a:r>
              <a:rPr lang="zh-TW" altLang="en-US" dirty="0"/>
              <a:t>：評估與測試</a:t>
            </a:r>
          </a:p>
          <a:p>
            <a:r>
              <a:rPr lang="zh-TW" altLang="en-US" dirty="0"/>
              <a:t>步驟 </a:t>
            </a:r>
            <a:r>
              <a:rPr lang="en-US" altLang="zh-TW" dirty="0"/>
              <a:t>6</a:t>
            </a:r>
            <a:r>
              <a:rPr lang="zh-TW" altLang="en-US" dirty="0"/>
              <a:t>：佈署應用</a:t>
            </a:r>
          </a:p>
        </p:txBody>
      </p:sp>
      <p:sp>
        <p:nvSpPr>
          <p:cNvPr id="698373" name="TextBox 4"/>
          <p:cNvSpPr txBox="1">
            <a:spLocks noChangeArrowheads="1"/>
          </p:cNvSpPr>
          <p:nvPr/>
        </p:nvSpPr>
        <p:spPr bwMode="auto">
          <a:xfrm>
            <a:off x="4367599" y="2083705"/>
            <a:ext cx="3456802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佔整專案時間的</a:t>
            </a:r>
            <a:r>
              <a:rPr kumimoji="0" lang="en-US" altLang="zh-TW" sz="2200" b="1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~80%</a:t>
            </a:r>
          </a:p>
        </p:txBody>
      </p:sp>
      <p:sp>
        <p:nvSpPr>
          <p:cNvPr id="9" name="圓角矩形圖說文字 8"/>
          <p:cNvSpPr/>
          <p:nvPr/>
        </p:nvSpPr>
        <p:spPr>
          <a:xfrm>
            <a:off x="4378621" y="3754689"/>
            <a:ext cx="6840760" cy="2376264"/>
          </a:xfrm>
          <a:prstGeom prst="cloudCallout">
            <a:avLst>
              <a:gd name="adj1" fmla="val -21962"/>
              <a:gd name="adj2" fmla="val -20880"/>
            </a:avLst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步驟</a:t>
            </a:r>
            <a:r>
              <a:rPr kumimoji="0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 </a:t>
            </a: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資料準備包括將資料隨機區分為</a:t>
            </a:r>
            <a:r>
              <a:rPr kumimoji="0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訓練資料 </a:t>
            </a:r>
            <a:r>
              <a:rPr kumimoji="0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70</a:t>
            </a: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</a:t>
            </a:r>
            <a:endParaRPr kumimoji="0" lang="en-US" altLang="zh-TW" sz="2000" b="1" dirty="0">
              <a:solidFill>
                <a:srgbClr val="00206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測試資料 </a:t>
            </a:r>
            <a:r>
              <a:rPr kumimoji="0" lang="en-US" altLang="zh-TW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kumimoji="0" lang="zh-TW" altLang="en-US" sz="2000" b="1" dirty="0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4DC445-ECE3-45F5-A920-026D1172993A}"/>
              </a:ext>
            </a:extLst>
          </p:cNvPr>
          <p:cNvSpPr/>
          <p:nvPr/>
        </p:nvSpPr>
        <p:spPr>
          <a:xfrm>
            <a:off x="335360" y="1297143"/>
            <a:ext cx="4320480" cy="17190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/>
              </a:solidFill>
              <a:latin typeface="Times New Roman"/>
              <a:ea typeface="新細明體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85BABBD-A518-7F5A-4432-C5E20E59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28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466581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商業理解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340768"/>
            <a:ext cx="10515600" cy="5055576"/>
          </a:xfrm>
        </p:spPr>
        <p:txBody>
          <a:bodyPr>
            <a:normAutofit/>
          </a:bodyPr>
          <a:lstStyle/>
          <a:p>
            <a:pPr algn="just"/>
            <a:r>
              <a:rPr lang="zh-TW" altLang="en-US" dirty="0"/>
              <a:t>終極目標是要解決具體的企業問題，諸如提高購買率、找出詐欺交易、銷售預測與異常</a:t>
            </a:r>
            <a:r>
              <a:rPr lang="zh-TW" altLang="en-US"/>
              <a:t>偵測等。以</a:t>
            </a:r>
            <a:r>
              <a:rPr lang="zh-TW" altLang="en-US" dirty="0"/>
              <a:t>專業知識 </a:t>
            </a:r>
            <a:r>
              <a:rPr lang="en-US" altLang="zh-TW" dirty="0"/>
              <a:t>(domain knowledge)</a:t>
            </a:r>
            <a:r>
              <a:rPr lang="zh-TW" altLang="en-US" dirty="0"/>
              <a:t>進行商業理解是重要的第一步，處理重點：</a:t>
            </a:r>
            <a:endParaRPr lang="en-US" altLang="zh-TW" dirty="0"/>
          </a:p>
          <a:p>
            <a:pPr lvl="1"/>
            <a:r>
              <a:rPr lang="zh-TW" altLang="en-US" dirty="0"/>
              <a:t>擬定商業目標</a:t>
            </a:r>
            <a:endParaRPr lang="en-US" altLang="zh-TW" dirty="0"/>
          </a:p>
          <a:p>
            <a:pPr lvl="1"/>
            <a:r>
              <a:rPr lang="zh-TW" altLang="en-US" dirty="0"/>
              <a:t>進行當前處境評估</a:t>
            </a:r>
            <a:endParaRPr lang="en-US" altLang="zh-TW" dirty="0"/>
          </a:p>
          <a:p>
            <a:pPr lvl="1"/>
            <a:r>
              <a:rPr lang="zh-TW" altLang="en-US" dirty="0"/>
              <a:t>決定資料探勘目標</a:t>
            </a:r>
            <a:r>
              <a:rPr lang="en-US" altLang="zh-TW" dirty="0"/>
              <a:t>/</a:t>
            </a:r>
            <a:r>
              <a:rPr lang="zh-TW" altLang="en-US" dirty="0"/>
              <a:t>成本</a:t>
            </a:r>
            <a:endParaRPr lang="en-US" altLang="zh-TW" dirty="0"/>
          </a:p>
          <a:p>
            <a:pPr lvl="1"/>
            <a:r>
              <a:rPr lang="zh-TW" altLang="en-US" dirty="0"/>
              <a:t>產生專案計劃</a:t>
            </a:r>
            <a:endParaRPr lang="en-US" altLang="zh-TW" dirty="0"/>
          </a:p>
          <a:p>
            <a:pPr lvl="1"/>
            <a:r>
              <a:rPr lang="zh-TW" altLang="en-US" dirty="0"/>
              <a:t>解決顧客問題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思考獲利</a:t>
            </a:r>
            <a:r>
              <a:rPr lang="en-US" altLang="zh-TW" dirty="0">
                <a:solidFill>
                  <a:srgbClr val="C00000"/>
                </a:solidFill>
              </a:rPr>
              <a:t>,</a:t>
            </a:r>
            <a:r>
              <a:rPr lang="zh-TW" altLang="en-US" dirty="0">
                <a:solidFill>
                  <a:srgbClr val="C00000"/>
                </a:solidFill>
              </a:rPr>
              <a:t>成本</a:t>
            </a:r>
            <a:r>
              <a:rPr lang="en-US" altLang="zh-TW" dirty="0">
                <a:solidFill>
                  <a:srgbClr val="C00000"/>
                </a:solidFill>
              </a:rPr>
              <a:t>,</a:t>
            </a:r>
            <a:r>
              <a:rPr lang="zh-TW" altLang="en-US" dirty="0">
                <a:solidFill>
                  <a:srgbClr val="C00000"/>
                </a:solidFill>
              </a:rPr>
              <a:t>保養服務</a:t>
            </a:r>
            <a:endParaRPr lang="en-US" altLang="zh-TW" dirty="0">
              <a:solidFill>
                <a:srgbClr val="C00000"/>
              </a:solidFill>
            </a:endParaRPr>
          </a:p>
        </p:txBody>
      </p:sp>
      <p:pic>
        <p:nvPicPr>
          <p:cNvPr id="1028" name="Picture 4" descr="「covid-19」的圖片搜尋結果">
            <a:extLst>
              <a:ext uri="{FF2B5EF4-FFF2-40B4-BE49-F238E27FC236}">
                <a16:creationId xmlns:a16="http://schemas.microsoft.com/office/drawing/2014/main" id="{28AAEB3B-5E04-4D2E-883F-924483C88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024" y="3789844"/>
            <a:ext cx="2867811" cy="215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630256E-80AD-4F19-8583-71FCF5C9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29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17376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2.</a:t>
            </a:r>
            <a:r>
              <a:rPr lang="zh-TW" altLang="en-US" dirty="0"/>
              <a:t>資料理解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包括描述資料、探索資料、核驗資料品質</a:t>
            </a:r>
            <a:r>
              <a:rPr lang="en-US" dirty="0"/>
              <a:t> </a:t>
            </a:r>
            <a:endParaRPr lang="en-US" altLang="zh-TW" dirty="0"/>
          </a:p>
          <a:p>
            <a:r>
              <a:rPr lang="zh-TW" altLang="en-US" dirty="0"/>
              <a:t>敘述統計分析</a:t>
            </a:r>
            <a:endParaRPr lang="en-US" altLang="zh-TW" dirty="0"/>
          </a:p>
          <a:p>
            <a:pPr lvl="1"/>
            <a:r>
              <a:rPr lang="zh-TW" altLang="en-US" dirty="0"/>
              <a:t>六力分析</a:t>
            </a:r>
            <a:r>
              <a:rPr lang="en-US" altLang="zh-TW" dirty="0"/>
              <a:t>(Python: </a:t>
            </a:r>
            <a:r>
              <a:rPr lang="en-US" altLang="zh-TW" dirty="0" err="1"/>
              <a:t>pandas.describe</a:t>
            </a:r>
            <a:r>
              <a:rPr lang="en-US" altLang="zh-TW" dirty="0"/>
              <a:t> </a:t>
            </a:r>
            <a:r>
              <a:rPr lang="zh-TW" altLang="en-US" dirty="0"/>
              <a:t>函數</a:t>
            </a:r>
            <a:r>
              <a:rPr lang="en-US" altLang="zh-TW" dirty="0"/>
              <a:t>, R: summary</a:t>
            </a:r>
            <a:r>
              <a:rPr lang="zh-TW" altLang="en-US" dirty="0"/>
              <a:t>函數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繪圖</a:t>
            </a: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依群組特性</a:t>
            </a: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依時間特性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新增評估欄位</a:t>
            </a:r>
            <a:endParaRPr lang="en-US" altLang="zh-TW" dirty="0">
              <a:solidFill>
                <a:srgbClr val="FF0000"/>
              </a:solidFill>
            </a:endParaRPr>
          </a:p>
          <a:p>
            <a:pPr lvl="1"/>
            <a:r>
              <a:rPr lang="zh-TW" altLang="en-US" dirty="0"/>
              <a:t>趨勢</a:t>
            </a:r>
            <a:endParaRPr lang="en-US" altLang="zh-TW" dirty="0"/>
          </a:p>
          <a:p>
            <a:pPr lvl="1"/>
            <a:r>
              <a:rPr lang="zh-TW" altLang="en-US" dirty="0"/>
              <a:t>離群值 </a:t>
            </a:r>
            <a:r>
              <a:rPr lang="en-US" altLang="zh-TW" dirty="0"/>
              <a:t>(outlier)</a:t>
            </a:r>
          </a:p>
          <a:p>
            <a:pPr lvl="1"/>
            <a:r>
              <a:rPr lang="zh-TW" altLang="en-US" dirty="0"/>
              <a:t>散佈圖、散佈圖矩陣</a:t>
            </a:r>
            <a:endParaRPr lang="en-US" altLang="zh-TW" dirty="0"/>
          </a:p>
          <a:p>
            <a:pPr lvl="1"/>
            <a:r>
              <a:rPr lang="zh-TW" altLang="en-US" dirty="0"/>
              <a:t>盒鬚圖</a:t>
            </a:r>
          </a:p>
        </p:txBody>
      </p:sp>
      <p:sp>
        <p:nvSpPr>
          <p:cNvPr id="4" name="流程圖: 程序 3"/>
          <p:cNvSpPr/>
          <p:nvPr/>
        </p:nvSpPr>
        <p:spPr>
          <a:xfrm>
            <a:off x="1199456" y="3149025"/>
            <a:ext cx="2664296" cy="1224136"/>
          </a:xfrm>
          <a:prstGeom prst="flowChartProcess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2400" b="1" dirty="0">
              <a:solidFill>
                <a:srgbClr val="002060"/>
              </a:solidFill>
              <a:latin typeface="Times New Roman" panose="02020603050405020304" pitchFamily="18" charset="0"/>
              <a:ea typeface="微軟正黑體" panose="020B0604030504040204" pitchFamily="34" charset="-12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E7FB77-57CB-43B6-8B47-3198A8747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34949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/>
              <a:t>3.</a:t>
            </a:r>
            <a:r>
              <a:rPr lang="zh-TW" altLang="en-US" dirty="0"/>
              <a:t>資料準備 </a:t>
            </a:r>
            <a:endParaRPr lang="en-US" altLang="zh-TW" dirty="0"/>
          </a:p>
        </p:txBody>
      </p:sp>
      <p:grpSp>
        <p:nvGrpSpPr>
          <p:cNvPr id="44" name="群組 43">
            <a:extLst>
              <a:ext uri="{FF2B5EF4-FFF2-40B4-BE49-F238E27FC236}">
                <a16:creationId xmlns:a16="http://schemas.microsoft.com/office/drawing/2014/main" id="{87904BB0-2BAD-4827-B286-F01CDFE1F558}"/>
              </a:ext>
            </a:extLst>
          </p:cNvPr>
          <p:cNvGrpSpPr/>
          <p:nvPr/>
        </p:nvGrpSpPr>
        <p:grpSpPr>
          <a:xfrm>
            <a:off x="4374695" y="502996"/>
            <a:ext cx="3442610" cy="6262809"/>
            <a:chOff x="7736176" y="502996"/>
            <a:chExt cx="3442610" cy="6262809"/>
          </a:xfrm>
        </p:grpSpPr>
        <p:sp>
          <p:nvSpPr>
            <p:cNvPr id="6" name="矩形 5"/>
            <p:cNvSpPr/>
            <p:nvPr/>
          </p:nvSpPr>
          <p:spPr bwMode="auto">
            <a:xfrm>
              <a:off x="7876980" y="4037187"/>
              <a:ext cx="1152128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hangingPunct="0"/>
              <a:endParaRPr kumimoji="0" lang="zh-TW" altLang="en-US" dirty="0">
                <a:latin typeface="Times New Roman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10" name="流程圖: 文件 9">
              <a:extLst>
                <a:ext uri="{FF2B5EF4-FFF2-40B4-BE49-F238E27FC236}">
                  <a16:creationId xmlns:a16="http://schemas.microsoft.com/office/drawing/2014/main" id="{57B1CCAD-D1EC-49A3-81F7-CA600A4B0B7B}"/>
                </a:ext>
              </a:extLst>
            </p:cNvPr>
            <p:cNvSpPr/>
            <p:nvPr/>
          </p:nvSpPr>
          <p:spPr>
            <a:xfrm>
              <a:off x="7809840" y="3880066"/>
              <a:ext cx="1286408" cy="648072"/>
            </a:xfrm>
            <a:prstGeom prst="flowChartDocumen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rPr>
                <a:t>資料轉換</a:t>
              </a:r>
            </a:p>
          </p:txBody>
        </p:sp>
        <p:sp>
          <p:nvSpPr>
            <p:cNvPr id="11" name="矩形: 圓角 10">
              <a:extLst>
                <a:ext uri="{FF2B5EF4-FFF2-40B4-BE49-F238E27FC236}">
                  <a16:creationId xmlns:a16="http://schemas.microsoft.com/office/drawing/2014/main" id="{79E78294-8776-442C-8775-9DFF46448F8E}"/>
                </a:ext>
              </a:extLst>
            </p:cNvPr>
            <p:cNvSpPr/>
            <p:nvPr/>
          </p:nvSpPr>
          <p:spPr>
            <a:xfrm>
              <a:off x="7809841" y="2894835"/>
              <a:ext cx="1286407" cy="74935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rPr>
                <a:t>資料清理</a:t>
              </a:r>
            </a:p>
          </p:txBody>
        </p:sp>
        <p:sp>
          <p:nvSpPr>
            <p:cNvPr id="19" name="流程圖: 抽選 18">
              <a:extLst>
                <a:ext uri="{FF2B5EF4-FFF2-40B4-BE49-F238E27FC236}">
                  <a16:creationId xmlns:a16="http://schemas.microsoft.com/office/drawing/2014/main" id="{58003E5A-35F8-4B5F-B1A0-0BB0F53F188B}"/>
                </a:ext>
              </a:extLst>
            </p:cNvPr>
            <p:cNvSpPr/>
            <p:nvPr/>
          </p:nvSpPr>
          <p:spPr>
            <a:xfrm>
              <a:off x="7809840" y="1844370"/>
              <a:ext cx="1286408" cy="814591"/>
            </a:xfrm>
            <a:prstGeom prst="flowChartExtract">
              <a:avLst/>
            </a:prstGeom>
            <a:solidFill>
              <a:srgbClr val="FFCC00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rPr>
                <a:t>資料整合</a:t>
              </a:r>
              <a:endParaRPr lang="en-US" altLang="zh-TW" b="1" dirty="0">
                <a:solidFill>
                  <a:srgbClr val="00206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  <a:p>
              <a:pPr algn="ctr"/>
              <a:endParaRPr lang="zh-TW" altLang="en-US" b="1" dirty="0">
                <a:solidFill>
                  <a:srgbClr val="002060"/>
                </a:solidFill>
                <a:latin typeface="Times New Roman" panose="02020603050405020304" pitchFamily="18" charset="0"/>
                <a:ea typeface="微軟正黑體" panose="020B0604030504040204" pitchFamily="34" charset="-120"/>
              </a:endParaRPr>
            </a:p>
          </p:txBody>
        </p:sp>
        <p:sp>
          <p:nvSpPr>
            <p:cNvPr id="20" name="流程圖: 人工作業 19">
              <a:extLst>
                <a:ext uri="{FF2B5EF4-FFF2-40B4-BE49-F238E27FC236}">
                  <a16:creationId xmlns:a16="http://schemas.microsoft.com/office/drawing/2014/main" id="{A2C2237A-1684-473C-BBC1-721D6891E986}"/>
                </a:ext>
              </a:extLst>
            </p:cNvPr>
            <p:cNvSpPr/>
            <p:nvPr/>
          </p:nvSpPr>
          <p:spPr>
            <a:xfrm>
              <a:off x="7850848" y="4734810"/>
              <a:ext cx="1204392" cy="648072"/>
            </a:xfrm>
            <a:prstGeom prst="flowChartManualOperation">
              <a:avLst/>
            </a:prstGeom>
            <a:solidFill>
              <a:srgbClr val="FF99FF"/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zh-TW" altLang="en-US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rPr>
                <a:t>資料減少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B1E4971-E78E-4FE8-8480-37EEEC2F53B8}"/>
                </a:ext>
              </a:extLst>
            </p:cNvPr>
            <p:cNvSpPr txBox="1"/>
            <p:nvPr/>
          </p:nvSpPr>
          <p:spPr>
            <a:xfrm>
              <a:off x="9522602" y="1798762"/>
              <a:ext cx="1656184" cy="830997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蒐集資料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選擇資料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整合資料</a:t>
              </a: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D9384B49-EB14-48BE-9252-4B3BF2C94EFE}"/>
                </a:ext>
              </a:extLst>
            </p:cNvPr>
            <p:cNvSpPr txBox="1"/>
            <p:nvPr/>
          </p:nvSpPr>
          <p:spPr>
            <a:xfrm>
              <a:off x="9522602" y="2767416"/>
              <a:ext cx="1656184" cy="830997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遺漏值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消除不一致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雜訊處理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7661F001-242F-4DC1-B773-F268F908D95B}"/>
                </a:ext>
              </a:extLst>
            </p:cNvPr>
            <p:cNvSpPr txBox="1"/>
            <p:nvPr/>
          </p:nvSpPr>
          <p:spPr>
            <a:xfrm>
              <a:off x="9522602" y="3736070"/>
              <a:ext cx="1656184" cy="83099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標準化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轉換離散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建立欄位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A44DD465-FF65-42DB-B91A-70AD7BE80125}"/>
                </a:ext>
              </a:extLst>
            </p:cNvPr>
            <p:cNvSpPr txBox="1"/>
            <p:nvPr/>
          </p:nvSpPr>
          <p:spPr>
            <a:xfrm>
              <a:off x="9522602" y="4704725"/>
              <a:ext cx="1656184" cy="830997"/>
            </a:xfrm>
            <a:prstGeom prst="rect">
              <a:avLst/>
            </a:prstGeom>
            <a:solidFill>
              <a:srgbClr val="FF99FF"/>
            </a:solidFill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減少列數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減少變數</a:t>
              </a:r>
              <a:endParaRPr lang="en-US" altLang="zh-TW" sz="1600" dirty="0">
                <a:ea typeface="微軟正黑體" panose="020B0604030504040204" pitchFamily="34" charset="-120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zh-TW" altLang="en-US" sz="1600" dirty="0">
                  <a:ea typeface="微軟正黑體" panose="020B0604030504040204" pitchFamily="34" charset="-120"/>
                </a:rPr>
                <a:t>偏斜資料</a:t>
              </a:r>
            </a:p>
          </p:txBody>
        </p:sp>
        <p:grpSp>
          <p:nvGrpSpPr>
            <p:cNvPr id="33" name="群組 32">
              <a:extLst>
                <a:ext uri="{FF2B5EF4-FFF2-40B4-BE49-F238E27FC236}">
                  <a16:creationId xmlns:a16="http://schemas.microsoft.com/office/drawing/2014/main" id="{BD8F9136-0746-4F0A-A124-F5CBD815274A}"/>
                </a:ext>
              </a:extLst>
            </p:cNvPr>
            <p:cNvGrpSpPr/>
            <p:nvPr/>
          </p:nvGrpSpPr>
          <p:grpSpPr>
            <a:xfrm>
              <a:off x="7850848" y="5618755"/>
              <a:ext cx="1204392" cy="1147050"/>
              <a:chOff x="7858286" y="5618755"/>
              <a:chExt cx="1204392" cy="1147050"/>
            </a:xfrm>
          </p:grpSpPr>
          <p:sp>
            <p:nvSpPr>
              <p:cNvPr id="21" name="流程圖: 磁碟 20">
                <a:extLst>
                  <a:ext uri="{FF2B5EF4-FFF2-40B4-BE49-F238E27FC236}">
                    <a16:creationId xmlns:a16="http://schemas.microsoft.com/office/drawing/2014/main" id="{538577E7-C201-4679-BD14-0C8ECAC08CEC}"/>
                  </a:ext>
                </a:extLst>
              </p:cNvPr>
              <p:cNvSpPr/>
              <p:nvPr/>
            </p:nvSpPr>
            <p:spPr>
              <a:xfrm>
                <a:off x="7858286" y="5618755"/>
                <a:ext cx="1204392" cy="814590"/>
              </a:xfrm>
              <a:prstGeom prst="flowChartMagneticDisk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02E2E51-072A-497D-9498-3374EDAA917D}"/>
                  </a:ext>
                </a:extLst>
              </p:cNvPr>
              <p:cNvSpPr txBox="1"/>
              <p:nvPr/>
            </p:nvSpPr>
            <p:spPr>
              <a:xfrm>
                <a:off x="8038072" y="5842475"/>
                <a:ext cx="94749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微軟正黑體" panose="020B0604030504040204" pitchFamily="34" charset="-120"/>
                  </a:rPr>
                  <a:t>資料準備完成</a:t>
                </a:r>
              </a:p>
              <a:p>
                <a:endParaRPr lang="zh-TW" altLang="en-US" dirty="0"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04289A07-3223-4EAA-9039-D83F483B43D5}"/>
                </a:ext>
              </a:extLst>
            </p:cNvPr>
            <p:cNvGrpSpPr/>
            <p:nvPr/>
          </p:nvGrpSpPr>
          <p:grpSpPr>
            <a:xfrm>
              <a:off x="7736176" y="502996"/>
              <a:ext cx="1433736" cy="1053796"/>
              <a:chOff x="7736176" y="614668"/>
              <a:chExt cx="1433736" cy="1053796"/>
            </a:xfrm>
          </p:grpSpPr>
          <p:pic>
            <p:nvPicPr>
              <p:cNvPr id="30" name="圖片 29">
                <a:extLst>
                  <a:ext uri="{FF2B5EF4-FFF2-40B4-BE49-F238E27FC236}">
                    <a16:creationId xmlns:a16="http://schemas.microsoft.com/office/drawing/2014/main" id="{1B68F5C7-44B8-4EFA-B687-F087425BA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837473B0-CC2E-450A-ABE3-18F120FF3D39}">
                    <a1611:picAttrSrcUrl xmlns:a1611="http://schemas.microsoft.com/office/drawing/2016/11/main" r:id="rId4"/>
                  </a:ext>
                </a:extLst>
              </a:blip>
              <a:stretch>
                <a:fillRect/>
              </a:stretch>
            </p:blipFill>
            <p:spPr>
              <a:xfrm>
                <a:off x="7736176" y="614668"/>
                <a:ext cx="1433736" cy="1053796"/>
              </a:xfrm>
              <a:prstGeom prst="rect">
                <a:avLst/>
              </a:prstGeom>
            </p:spPr>
          </p:pic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E191575B-A9B1-4EA1-ADAB-DED110619674}"/>
                  </a:ext>
                </a:extLst>
              </p:cNvPr>
              <p:cNvSpPr txBox="1"/>
              <p:nvPr/>
            </p:nvSpPr>
            <p:spPr>
              <a:xfrm>
                <a:off x="7986736" y="827039"/>
                <a:ext cx="9474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微軟正黑體" panose="020B0604030504040204" pitchFamily="34" charset="-120"/>
                  </a:rPr>
                  <a:t>實務</a:t>
                </a:r>
                <a:endParaRPr lang="en-US" altLang="zh-TW" b="1" dirty="0">
                  <a:solidFill>
                    <a:srgbClr val="00206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</a:endParaRPr>
              </a:p>
              <a:p>
                <a:pPr algn="ctr"/>
                <a:r>
                  <a:rPr lang="zh-TW" altLang="en-US" b="1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微軟正黑體" panose="020B0604030504040204" pitchFamily="34" charset="-120"/>
                  </a:rPr>
                  <a:t>資料</a:t>
                </a:r>
                <a:endParaRPr lang="zh-TW" altLang="en-US" dirty="0">
                  <a:ea typeface="微軟正黑體" panose="020B0604030504040204" pitchFamily="34" charset="-120"/>
                </a:endParaRPr>
              </a:p>
            </p:txBody>
          </p:sp>
        </p:grp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54F1BD47-78C2-4A2C-9E3D-46F87DCE0455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1550100"/>
              <a:ext cx="0" cy="287578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70FC27BA-95E0-4CF8-A454-A5C110F26FF1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2667392"/>
              <a:ext cx="0" cy="2160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單箭頭接點 40">
              <a:extLst>
                <a:ext uri="{FF2B5EF4-FFF2-40B4-BE49-F238E27FC236}">
                  <a16:creationId xmlns:a16="http://schemas.microsoft.com/office/drawing/2014/main" id="{F4C75D73-C925-4AB8-BFC5-B7E04FA73A89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3645024"/>
              <a:ext cx="0" cy="2160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單箭頭接點 41">
              <a:extLst>
                <a:ext uri="{FF2B5EF4-FFF2-40B4-BE49-F238E27FC236}">
                  <a16:creationId xmlns:a16="http://schemas.microsoft.com/office/drawing/2014/main" id="{1A708097-9795-402D-A6E3-51D52356F245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4503904"/>
              <a:ext cx="0" cy="2160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單箭頭接點 42">
              <a:extLst>
                <a:ext uri="{FF2B5EF4-FFF2-40B4-BE49-F238E27FC236}">
                  <a16:creationId xmlns:a16="http://schemas.microsoft.com/office/drawing/2014/main" id="{A1464E4E-4361-4229-83C7-64D26E91892F}"/>
                </a:ext>
              </a:extLst>
            </p:cNvPr>
            <p:cNvCxnSpPr>
              <a:cxnSpLocks/>
            </p:cNvCxnSpPr>
            <p:nvPr/>
          </p:nvCxnSpPr>
          <p:spPr>
            <a:xfrm>
              <a:off x="8472264" y="5405561"/>
              <a:ext cx="0" cy="21600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2EA5487A-4C50-4492-BBEC-C4E423967849}"/>
                </a:ext>
              </a:extLst>
            </p:cNvPr>
            <p:cNvCxnSpPr>
              <a:cxnSpLocks/>
            </p:cNvCxnSpPr>
            <p:nvPr/>
          </p:nvCxnSpPr>
          <p:spPr>
            <a:xfrm>
              <a:off x="8934228" y="2214260"/>
              <a:ext cx="588374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1B2F7EC2-C3A0-4672-BFDD-5930485D00B1}"/>
                </a:ext>
              </a:extLst>
            </p:cNvPr>
            <p:cNvCxnSpPr>
              <a:cxnSpLocks/>
            </p:cNvCxnSpPr>
            <p:nvPr/>
          </p:nvCxnSpPr>
          <p:spPr>
            <a:xfrm>
              <a:off x="9156384" y="3285042"/>
              <a:ext cx="396000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接點 46">
              <a:extLst>
                <a:ext uri="{FF2B5EF4-FFF2-40B4-BE49-F238E27FC236}">
                  <a16:creationId xmlns:a16="http://schemas.microsoft.com/office/drawing/2014/main" id="{6EB8C765-E2E5-4ACD-AD9E-E135E91E831F}"/>
                </a:ext>
              </a:extLst>
            </p:cNvPr>
            <p:cNvCxnSpPr>
              <a:cxnSpLocks/>
            </p:cNvCxnSpPr>
            <p:nvPr/>
          </p:nvCxnSpPr>
          <p:spPr>
            <a:xfrm>
              <a:off x="9156384" y="4163251"/>
              <a:ext cx="396000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8BC55C06-E774-4D1C-B816-005B4DACCE1A}"/>
                </a:ext>
              </a:extLst>
            </p:cNvPr>
            <p:cNvCxnSpPr>
              <a:cxnSpLocks/>
            </p:cNvCxnSpPr>
            <p:nvPr/>
          </p:nvCxnSpPr>
          <p:spPr>
            <a:xfrm>
              <a:off x="9012384" y="5120222"/>
              <a:ext cx="540000" cy="1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E0DB818-8D0F-42BB-99E4-84B05102C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31</a:t>
            </a:fld>
            <a:endParaRPr lang="en-US" altLang="zh-TW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818EF75-8346-9219-20E4-9B1DBC119DB4}"/>
              </a:ext>
            </a:extLst>
          </p:cNvPr>
          <p:cNvSpPr txBox="1"/>
          <p:nvPr/>
        </p:nvSpPr>
        <p:spPr>
          <a:xfrm>
            <a:off x="6161121" y="5733256"/>
            <a:ext cx="1656184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1600" dirty="0">
                <a:ea typeface="微軟正黑體" panose="020B0604030504040204" pitchFamily="34" charset="-120"/>
              </a:rPr>
              <a:t>建立訓練集、測試集</a:t>
            </a:r>
          </a:p>
        </p:txBody>
      </p: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B3CF3F24-E7C4-8D76-1E9A-F6772827F737}"/>
              </a:ext>
            </a:extLst>
          </p:cNvPr>
          <p:cNvCxnSpPr>
            <a:cxnSpLocks/>
          </p:cNvCxnSpPr>
          <p:nvPr/>
        </p:nvCxnSpPr>
        <p:spPr>
          <a:xfrm>
            <a:off x="5663952" y="6127805"/>
            <a:ext cx="504000" cy="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09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4.</a:t>
            </a:r>
            <a:r>
              <a:rPr lang="zh-TW" altLang="en-US" dirty="0"/>
              <a:t>模型建立、</a:t>
            </a:r>
            <a:r>
              <a:rPr lang="en-US" altLang="zh-TW" dirty="0"/>
              <a:t>5.</a:t>
            </a:r>
            <a:r>
              <a:rPr lang="zh-TW" altLang="en-US" dirty="0"/>
              <a:t>評估與測試</a:t>
            </a: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D54A23E9-6188-40C0-8B16-85E2E30F41B2}"/>
              </a:ext>
            </a:extLst>
          </p:cNvPr>
          <p:cNvGrpSpPr/>
          <p:nvPr/>
        </p:nvGrpSpPr>
        <p:grpSpPr>
          <a:xfrm>
            <a:off x="1420430" y="1401236"/>
            <a:ext cx="9351140" cy="4980092"/>
            <a:chOff x="2063552" y="980728"/>
            <a:chExt cx="9351140" cy="4980092"/>
          </a:xfrm>
        </p:grpSpPr>
        <p:grpSp>
          <p:nvGrpSpPr>
            <p:cNvPr id="4" name="群組 13"/>
            <p:cNvGrpSpPr/>
            <p:nvPr/>
          </p:nvGrpSpPr>
          <p:grpSpPr>
            <a:xfrm>
              <a:off x="2063552" y="2162472"/>
              <a:ext cx="1656184" cy="2016224"/>
              <a:chOff x="899592" y="2132856"/>
              <a:chExt cx="1656184" cy="2016224"/>
            </a:xfrm>
          </p:grpSpPr>
          <p:grpSp>
            <p:nvGrpSpPr>
              <p:cNvPr id="10" name="群組 9"/>
              <p:cNvGrpSpPr/>
              <p:nvPr/>
            </p:nvGrpSpPr>
            <p:grpSpPr>
              <a:xfrm>
                <a:off x="899592" y="2348880"/>
                <a:ext cx="1656184" cy="1800200"/>
                <a:chOff x="899592" y="2348880"/>
                <a:chExt cx="1656184" cy="1800200"/>
              </a:xfrm>
            </p:grpSpPr>
            <p:sp>
              <p:nvSpPr>
                <p:cNvPr id="9" name="流程圖: 程序 8"/>
                <p:cNvSpPr/>
                <p:nvPr/>
              </p:nvSpPr>
              <p:spPr>
                <a:xfrm>
                  <a:off x="899592" y="2996952"/>
                  <a:ext cx="1656184" cy="1152128"/>
                </a:xfrm>
                <a:prstGeom prst="flowChartProcess">
                  <a:avLst/>
                </a:prstGeom>
                <a:ln w="3492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3000"/>
                    </a:srgbClr>
                  </a:outerShdw>
                </a:effectLst>
                <a:scene3d>
                  <a:camera prst="perspectiveFront" fov="2700000">
                    <a:rot lat="19086000" lon="19067999" rev="3108000"/>
                  </a:camera>
                  <a:lightRig rig="threePt" dir="t">
                    <a:rot lat="0" lon="0" rev="0"/>
                  </a:lightRig>
                </a:scene3d>
                <a:sp3d extrusionH="38100" prstMaterial="clear">
                  <a:bevelT w="260350" h="50800" prst="softRound"/>
                  <a:bevelB prst="softRound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000" dirty="0">
                      <a:solidFill>
                        <a:schemeClr val="tx2"/>
                      </a:solidFill>
                      <a:ea typeface="微軟正黑體" panose="020B0604030504040204" pitchFamily="34" charset="-120"/>
                    </a:rPr>
                    <a:t>Data</a:t>
                  </a:r>
                  <a:endParaRPr lang="zh-TW" altLang="en-US" sz="2000" dirty="0">
                    <a:solidFill>
                      <a:schemeClr val="tx2"/>
                    </a:solidFill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8" name="流程圖: 程序 7"/>
                <p:cNvSpPr/>
                <p:nvPr/>
              </p:nvSpPr>
              <p:spPr>
                <a:xfrm>
                  <a:off x="899592" y="2780928"/>
                  <a:ext cx="1656184" cy="1152128"/>
                </a:xfrm>
                <a:prstGeom prst="flowChartProcess">
                  <a:avLst/>
                </a:prstGeom>
                <a:ln w="3492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3000"/>
                    </a:srgbClr>
                  </a:outerShdw>
                </a:effectLst>
                <a:scene3d>
                  <a:camera prst="perspectiveFront" fov="2700000">
                    <a:rot lat="19086000" lon="19067999" rev="3108000"/>
                  </a:camera>
                  <a:lightRig rig="threePt" dir="t">
                    <a:rot lat="0" lon="0" rev="0"/>
                  </a:lightRig>
                </a:scene3d>
                <a:sp3d extrusionH="38100" prstMaterial="clear">
                  <a:bevelT w="260350" h="50800" prst="softRound"/>
                  <a:bevelB prst="softRound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000" dirty="0">
                      <a:solidFill>
                        <a:schemeClr val="tx2"/>
                      </a:solidFill>
                      <a:ea typeface="微軟正黑體" panose="020B0604030504040204" pitchFamily="34" charset="-120"/>
                    </a:rPr>
                    <a:t>Data</a:t>
                  </a:r>
                  <a:endParaRPr lang="zh-TW" altLang="en-US" sz="2000" dirty="0">
                    <a:solidFill>
                      <a:schemeClr val="tx2"/>
                    </a:solidFill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7" name="流程圖: 程序 6"/>
                <p:cNvSpPr/>
                <p:nvPr/>
              </p:nvSpPr>
              <p:spPr>
                <a:xfrm>
                  <a:off x="899592" y="2564904"/>
                  <a:ext cx="1656184" cy="1152128"/>
                </a:xfrm>
                <a:prstGeom prst="flowChartProcess">
                  <a:avLst/>
                </a:prstGeom>
                <a:ln w="3492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3000"/>
                    </a:srgbClr>
                  </a:outerShdw>
                </a:effectLst>
                <a:scene3d>
                  <a:camera prst="perspectiveFront" fov="2700000">
                    <a:rot lat="19086000" lon="19067999" rev="3108000"/>
                  </a:camera>
                  <a:lightRig rig="threePt" dir="t">
                    <a:rot lat="0" lon="0" rev="0"/>
                  </a:lightRig>
                </a:scene3d>
                <a:sp3d extrusionH="38100" prstMaterial="clear">
                  <a:bevelT w="260350" h="50800" prst="softRound"/>
                  <a:bevelB prst="softRound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000" dirty="0">
                      <a:solidFill>
                        <a:schemeClr val="tx2"/>
                      </a:solidFill>
                      <a:ea typeface="微軟正黑體" panose="020B0604030504040204" pitchFamily="34" charset="-120"/>
                    </a:rPr>
                    <a:t>Data</a:t>
                  </a:r>
                  <a:endParaRPr lang="zh-TW" altLang="en-US" sz="2000" dirty="0">
                    <a:solidFill>
                      <a:schemeClr val="tx2"/>
                    </a:solidFill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6" name="流程圖: 程序 5"/>
                <p:cNvSpPr/>
                <p:nvPr/>
              </p:nvSpPr>
              <p:spPr>
                <a:xfrm>
                  <a:off x="899592" y="2348880"/>
                  <a:ext cx="1656184" cy="1152128"/>
                </a:xfrm>
                <a:prstGeom prst="flowChartProcess">
                  <a:avLst/>
                </a:prstGeom>
                <a:ln w="34925">
                  <a:solidFill>
                    <a:srgbClr val="FFFFFF"/>
                  </a:solidFill>
                </a:ln>
                <a:effectLst>
                  <a:outerShdw blurRad="317500" dir="2700000" algn="ctr">
                    <a:srgbClr val="000000">
                      <a:alpha val="43000"/>
                    </a:srgbClr>
                  </a:outerShdw>
                </a:effectLst>
                <a:scene3d>
                  <a:camera prst="perspectiveFront" fov="2700000">
                    <a:rot lat="19086000" lon="19067999" rev="3108000"/>
                  </a:camera>
                  <a:lightRig rig="threePt" dir="t">
                    <a:rot lat="0" lon="0" rev="0"/>
                  </a:lightRig>
                </a:scene3d>
                <a:sp3d extrusionH="38100" prstMaterial="clear">
                  <a:bevelT w="260350" h="50800" prst="softRound"/>
                  <a:bevelB prst="softRound"/>
                </a:sp3d>
              </p:spPr>
              <p:style>
                <a:lnRef idx="0">
                  <a:schemeClr val="accent2"/>
                </a:lnRef>
                <a:fillRef idx="3">
                  <a:schemeClr val="accent2"/>
                </a:fillRef>
                <a:effectRef idx="3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2000" dirty="0">
                      <a:solidFill>
                        <a:schemeClr val="tx2"/>
                      </a:solidFill>
                      <a:ea typeface="微軟正黑體" panose="020B0604030504040204" pitchFamily="34" charset="-120"/>
                    </a:rPr>
                    <a:t>Data</a:t>
                  </a:r>
                  <a:endParaRPr lang="zh-TW" altLang="en-US" sz="2000" dirty="0">
                    <a:solidFill>
                      <a:schemeClr val="tx2"/>
                    </a:solidFill>
                    <a:ea typeface="微軟正黑體" panose="020B0604030504040204" pitchFamily="34" charset="-120"/>
                  </a:endParaRPr>
                </a:p>
              </p:txBody>
            </p:sp>
          </p:grpSp>
          <p:sp>
            <p:nvSpPr>
              <p:cNvPr id="5" name="流程圖: 程序 4"/>
              <p:cNvSpPr/>
              <p:nvPr/>
            </p:nvSpPr>
            <p:spPr>
              <a:xfrm>
                <a:off x="899592" y="2132856"/>
                <a:ext cx="1656184" cy="1152128"/>
              </a:xfrm>
              <a:prstGeom prst="flowChartProcess">
                <a:avLst/>
              </a:prstGeom>
              <a:ln w="34925">
                <a:solidFill>
                  <a:srgbClr val="FFFFFF"/>
                </a:solidFill>
              </a:ln>
              <a:effectLst>
                <a:outerShdw blurRad="317500" dir="2700000" algn="ctr">
                  <a:srgbClr val="000000">
                    <a:alpha val="43000"/>
                  </a:srgbClr>
                </a:outerShdw>
              </a:effectLst>
              <a:scene3d>
                <a:camera prst="perspectiveFront" fov="2700000">
                  <a:rot lat="19086000" lon="19067999" rev="3108000"/>
                </a:camera>
                <a:lightRig rig="threePt" dir="t">
                  <a:rot lat="0" lon="0" rev="0"/>
                </a:lightRig>
              </a:scene3d>
              <a:sp3d extrusionH="38100" prstMaterial="clear">
                <a:bevelT w="260350" h="50800" prst="softRound"/>
                <a:bevelB prst="softRound"/>
              </a:sp3d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3200" b="1" dirty="0">
                    <a:solidFill>
                      <a:schemeClr val="bg1"/>
                    </a:solidFill>
                    <a:ea typeface="微軟正黑體" panose="020B0604030504040204" pitchFamily="34" charset="-120"/>
                  </a:rPr>
                  <a:t>Data</a:t>
                </a:r>
                <a:endParaRPr lang="zh-TW" altLang="en-US" sz="3200" b="1" dirty="0">
                  <a:solidFill>
                    <a:schemeClr val="bg1"/>
                  </a:solidFill>
                  <a:ea typeface="微軟正黑體" panose="020B0604030504040204" pitchFamily="34" charset="-120"/>
                </a:endParaRPr>
              </a:p>
            </p:txBody>
          </p:sp>
        </p:grpSp>
        <p:sp>
          <p:nvSpPr>
            <p:cNvPr id="12" name="流程圖: 磁碟 11"/>
            <p:cNvSpPr/>
            <p:nvPr/>
          </p:nvSpPr>
          <p:spPr>
            <a:xfrm>
              <a:off x="4799856" y="1436505"/>
              <a:ext cx="1584176" cy="1512168"/>
            </a:xfrm>
            <a:prstGeom prst="flowChartMagneticDisk">
              <a:avLst/>
            </a:prstGeom>
            <a:solidFill>
              <a:srgbClr val="00B0F0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訓練資料</a:t>
              </a:r>
            </a:p>
          </p:txBody>
        </p:sp>
        <p:sp>
          <p:nvSpPr>
            <p:cNvPr id="13" name="流程圖: 磁碟 12"/>
            <p:cNvSpPr/>
            <p:nvPr/>
          </p:nvSpPr>
          <p:spPr>
            <a:xfrm>
              <a:off x="4797576" y="3458616"/>
              <a:ext cx="1584176" cy="1512168"/>
            </a:xfrm>
            <a:prstGeom prst="flowChartMagneticDisk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測試資料</a:t>
              </a: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6D0B15D5-143D-4291-8164-A9C8CD5A64C3}"/>
                </a:ext>
              </a:extLst>
            </p:cNvPr>
            <p:cNvGrpSpPr/>
            <p:nvPr/>
          </p:nvGrpSpPr>
          <p:grpSpPr>
            <a:xfrm>
              <a:off x="7752185" y="980728"/>
              <a:ext cx="1713865" cy="1901825"/>
              <a:chOff x="7752185" y="980728"/>
              <a:chExt cx="1713865" cy="1901825"/>
            </a:xfrm>
          </p:grpSpPr>
          <p:pic>
            <p:nvPicPr>
              <p:cNvPr id="20" name="圖片 1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52185" y="1486356"/>
                <a:ext cx="1713865" cy="1396197"/>
              </a:xfrm>
              <a:prstGeom prst="rect">
                <a:avLst/>
              </a:prstGeom>
              <a:solidFill>
                <a:srgbClr val="FFFFFF">
                  <a:shade val="85000"/>
                </a:srgbClr>
              </a:solidFill>
              <a:ln w="88900" cap="sq">
                <a:solidFill>
                  <a:srgbClr val="FFFFFF"/>
                </a:solidFill>
                <a:miter lim="800000"/>
              </a:ln>
              <a:effectLst>
                <a:outerShdw blurRad="55000" dist="18000" dir="5400000" algn="tl" rotWithShape="0">
                  <a:srgbClr val="000000">
                    <a:alpha val="40000"/>
                  </a:srgbClr>
                </a:outerShdw>
              </a:effectLst>
              <a:scene3d>
                <a:camera prst="orthographicFront"/>
                <a:lightRig rig="twoPt" dir="t">
                  <a:rot lat="0" lon="0" rev="7200000"/>
                </a:lightRig>
              </a:scene3d>
              <a:sp3d>
                <a:bevelT w="25400" h="19050"/>
                <a:contourClr>
                  <a:srgbClr val="FFFFFF"/>
                </a:contourClr>
              </a:sp3d>
            </p:spPr>
          </p:pic>
          <p:sp>
            <p:nvSpPr>
              <p:cNvPr id="21" name="矩形 20"/>
              <p:cNvSpPr/>
              <p:nvPr/>
            </p:nvSpPr>
            <p:spPr>
              <a:xfrm>
                <a:off x="8209007" y="980728"/>
                <a:ext cx="80021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zh-TW" altLang="en-US" sz="2400" b="1" dirty="0">
                    <a:solidFill>
                      <a:schemeClr val="tx2"/>
                    </a:solidFill>
                    <a:ea typeface="微軟正黑體" panose="020B0604030504040204" pitchFamily="34" charset="-120"/>
                  </a:rPr>
                  <a:t>模型</a:t>
                </a:r>
              </a:p>
            </p:txBody>
          </p:sp>
        </p:grpSp>
        <p:cxnSp>
          <p:nvCxnSpPr>
            <p:cNvPr id="24" name="肘形接點 23"/>
            <p:cNvCxnSpPr>
              <a:stCxn id="13" idx="4"/>
              <a:endCxn id="20" idx="2"/>
            </p:cNvCxnSpPr>
            <p:nvPr/>
          </p:nvCxnSpPr>
          <p:spPr>
            <a:xfrm flipV="1">
              <a:off x="6381753" y="2882552"/>
              <a:ext cx="2227365" cy="1332148"/>
            </a:xfrm>
            <a:prstGeom prst="bentConnector2">
              <a:avLst/>
            </a:prstGeom>
            <a:ln w="76200">
              <a:solidFill>
                <a:schemeClr val="tx2">
                  <a:lumMod val="40000"/>
                  <a:lumOff val="60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流程圖: 磁碟 25"/>
            <p:cNvSpPr/>
            <p:nvPr/>
          </p:nvSpPr>
          <p:spPr>
            <a:xfrm>
              <a:off x="9830516" y="4916704"/>
              <a:ext cx="1584176" cy="1044116"/>
            </a:xfrm>
            <a:prstGeom prst="flowChartMagneticDisk">
              <a:avLst/>
            </a:prstGeom>
            <a:solidFill>
              <a:srgbClr val="FFCCFF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新資料</a:t>
              </a: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6744073" y="1720916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建立</a:t>
              </a: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6459866" y="4270373"/>
              <a:ext cx="283923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過度配適 </a:t>
              </a:r>
              <a:r>
                <a:rPr lang="en-US" altLang="zh-TW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(Overfitting)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zh-TW" altLang="en-US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配適不足 </a:t>
              </a:r>
              <a:r>
                <a:rPr lang="en-US" altLang="zh-TW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(Underfitting)</a:t>
              </a:r>
              <a:endParaRPr lang="zh-TW" altLang="en-US" b="1" dirty="0">
                <a:solidFill>
                  <a:schemeClr val="tx2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10068606" y="4573731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tx2"/>
                  </a:solidFill>
                  <a:ea typeface="微軟正黑體" panose="020B0604030504040204" pitchFamily="34" charset="-120"/>
                </a:rPr>
                <a:t>實務應用</a:t>
              </a:r>
            </a:p>
          </p:txBody>
        </p:sp>
        <p:cxnSp>
          <p:nvCxnSpPr>
            <p:cNvPr id="49" name="直線單箭頭接點 48"/>
            <p:cNvCxnSpPr>
              <a:stCxn id="12" idx="4"/>
              <a:endCxn id="20" idx="1"/>
            </p:cNvCxnSpPr>
            <p:nvPr/>
          </p:nvCxnSpPr>
          <p:spPr>
            <a:xfrm flipV="1">
              <a:off x="6384032" y="2184455"/>
              <a:ext cx="1368152" cy="8135"/>
            </a:xfrm>
            <a:prstGeom prst="straightConnector1">
              <a:avLst/>
            </a:prstGeom>
            <a:ln w="76200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單箭頭接點 51"/>
            <p:cNvCxnSpPr>
              <a:endCxn id="12" idx="2"/>
            </p:cNvCxnSpPr>
            <p:nvPr/>
          </p:nvCxnSpPr>
          <p:spPr>
            <a:xfrm flipV="1">
              <a:off x="4030222" y="2192589"/>
              <a:ext cx="769635" cy="452994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>
              <a:endCxn id="13" idx="2"/>
            </p:cNvCxnSpPr>
            <p:nvPr/>
          </p:nvCxnSpPr>
          <p:spPr>
            <a:xfrm>
              <a:off x="4027942" y="3568066"/>
              <a:ext cx="769635" cy="646634"/>
            </a:xfrm>
            <a:prstGeom prst="straightConnector1">
              <a:avLst/>
            </a:prstGeom>
            <a:ln w="762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橢圓 55"/>
            <p:cNvSpPr/>
            <p:nvPr/>
          </p:nvSpPr>
          <p:spPr>
            <a:xfrm>
              <a:off x="6769237" y="1030954"/>
              <a:ext cx="562167" cy="562167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9900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1</a:t>
              </a:r>
              <a:endParaRPr lang="zh-TW" altLang="en-US" sz="2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57" name="橢圓 56"/>
            <p:cNvSpPr/>
            <p:nvPr/>
          </p:nvSpPr>
          <p:spPr>
            <a:xfrm>
              <a:off x="6804110" y="3514905"/>
              <a:ext cx="562167" cy="562167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9900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2</a:t>
              </a:r>
              <a:endParaRPr lang="zh-TW" altLang="en-US" sz="2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58" name="橢圓 57"/>
            <p:cNvSpPr/>
            <p:nvPr/>
          </p:nvSpPr>
          <p:spPr>
            <a:xfrm>
              <a:off x="10341521" y="3962672"/>
              <a:ext cx="562167" cy="562167"/>
            </a:xfrm>
            <a:prstGeom prst="ellipse">
              <a:avLst/>
            </a:prstGeom>
            <a:solidFill>
              <a:srgbClr val="FFC000"/>
            </a:solidFill>
            <a:ln>
              <a:solidFill>
                <a:srgbClr val="FF9900"/>
              </a:solidFill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400" b="1" dirty="0">
                  <a:solidFill>
                    <a:srgbClr val="FF0000"/>
                  </a:solidFill>
                  <a:ea typeface="微軟正黑體" panose="020B0604030504040204" pitchFamily="34" charset="-120"/>
                </a:rPr>
                <a:t>3</a:t>
              </a:r>
              <a:endParaRPr lang="zh-TW" altLang="en-US" sz="2400" b="1" dirty="0">
                <a:solidFill>
                  <a:srgbClr val="FF0000"/>
                </a:solidFill>
                <a:ea typeface="微軟正黑體" panose="020B0604030504040204" pitchFamily="34" charset="-120"/>
              </a:endParaRPr>
            </a:p>
          </p:txBody>
        </p:sp>
        <p:cxnSp>
          <p:nvCxnSpPr>
            <p:cNvPr id="30" name="接點: 肘形 29">
              <a:extLst>
                <a:ext uri="{FF2B5EF4-FFF2-40B4-BE49-F238E27FC236}">
                  <a16:creationId xmlns:a16="http://schemas.microsoft.com/office/drawing/2014/main" id="{62053927-81D3-494E-AC14-8D31C73148B1}"/>
                </a:ext>
              </a:extLst>
            </p:cNvPr>
            <p:cNvCxnSpPr>
              <a:cxnSpLocks/>
              <a:stCxn id="58" idx="0"/>
            </p:cNvCxnSpPr>
            <p:nvPr/>
          </p:nvCxnSpPr>
          <p:spPr>
            <a:xfrm rot="16200000" flipV="1">
              <a:off x="9330195" y="2670262"/>
              <a:ext cx="1569150" cy="1015670"/>
            </a:xfrm>
            <a:prstGeom prst="bentConnector3">
              <a:avLst>
                <a:gd name="adj1" fmla="val 99255"/>
              </a:avLst>
            </a:prstGeom>
            <a:ln w="76200">
              <a:solidFill>
                <a:srgbClr val="FF99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6955AC6A-5B28-4731-80A3-4E4EC740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32</a:t>
            </a:fld>
            <a:endParaRPr lang="en-US" altLang="zh-TW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539BAA0-A840-4CC2-BC4D-E444B48E9504}"/>
              </a:ext>
            </a:extLst>
          </p:cNvPr>
          <p:cNvSpPr txBox="1"/>
          <p:nvPr/>
        </p:nvSpPr>
        <p:spPr>
          <a:xfrm>
            <a:off x="6736447" y="409747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2"/>
                </a:solidFill>
                <a:ea typeface="微軟正黑體" panose="020B0604030504040204" pitchFamily="34" charset="-120"/>
              </a:rPr>
              <a:t>評估</a:t>
            </a:r>
          </a:p>
        </p:txBody>
      </p:sp>
    </p:spTree>
    <p:extLst>
      <p:ext uri="{BB962C8B-B14F-4D97-AF65-F5344CB8AC3E}">
        <p14:creationId xmlns:p14="http://schemas.microsoft.com/office/powerpoint/2010/main" val="189017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A3149-05D1-81B6-9680-D899F423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6.</a:t>
            </a:r>
            <a:r>
              <a:rPr lang="zh-TW" altLang="en-US" dirty="0"/>
              <a:t>佈署應用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3ABB161-27CC-BF5A-624E-038F10A0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33</a:t>
            </a:fld>
            <a:endParaRPr lang="en-US" altLang="zh-TW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EDAD2FC-85D6-A7C3-67A4-663143EB4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資料分析專案的部署計畫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ktiv-grotesk"/>
              </a:rPr>
              <a:t>(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時間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ktiv-grotesk"/>
              </a:rPr>
              <a:t>,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人力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ktiv-grotesk"/>
              </a:rPr>
              <a:t>,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物力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ktiv-grotesk"/>
              </a:rPr>
              <a:t>, 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資源</a:t>
            </a:r>
            <a:r>
              <a:rPr lang="en-US" altLang="zh-TW" b="0" i="0" dirty="0">
                <a:solidFill>
                  <a:srgbClr val="000000"/>
                </a:solidFill>
                <a:effectLst/>
                <a:latin typeface="aktiv-grotesk"/>
              </a:rPr>
              <a:t>, $)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完成部署的服務應用，建立後續的監管與維運計畫。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整個專案評估報告，包含商業</a:t>
            </a:r>
            <a:r>
              <a:rPr lang="zh-TW" altLang="en-US" dirty="0">
                <a:solidFill>
                  <a:srgbClr val="000000"/>
                </a:solidFill>
                <a:latin typeface="aktiv-grotesk"/>
              </a:rPr>
              <a:t>獲利</a:t>
            </a:r>
            <a:r>
              <a:rPr lang="zh-TW" altLang="en-US" b="0" i="0" dirty="0">
                <a:solidFill>
                  <a:srgbClr val="000000"/>
                </a:solidFill>
                <a:effectLst/>
                <a:latin typeface="aktiv-grotesk"/>
              </a:rPr>
              <a:t>分析、資料分析結果、部署與維運管理計畫、成本效益分析、總結整體專案與下一階段計畫。</a:t>
            </a:r>
            <a:endParaRPr lang="en-US" altLang="zh-TW" b="0" i="0" dirty="0">
              <a:solidFill>
                <a:srgbClr val="000000"/>
              </a:solidFill>
              <a:effectLst/>
              <a:latin typeface="aktiv-grotesk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rgbClr val="000000"/>
                </a:solidFill>
                <a:latin typeface="aktiv-grotesk"/>
              </a:rPr>
              <a:t>CRISP-DM </a:t>
            </a:r>
            <a:r>
              <a:rPr lang="zh-TW" altLang="en-US" dirty="0">
                <a:solidFill>
                  <a:srgbClr val="000000"/>
                </a:solidFill>
                <a:latin typeface="aktiv-grotesk"/>
              </a:rPr>
              <a:t>運用步驟</a:t>
            </a:r>
            <a:endParaRPr lang="en-US" altLang="zh-TW" b="0" i="0" dirty="0">
              <a:solidFill>
                <a:srgbClr val="000000"/>
              </a:solidFill>
              <a:effectLst/>
              <a:latin typeface="aktiv-grotesk"/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使用 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Power BI/Tableau/Python/R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進行基礎資料分析與視覺化成果。</a:t>
            </a:r>
            <a:endParaRPr lang="en-US" altLang="zh-TW" dirty="0">
              <a:solidFill>
                <a:srgbClr val="C00000"/>
              </a:solidFill>
              <a:latin typeface="aktiv-grotesk"/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建立機器學習預測模型 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(Python: scikit-learn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模組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, R: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 </a:t>
            </a:r>
            <a:r>
              <a:rPr lang="en-US" altLang="zh-TW" dirty="0" err="1">
                <a:solidFill>
                  <a:srgbClr val="C00000"/>
                </a:solidFill>
                <a:latin typeface="aktiv-grotesk"/>
              </a:rPr>
              <a:t>tidymodels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套件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)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。</a:t>
            </a:r>
            <a:endParaRPr lang="en-US" altLang="zh-TW" dirty="0">
              <a:solidFill>
                <a:srgbClr val="C00000"/>
              </a:solidFill>
              <a:latin typeface="aktiv-grotesk"/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建立互動式資料分析 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(Python: </a:t>
            </a:r>
            <a:r>
              <a:rPr lang="en-US" altLang="zh-TW" dirty="0" err="1">
                <a:solidFill>
                  <a:srgbClr val="C00000"/>
                </a:solidFill>
                <a:latin typeface="aktiv-grotesk"/>
              </a:rPr>
              <a:t>streamlit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模組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, R: shiny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套件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)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。</a:t>
            </a:r>
            <a:endParaRPr lang="en-US" altLang="zh-TW" dirty="0">
              <a:solidFill>
                <a:srgbClr val="C00000"/>
              </a:solidFill>
              <a:latin typeface="aktiv-grotesk"/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善用深度學習應用 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(Python: </a:t>
            </a:r>
            <a:r>
              <a:rPr lang="en-US" altLang="zh-TW" dirty="0" err="1">
                <a:solidFill>
                  <a:srgbClr val="C00000"/>
                </a:solidFill>
                <a:latin typeface="aktiv-grotesk"/>
              </a:rPr>
              <a:t>tensorflow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模組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, R: torch 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套件</a:t>
            </a:r>
            <a:r>
              <a:rPr lang="en-US" altLang="zh-TW" dirty="0">
                <a:solidFill>
                  <a:srgbClr val="C00000"/>
                </a:solidFill>
                <a:latin typeface="aktiv-grotesk"/>
              </a:rPr>
              <a:t>)</a:t>
            </a:r>
            <a:r>
              <a:rPr lang="zh-TW" altLang="en-US" dirty="0">
                <a:solidFill>
                  <a:srgbClr val="C00000"/>
                </a:solidFill>
                <a:latin typeface="aktiv-grotesk"/>
              </a:rPr>
              <a:t>。</a:t>
            </a:r>
          </a:p>
          <a:p>
            <a:r>
              <a:rPr lang="en-US" altLang="zh-TW" dirty="0"/>
              <a:t>R: </a:t>
            </a:r>
            <a:r>
              <a:rPr lang="en-US" altLang="zh-TW" dirty="0">
                <a:hlinkClick r:id="rId2"/>
              </a:rPr>
              <a:t>https://github.com/rwepa/r_data_scientist</a:t>
            </a:r>
            <a:r>
              <a:rPr lang="en-US" altLang="zh-TW" dirty="0"/>
              <a:t> </a:t>
            </a:r>
            <a:endParaRPr lang="en-US" altLang="zh-TW" dirty="0">
              <a:hlinkClick r:id="rId3"/>
            </a:endParaRPr>
          </a:p>
          <a:p>
            <a:r>
              <a:rPr lang="en-US" altLang="zh-TW" dirty="0"/>
              <a:t>Python: </a:t>
            </a:r>
            <a:r>
              <a:rPr lang="en-US" altLang="zh-TW" dirty="0">
                <a:hlinkClick r:id="rId3"/>
              </a:rPr>
              <a:t>https://github.com/rwepa/python_data_scientist</a:t>
            </a:r>
            <a:r>
              <a:rPr lang="en-US" altLang="zh-TW" dirty="0"/>
              <a:t> 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5268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CRISP-DM </a:t>
            </a:r>
            <a:r>
              <a:rPr lang="zh-TW" altLang="en-US" dirty="0"/>
              <a:t>資料探勘流程</a:t>
            </a:r>
            <a:r>
              <a:rPr lang="en-US" altLang="zh-TW" dirty="0"/>
              <a:t>(</a:t>
            </a:r>
            <a:r>
              <a:rPr lang="zh-TW" altLang="en-US" dirty="0"/>
              <a:t>續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13" y="1587590"/>
            <a:ext cx="5040630" cy="4577715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223792" y="1969477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1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7655138" y="2000835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2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7811591" y="3204745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3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7811591" y="3987323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4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159896" y="5373216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5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4067339" y="4139762"/>
            <a:ext cx="30008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b="1" dirty="0">
                <a:solidFill>
                  <a:srgbClr val="C00000"/>
                </a:solidFill>
                <a:latin typeface="Times New Roman"/>
                <a:ea typeface="新細明體"/>
              </a:rPr>
              <a:t>6</a:t>
            </a:r>
            <a:endParaRPr kumimoji="0" lang="zh-TW" altLang="en-US" b="1" dirty="0">
              <a:solidFill>
                <a:srgbClr val="C00000"/>
              </a:solidFill>
              <a:latin typeface="Times New Roman"/>
              <a:ea typeface="新細明體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847512" y="6346281"/>
            <a:ext cx="8496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zh-TW" altLang="en-US" sz="1600" dirty="0">
                <a:solidFill>
                  <a:prstClr val="black"/>
                </a:solidFill>
                <a:latin typeface="Times New Roman"/>
                <a:ea typeface="新細明體"/>
              </a:rPr>
              <a:t>參考 </a:t>
            </a:r>
            <a:r>
              <a:rPr kumimoji="0" lang="zh-TW" altLang="en-US" sz="1600" dirty="0">
                <a:solidFill>
                  <a:prstClr val="black"/>
                </a:solidFill>
                <a:latin typeface="Times New Roman"/>
                <a:ea typeface="新細明體"/>
                <a:hlinkClick r:id="rId3"/>
              </a:rPr>
              <a:t>https://en.wikipedia.org/wiki/Cross_Industry_Standard_Process_for_Data_Mining</a:t>
            </a:r>
            <a:r>
              <a:rPr kumimoji="0" lang="zh-TW" altLang="en-US" sz="1600" dirty="0">
                <a:solidFill>
                  <a:prstClr val="black"/>
                </a:solidFill>
                <a:latin typeface="Times New Roman"/>
                <a:ea typeface="新細明體"/>
              </a:rPr>
              <a:t> </a:t>
            </a:r>
          </a:p>
        </p:txBody>
      </p:sp>
      <p:sp>
        <p:nvSpPr>
          <p:cNvPr id="13" name="投影片編號版面配置區 12">
            <a:extLst>
              <a:ext uri="{FF2B5EF4-FFF2-40B4-BE49-F238E27FC236}">
                <a16:creationId xmlns:a16="http://schemas.microsoft.com/office/drawing/2014/main" id="{30FC34E1-6A3B-53B0-4395-3DCB8CE7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459549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D85C4-48BF-DC08-C276-12AA3AD946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4.</a:t>
            </a:r>
            <a:r>
              <a:rPr lang="zh-TW" altLang="en-US" dirty="0"/>
              <a:t>七大核心產業應用指南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F12F89B-0B92-2A9B-966D-F362752B1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3600" dirty="0"/>
              <a:t>將數據思考轉化為商業價值的標準專案落地架構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EBAD4D-B97E-808D-86CF-010179BE00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35</a:t>
            </a:fld>
            <a:endParaRPr lang="en-US" altLang="zh-TW" dirty="0"/>
          </a:p>
        </p:txBody>
      </p:sp>
      <p:pic>
        <p:nvPicPr>
          <p:cNvPr id="5" name="Picture 5" descr="image.png">
            <a:extLst>
              <a:ext uri="{FF2B5EF4-FFF2-40B4-BE49-F238E27FC236}">
                <a16:creationId xmlns:a16="http://schemas.microsoft.com/office/drawing/2014/main" id="{2A9233DF-D2DC-C7D1-8E2D-C7C7E82895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740" y="5682009"/>
            <a:ext cx="148232" cy="190500"/>
          </a:xfrm>
          <a:prstGeom prst="rect">
            <a:avLst/>
          </a:prstGeom>
        </p:spPr>
      </p:pic>
      <p:pic>
        <p:nvPicPr>
          <p:cNvPr id="6" name="Picture 6" descr="image.png">
            <a:extLst>
              <a:ext uri="{FF2B5EF4-FFF2-40B4-BE49-F238E27FC236}">
                <a16:creationId xmlns:a16="http://schemas.microsoft.com/office/drawing/2014/main" id="{D819FB34-FC9C-9FF1-99CC-20F675C06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472" y="5682009"/>
            <a:ext cx="148232" cy="190500"/>
          </a:xfrm>
          <a:prstGeom prst="rect">
            <a:avLst/>
          </a:prstGeom>
        </p:spPr>
      </p:pic>
      <p:pic>
        <p:nvPicPr>
          <p:cNvPr id="7" name="Picture 7" descr="image.png">
            <a:extLst>
              <a:ext uri="{FF2B5EF4-FFF2-40B4-BE49-F238E27FC236}">
                <a16:creationId xmlns:a16="http://schemas.microsoft.com/office/drawing/2014/main" id="{938801ED-85DA-123D-9D0C-073A3B8C8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205" y="5682009"/>
            <a:ext cx="148232" cy="190500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3B7CDE1A-5864-D08B-D1F6-75C5221D55F8}"/>
              </a:ext>
            </a:extLst>
          </p:cNvPr>
          <p:cNvSpPr txBox="1"/>
          <p:nvPr/>
        </p:nvSpPr>
        <p:spPr>
          <a:xfrm>
            <a:off x="3610272" y="5677247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 dirty="0" err="1">
                <a:solidFill>
                  <a:srgbClr val="E2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商業目標驅動</a:t>
            </a:r>
            <a:endParaRPr sz="1400" b="0" i="0" u="none" dirty="0">
              <a:solidFill>
                <a:srgbClr val="E2E8F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BE00CEF6-EC56-70D1-7E8B-0897CC7403FB}"/>
              </a:ext>
            </a:extLst>
          </p:cNvPr>
          <p:cNvSpPr txBox="1"/>
          <p:nvPr/>
        </p:nvSpPr>
        <p:spPr>
          <a:xfrm>
            <a:off x="5473005" y="5677247"/>
            <a:ext cx="10772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E2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六大階段迭代</a:t>
            </a:r>
          </a:p>
        </p:txBody>
      </p:sp>
      <p:sp>
        <p:nvSpPr>
          <p:cNvPr id="10" name="TextBox 13">
            <a:extLst>
              <a:ext uri="{FF2B5EF4-FFF2-40B4-BE49-F238E27FC236}">
                <a16:creationId xmlns:a16="http://schemas.microsoft.com/office/drawing/2014/main" id="{54422D6C-A466-1328-6156-11B089D65AE1}"/>
              </a:ext>
            </a:extLst>
          </p:cNvPr>
          <p:cNvSpPr txBox="1"/>
          <p:nvPr/>
        </p:nvSpPr>
        <p:spPr>
          <a:xfrm>
            <a:off x="7335738" y="5677247"/>
            <a:ext cx="125675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 u="none">
                <a:solidFill>
                  <a:srgbClr val="E2E8F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可衡量營運效益</a:t>
            </a:r>
          </a:p>
        </p:txBody>
      </p:sp>
    </p:spTree>
    <p:extLst>
      <p:ext uri="{BB962C8B-B14F-4D97-AF65-F5344CB8AC3E}">
        <p14:creationId xmlns:p14="http://schemas.microsoft.com/office/powerpoint/2010/main" val="2399035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3CE896-80BA-905E-1984-2B49732D9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金融與保險業 </a:t>
            </a:r>
            <a:r>
              <a:rPr lang="en-US" altLang="zh-TW" dirty="0"/>
              <a:t>(Financial &amp; Insurance)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25003D3-B0EC-1FF1-1BA3-B1ADB56D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36</a:t>
            </a:fld>
            <a:endParaRPr lang="en-US" altLang="zh-TW" dirty="0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9DECB040-B4F6-FC18-8B29-91905365DB3E}"/>
              </a:ext>
            </a:extLst>
          </p:cNvPr>
          <p:cNvSpPr/>
          <p:nvPr/>
        </p:nvSpPr>
        <p:spPr>
          <a:xfrm>
            <a:off x="5757267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0964ABDB-8490-3A61-387D-BCA4DEE9F006}"/>
              </a:ext>
            </a:extLst>
          </p:cNvPr>
          <p:cNvSpPr/>
          <p:nvPr/>
        </p:nvSpPr>
        <p:spPr>
          <a:xfrm>
            <a:off x="5757267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CE82DFB4-B868-75AD-73AE-593DB9337446}"/>
              </a:ext>
            </a:extLst>
          </p:cNvPr>
          <p:cNvSpPr/>
          <p:nvPr/>
        </p:nvSpPr>
        <p:spPr>
          <a:xfrm>
            <a:off x="5757267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2001168-D0A7-FEB7-AE94-484340D251B6}"/>
              </a:ext>
            </a:extLst>
          </p:cNvPr>
          <p:cNvSpPr/>
          <p:nvPr/>
        </p:nvSpPr>
        <p:spPr>
          <a:xfrm>
            <a:off x="5757267" y="2395537"/>
            <a:ext cx="47625" cy="895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024C9BA-3E7E-5C54-066B-D9E87E285635}"/>
              </a:ext>
            </a:extLst>
          </p:cNvPr>
          <p:cNvSpPr/>
          <p:nvPr/>
        </p:nvSpPr>
        <p:spPr>
          <a:xfrm>
            <a:off x="5757267" y="3443287"/>
            <a:ext cx="47625" cy="895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6AB592C-EC5D-7015-1E3F-480C592D67FF}"/>
              </a:ext>
            </a:extLst>
          </p:cNvPr>
          <p:cNvSpPr/>
          <p:nvPr/>
        </p:nvSpPr>
        <p:spPr>
          <a:xfrm>
            <a:off x="5757267" y="4491037"/>
            <a:ext cx="47625" cy="8953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2" name="Picture 7" descr="image.png">
            <a:extLst>
              <a:ext uri="{FF2B5EF4-FFF2-40B4-BE49-F238E27FC236}">
                <a16:creationId xmlns:a16="http://schemas.microsoft.com/office/drawing/2014/main" id="{70317AF7-9DAE-68EF-BAEF-87D492880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5962"/>
            <a:ext cx="4766667" cy="3810000"/>
          </a:xfrm>
          <a:prstGeom prst="rect">
            <a:avLst/>
          </a:prstGeom>
        </p:spPr>
      </p:pic>
      <p:pic>
        <p:nvPicPr>
          <p:cNvPr id="13" name="Picture 8" descr="image.png">
            <a:extLst>
              <a:ext uri="{FF2B5EF4-FFF2-40B4-BE49-F238E27FC236}">
                <a16:creationId xmlns:a16="http://schemas.microsoft.com/office/drawing/2014/main" id="{DC7C29C0-CEFA-1D65-BFB1-F05DC3039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95487"/>
            <a:ext cx="4747617" cy="3790950"/>
          </a:xfrm>
          <a:prstGeom prst="rect">
            <a:avLst/>
          </a:prstGeom>
        </p:spPr>
      </p:pic>
      <p:sp>
        <p:nvSpPr>
          <p:cNvPr id="14" name="TextBox 11">
            <a:extLst>
              <a:ext uri="{FF2B5EF4-FFF2-40B4-BE49-F238E27FC236}">
                <a16:creationId xmlns:a16="http://schemas.microsoft.com/office/drawing/2014/main" id="{F8C28D67-C6E5-69DF-98D1-F2A6269553A7}"/>
              </a:ext>
            </a:extLst>
          </p:cNvPr>
          <p:cNvSpPr txBox="1"/>
          <p:nvPr/>
        </p:nvSpPr>
        <p:spPr>
          <a:xfrm>
            <a:off x="6033492" y="25860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信用評分與貸款審核</a:t>
            </a:r>
            <a:endParaRPr sz="2000" b="1" i="0" u="none" dirty="0">
              <a:solidFill>
                <a:srgbClr val="1E293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FE3F7CAB-F3FF-A33B-9FD0-A71EAE762159}"/>
              </a:ext>
            </a:extLst>
          </p:cNvPr>
          <p:cNvSpPr txBox="1"/>
          <p:nvPr/>
        </p:nvSpPr>
        <p:spPr>
          <a:xfrm>
            <a:off x="6033492" y="2900362"/>
            <a:ext cx="46166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風險建模：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量化違約機率，自動化放款審查。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55DD952-7494-5647-6733-FDB33814D00D}"/>
              </a:ext>
            </a:extLst>
          </p:cNvPr>
          <p:cNvSpPr txBox="1"/>
          <p:nvPr/>
        </p:nvSpPr>
        <p:spPr>
          <a:xfrm>
            <a:off x="6033492" y="363378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信用卡欺詐即時偵測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1C0FBEDA-007F-1607-5A66-F3E03557C7F0}"/>
              </a:ext>
            </a:extLst>
          </p:cNvPr>
          <p:cNvSpPr txBox="1"/>
          <p:nvPr/>
        </p:nvSpPr>
        <p:spPr>
          <a:xfrm>
            <a:off x="6033492" y="3948112"/>
            <a:ext cx="39241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異常監測：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即時辨識高風險盜刷交易。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60081D59-7C8D-C837-5E54-F18608BCD986}"/>
              </a:ext>
            </a:extLst>
          </p:cNvPr>
          <p:cNvSpPr txBox="1"/>
          <p:nvPr/>
        </p:nvSpPr>
        <p:spPr>
          <a:xfrm>
            <a:off x="6033492" y="4681537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保險理賠詐領識別</a:t>
            </a:r>
            <a:endParaRPr sz="2000" b="1" i="0" u="none" dirty="0">
              <a:solidFill>
                <a:srgbClr val="1E293B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11E28FAC-92B6-4969-5332-C304018DB25A}"/>
              </a:ext>
            </a:extLst>
          </p:cNvPr>
          <p:cNvSpPr txBox="1"/>
          <p:nvPr/>
        </p:nvSpPr>
        <p:spPr>
          <a:xfrm>
            <a:off x="6033492" y="49958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圖譜分析：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快速識別虛報與異常索賠模式。</a:t>
            </a:r>
          </a:p>
        </p:txBody>
      </p:sp>
    </p:spTree>
    <p:extLst>
      <p:ext uri="{BB962C8B-B14F-4D97-AF65-F5344CB8AC3E}">
        <p14:creationId xmlns:p14="http://schemas.microsoft.com/office/powerpoint/2010/main" val="8423925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62FFB2-B244-4C95-3F2E-68FC19BB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零售與電子商務 </a:t>
            </a:r>
            <a:r>
              <a:rPr lang="en-US" altLang="zh-TW" dirty="0"/>
              <a:t>(Retail &amp; E-commerce)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7039CDD-7809-6213-2FE2-A6A1E1AE2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37</a:t>
            </a:fld>
            <a:endParaRPr lang="en-US" altLang="zh-TW" dirty="0"/>
          </a:p>
        </p:txBody>
      </p:sp>
      <p:sp>
        <p:nvSpPr>
          <p:cNvPr id="6" name="Rounded Rectangle 1">
            <a:extLst>
              <a:ext uri="{FF2B5EF4-FFF2-40B4-BE49-F238E27FC236}">
                <a16:creationId xmlns:a16="http://schemas.microsoft.com/office/drawing/2014/main" id="{2E992CF4-CD23-8FC0-461F-50BFA7D79E41}"/>
              </a:ext>
            </a:extLst>
          </p:cNvPr>
          <p:cNvSpPr/>
          <p:nvPr/>
        </p:nvSpPr>
        <p:spPr>
          <a:xfrm>
            <a:off x="609600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61CB9897-2608-FC55-7901-93DD206A401B}"/>
              </a:ext>
            </a:extLst>
          </p:cNvPr>
          <p:cNvSpPr/>
          <p:nvPr/>
        </p:nvSpPr>
        <p:spPr>
          <a:xfrm>
            <a:off x="609600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90AD481-14C0-D5E2-3A16-D941484204FD}"/>
              </a:ext>
            </a:extLst>
          </p:cNvPr>
          <p:cNvSpPr/>
          <p:nvPr/>
        </p:nvSpPr>
        <p:spPr>
          <a:xfrm>
            <a:off x="609600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7689E64-83AD-5938-5F36-9A62F92D8603}"/>
              </a:ext>
            </a:extLst>
          </p:cNvPr>
          <p:cNvSpPr/>
          <p:nvPr/>
        </p:nvSpPr>
        <p:spPr>
          <a:xfrm>
            <a:off x="609600" y="2395537"/>
            <a:ext cx="47625" cy="895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1B9BB7D6-FD05-1394-99C9-1AD5943C47CB}"/>
              </a:ext>
            </a:extLst>
          </p:cNvPr>
          <p:cNvSpPr/>
          <p:nvPr/>
        </p:nvSpPr>
        <p:spPr>
          <a:xfrm>
            <a:off x="609600" y="3443287"/>
            <a:ext cx="47625" cy="895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C40EFD8-90D9-0697-867F-1740F73A402E}"/>
              </a:ext>
            </a:extLst>
          </p:cNvPr>
          <p:cNvSpPr/>
          <p:nvPr/>
        </p:nvSpPr>
        <p:spPr>
          <a:xfrm>
            <a:off x="609600" y="4491037"/>
            <a:ext cx="47625" cy="8953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084016F4-C0B7-41BD-689A-0EBBBA74B281}"/>
              </a:ext>
            </a:extLst>
          </p:cNvPr>
          <p:cNvSpPr txBox="1"/>
          <p:nvPr/>
        </p:nvSpPr>
        <p:spPr>
          <a:xfrm>
            <a:off x="885825" y="25860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個人化商品推薦系統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DBE42D63-F1DC-8722-0B51-4DCC64F445F3}"/>
              </a:ext>
            </a:extLst>
          </p:cNvPr>
          <p:cNvSpPr txBox="1"/>
          <p:nvPr/>
        </p:nvSpPr>
        <p:spPr>
          <a:xfrm>
            <a:off x="885825" y="29003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協同過濾：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精準推薦購買組合與加購商品。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06CF4257-E4D3-233E-2657-BC20A081FFF2}"/>
              </a:ext>
            </a:extLst>
          </p:cNvPr>
          <p:cNvSpPr txBox="1"/>
          <p:nvPr/>
        </p:nvSpPr>
        <p:spPr>
          <a:xfrm>
            <a:off x="885825" y="3633787"/>
            <a:ext cx="179536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購物籃關聯分析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5FDF5FEB-6E97-0ADC-ADF8-DCE08FF5C138}"/>
              </a:ext>
            </a:extLst>
          </p:cNvPr>
          <p:cNvSpPr txBox="1"/>
          <p:nvPr/>
        </p:nvSpPr>
        <p:spPr>
          <a:xfrm>
            <a:off x="885825" y="394811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關聯規則：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優化陳列策略與組合套裝定價。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8C8105C8-E46F-3297-2959-6E0D5F2FACB1}"/>
              </a:ext>
            </a:extLst>
          </p:cNvPr>
          <p:cNvSpPr txBox="1"/>
          <p:nvPr/>
        </p:nvSpPr>
        <p:spPr>
          <a:xfrm>
            <a:off x="885825" y="46815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銷量預測與庫存優化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0B6FC9A9-0C75-6251-CB62-7A5F0E4149B7}"/>
              </a:ext>
            </a:extLst>
          </p:cNvPr>
          <p:cNvSpPr txBox="1"/>
          <p:nvPr/>
        </p:nvSpPr>
        <p:spPr>
          <a:xfrm>
            <a:off x="885825" y="49958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需求預測：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降低倉儲壓貨與門市缺貨風險。</a:t>
            </a: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28C9A151-131A-8A73-A169-40E39CBA7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072" y="1913075"/>
            <a:ext cx="4763095" cy="29070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47402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E7B0D7-7007-5C51-A17A-B62255386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3.</a:t>
            </a:r>
            <a:r>
              <a:rPr lang="zh-TW" altLang="en-US" dirty="0"/>
              <a:t>製造業與工業 </a:t>
            </a:r>
            <a:r>
              <a:rPr lang="en-US" altLang="zh-TW" dirty="0"/>
              <a:t>4.0 (Manufacturing)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757E1CB-9A4A-548C-5EFA-31495D52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38</a:t>
            </a:fld>
            <a:endParaRPr lang="en-US" altLang="zh-TW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F6F37BFD-0A42-CDD6-16F3-EDF65A4CACE1}"/>
              </a:ext>
            </a:extLst>
          </p:cNvPr>
          <p:cNvSpPr/>
          <p:nvPr/>
        </p:nvSpPr>
        <p:spPr>
          <a:xfrm>
            <a:off x="5757267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7F19A953-5B1D-E991-0BD6-13D8CDB7B0E1}"/>
              </a:ext>
            </a:extLst>
          </p:cNvPr>
          <p:cNvSpPr/>
          <p:nvPr/>
        </p:nvSpPr>
        <p:spPr>
          <a:xfrm>
            <a:off x="5757267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D0465DB8-EA9B-E24A-ED5F-3E73205B2429}"/>
              </a:ext>
            </a:extLst>
          </p:cNvPr>
          <p:cNvSpPr/>
          <p:nvPr/>
        </p:nvSpPr>
        <p:spPr>
          <a:xfrm>
            <a:off x="5757267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F155E88-7ED7-B63F-FADA-79D66B61160B}"/>
              </a:ext>
            </a:extLst>
          </p:cNvPr>
          <p:cNvSpPr/>
          <p:nvPr/>
        </p:nvSpPr>
        <p:spPr>
          <a:xfrm>
            <a:off x="5757267" y="2395537"/>
            <a:ext cx="47625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CC069FC-A93B-F945-B766-7BE71A2173AC}"/>
              </a:ext>
            </a:extLst>
          </p:cNvPr>
          <p:cNvSpPr/>
          <p:nvPr/>
        </p:nvSpPr>
        <p:spPr>
          <a:xfrm>
            <a:off x="5757267" y="3443287"/>
            <a:ext cx="47625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FBD5CCD-C1E2-886B-5806-870590B463EA}"/>
              </a:ext>
            </a:extLst>
          </p:cNvPr>
          <p:cNvSpPr/>
          <p:nvPr/>
        </p:nvSpPr>
        <p:spPr>
          <a:xfrm>
            <a:off x="5757267" y="4491037"/>
            <a:ext cx="47625" cy="8953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7" descr="image.png">
            <a:extLst>
              <a:ext uri="{FF2B5EF4-FFF2-40B4-BE49-F238E27FC236}">
                <a16:creationId xmlns:a16="http://schemas.microsoft.com/office/drawing/2014/main" id="{4D9647A4-8AFE-3D6F-D6A8-D79E563FA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5962"/>
            <a:ext cx="4766667" cy="3810000"/>
          </a:xfrm>
          <a:prstGeom prst="rect">
            <a:avLst/>
          </a:prstGeom>
        </p:spPr>
      </p:pic>
      <p:pic>
        <p:nvPicPr>
          <p:cNvPr id="11" name="Picture 8" descr="image.png">
            <a:extLst>
              <a:ext uri="{FF2B5EF4-FFF2-40B4-BE49-F238E27FC236}">
                <a16:creationId xmlns:a16="http://schemas.microsoft.com/office/drawing/2014/main" id="{01ED106C-6C09-7FA7-2EB1-139D68E03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95487"/>
            <a:ext cx="4747617" cy="3790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4AFB78-E744-16A6-F3CB-A31104DBF60F}"/>
              </a:ext>
            </a:extLst>
          </p:cNvPr>
          <p:cNvSpPr txBox="1"/>
          <p:nvPr/>
        </p:nvSpPr>
        <p:spPr>
          <a:xfrm>
            <a:off x="6033492" y="2586037"/>
            <a:ext cx="185948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 err="1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設備預測性維護</a:t>
            </a:r>
            <a:r>
              <a:rPr sz="2000" b="1" i="0" u="none" dirty="0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D9F93A-0F0E-CFE8-8909-5188D98B525B}"/>
              </a:ext>
            </a:extLst>
          </p:cNvPr>
          <p:cNvSpPr txBox="1"/>
          <p:nvPr/>
        </p:nvSpPr>
        <p:spPr>
          <a:xfrm>
            <a:off x="6033492" y="29003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感測監控：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故障提前預警，避免停機損失。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4B6F72-62DB-7999-C094-5D6858F9B27F}"/>
              </a:ext>
            </a:extLst>
          </p:cNvPr>
          <p:cNvSpPr txBox="1"/>
          <p:nvPr/>
        </p:nvSpPr>
        <p:spPr>
          <a:xfrm>
            <a:off x="6033492" y="363378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良率提升與瑕疵檢測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D1F4B0-A762-0C62-3D0B-E5F631103154}"/>
              </a:ext>
            </a:extLst>
          </p:cNvPr>
          <p:cNvSpPr txBox="1"/>
          <p:nvPr/>
        </p:nvSpPr>
        <p:spPr>
          <a:xfrm>
            <a:off x="6033492" y="3948112"/>
            <a:ext cx="41549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根因分析：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抓出影響產品良率關鍵因子。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4E99E5-DC67-26FF-EE85-A98EA798FA2C}"/>
              </a:ext>
            </a:extLst>
          </p:cNvPr>
          <p:cNvSpPr txBox="1"/>
          <p:nvPr/>
        </p:nvSpPr>
        <p:spPr>
          <a:xfrm>
            <a:off x="6033492" y="4681537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生產排程動態優化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E1BFC1-5567-A784-5EF7-30936298C326}"/>
              </a:ext>
            </a:extLst>
          </p:cNvPr>
          <p:cNvSpPr txBox="1"/>
          <p:nvPr/>
        </p:nvSpPr>
        <p:spPr>
          <a:xfrm>
            <a:off x="6033492" y="4995862"/>
            <a:ext cx="3924151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產能配置：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綜合產線限制極大化產出。</a:t>
            </a:r>
          </a:p>
        </p:txBody>
      </p:sp>
    </p:spTree>
    <p:extLst>
      <p:ext uri="{BB962C8B-B14F-4D97-AF65-F5344CB8AC3E}">
        <p14:creationId xmlns:p14="http://schemas.microsoft.com/office/powerpoint/2010/main" val="40720723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0CB49D-F265-B146-68E7-0EC3EC8D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4.</a:t>
            </a:r>
            <a:r>
              <a:rPr lang="zh-TW" altLang="en-US" dirty="0"/>
              <a:t>電信與數位服務 </a:t>
            </a:r>
            <a:r>
              <a:rPr lang="en-US" altLang="zh-TW" dirty="0"/>
              <a:t>(Telecommunications)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BAFA02B-3074-68E2-F92C-6D8AE900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39</a:t>
            </a:fld>
            <a:endParaRPr lang="en-US" altLang="zh-TW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8D5E8EE1-6415-D06E-5B2F-21FCE50137F4}"/>
              </a:ext>
            </a:extLst>
          </p:cNvPr>
          <p:cNvSpPr/>
          <p:nvPr/>
        </p:nvSpPr>
        <p:spPr>
          <a:xfrm>
            <a:off x="609600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939C324B-9AA7-E340-9107-1B54850B37DC}"/>
              </a:ext>
            </a:extLst>
          </p:cNvPr>
          <p:cNvSpPr/>
          <p:nvPr/>
        </p:nvSpPr>
        <p:spPr>
          <a:xfrm>
            <a:off x="609600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FDDC21E5-10FC-FA1E-2B8C-CB8B97A0C2AC}"/>
              </a:ext>
            </a:extLst>
          </p:cNvPr>
          <p:cNvSpPr/>
          <p:nvPr/>
        </p:nvSpPr>
        <p:spPr>
          <a:xfrm>
            <a:off x="609600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DF1405C-B927-382A-2AB6-18484F57E94C}"/>
              </a:ext>
            </a:extLst>
          </p:cNvPr>
          <p:cNvSpPr/>
          <p:nvPr/>
        </p:nvSpPr>
        <p:spPr>
          <a:xfrm>
            <a:off x="609600" y="2395537"/>
            <a:ext cx="47625" cy="8953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7C85F8D-1945-35C9-C8B8-14DC73BF7127}"/>
              </a:ext>
            </a:extLst>
          </p:cNvPr>
          <p:cNvSpPr/>
          <p:nvPr/>
        </p:nvSpPr>
        <p:spPr>
          <a:xfrm>
            <a:off x="609600" y="3443287"/>
            <a:ext cx="47625" cy="8953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BCBBE83-D773-DB59-581E-7C42534CC312}"/>
              </a:ext>
            </a:extLst>
          </p:cNvPr>
          <p:cNvSpPr/>
          <p:nvPr/>
        </p:nvSpPr>
        <p:spPr>
          <a:xfrm>
            <a:off x="609600" y="4491037"/>
            <a:ext cx="47625" cy="89535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7" descr="image.png">
            <a:extLst>
              <a:ext uri="{FF2B5EF4-FFF2-40B4-BE49-F238E27FC236}">
                <a16:creationId xmlns:a16="http://schemas.microsoft.com/office/drawing/2014/main" id="{3696F3AE-3CF9-3D30-1177-8AA8D975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732" y="1985962"/>
            <a:ext cx="4766667" cy="3810000"/>
          </a:xfrm>
          <a:prstGeom prst="rect">
            <a:avLst/>
          </a:prstGeom>
        </p:spPr>
      </p:pic>
      <p:pic>
        <p:nvPicPr>
          <p:cNvPr id="11" name="Picture 8" descr="image.png">
            <a:extLst>
              <a:ext uri="{FF2B5EF4-FFF2-40B4-BE49-F238E27FC236}">
                <a16:creationId xmlns:a16="http://schemas.microsoft.com/office/drawing/2014/main" id="{0E626551-3DFA-47C0-4D42-7DC489EAB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5257" y="1995487"/>
            <a:ext cx="4747617" cy="3790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D96E6A-B883-E891-9D0C-3F9E45A01290}"/>
              </a:ext>
            </a:extLst>
          </p:cNvPr>
          <p:cNvSpPr txBox="1"/>
          <p:nvPr/>
        </p:nvSpPr>
        <p:spPr>
          <a:xfrm>
            <a:off x="885825" y="2586037"/>
            <a:ext cx="2599558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用戶流失 (Churn) 預警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EA9144-A761-084C-7E06-0E969F2A64CD}"/>
              </a:ext>
            </a:extLst>
          </p:cNvPr>
          <p:cNvSpPr txBox="1"/>
          <p:nvPr/>
        </p:nvSpPr>
        <p:spPr>
          <a:xfrm>
            <a:off x="885825" y="29003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行為分析：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精準鎖定退租高風險用戶族群。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C81953-0445-809B-DBCE-0070D8C22E7E}"/>
              </a:ext>
            </a:extLst>
          </p:cNvPr>
          <p:cNvSpPr txBox="1"/>
          <p:nvPr/>
        </p:nvSpPr>
        <p:spPr>
          <a:xfrm>
            <a:off x="885825" y="363378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基站流量與負載調配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3C4416-E585-326C-AF36-2E35037956A0}"/>
              </a:ext>
            </a:extLst>
          </p:cNvPr>
          <p:cNvSpPr txBox="1"/>
          <p:nvPr/>
        </p:nvSpPr>
        <p:spPr>
          <a:xfrm>
            <a:off x="885825" y="394811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網路優化：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預測尖峰時段並進行動態分流。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E8701D-9CD6-EBB4-6EB9-5EBA4F3E61BC}"/>
              </a:ext>
            </a:extLst>
          </p:cNvPr>
          <p:cNvSpPr txBox="1"/>
          <p:nvPr/>
        </p:nvSpPr>
        <p:spPr>
          <a:xfrm>
            <a:off x="885825" y="4681537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資費方案交叉銷售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C62A2C-90F1-8054-3D8F-61FE728ABC8B}"/>
              </a:ext>
            </a:extLst>
          </p:cNvPr>
          <p:cNvSpPr txBox="1"/>
          <p:nvPr/>
        </p:nvSpPr>
        <p:spPr>
          <a:xfrm>
            <a:off x="885825" y="49958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精準推薦：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推薦最適加值服務與方案升級。</a:t>
            </a:r>
          </a:p>
        </p:txBody>
      </p:sp>
    </p:spTree>
    <p:extLst>
      <p:ext uri="{BB962C8B-B14F-4D97-AF65-F5344CB8AC3E}">
        <p14:creationId xmlns:p14="http://schemas.microsoft.com/office/powerpoint/2010/main" val="28447292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197A96-3122-E895-C366-F28B799F2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5.</a:t>
            </a:r>
            <a:r>
              <a:rPr lang="zh-TW" altLang="en-US" dirty="0"/>
              <a:t>醫療健康與生物資訊 </a:t>
            </a:r>
            <a:r>
              <a:rPr lang="en-US" altLang="zh-TW" dirty="0"/>
              <a:t>(Healthcare)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9FFD773-4F3F-F851-8EE0-C055107B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40</a:t>
            </a:fld>
            <a:endParaRPr lang="en-US" altLang="zh-TW" dirty="0"/>
          </a:p>
        </p:txBody>
      </p:sp>
      <p:sp>
        <p:nvSpPr>
          <p:cNvPr id="4" name="Rounded Rectangle 1">
            <a:extLst>
              <a:ext uri="{FF2B5EF4-FFF2-40B4-BE49-F238E27FC236}">
                <a16:creationId xmlns:a16="http://schemas.microsoft.com/office/drawing/2014/main" id="{D83A685D-C256-F752-B7E7-CCF8A26E514A}"/>
              </a:ext>
            </a:extLst>
          </p:cNvPr>
          <p:cNvSpPr/>
          <p:nvPr/>
        </p:nvSpPr>
        <p:spPr>
          <a:xfrm>
            <a:off x="5784898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A43CADB8-E6B2-D7D5-550B-46CC21836171}"/>
              </a:ext>
            </a:extLst>
          </p:cNvPr>
          <p:cNvSpPr/>
          <p:nvPr/>
        </p:nvSpPr>
        <p:spPr>
          <a:xfrm>
            <a:off x="5784898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0BE4007A-4D2C-0F10-2A5A-3443C8E3AE17}"/>
              </a:ext>
            </a:extLst>
          </p:cNvPr>
          <p:cNvSpPr/>
          <p:nvPr/>
        </p:nvSpPr>
        <p:spPr>
          <a:xfrm>
            <a:off x="5784898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BD98B9-6BC8-8F41-173C-F34508B68359}"/>
              </a:ext>
            </a:extLst>
          </p:cNvPr>
          <p:cNvSpPr/>
          <p:nvPr/>
        </p:nvSpPr>
        <p:spPr>
          <a:xfrm>
            <a:off x="5757267" y="2395537"/>
            <a:ext cx="47625" cy="8953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3107B55-8245-8E78-B462-09FBD01CE332}"/>
              </a:ext>
            </a:extLst>
          </p:cNvPr>
          <p:cNvSpPr/>
          <p:nvPr/>
        </p:nvSpPr>
        <p:spPr>
          <a:xfrm>
            <a:off x="5757267" y="3443287"/>
            <a:ext cx="47625" cy="8953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476F6E2-3713-ADC6-BE30-6975730E5A97}"/>
              </a:ext>
            </a:extLst>
          </p:cNvPr>
          <p:cNvSpPr/>
          <p:nvPr/>
        </p:nvSpPr>
        <p:spPr>
          <a:xfrm>
            <a:off x="5757267" y="4491037"/>
            <a:ext cx="47625" cy="89535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" name="Picture 7" descr="image.png">
            <a:extLst>
              <a:ext uri="{FF2B5EF4-FFF2-40B4-BE49-F238E27FC236}">
                <a16:creationId xmlns:a16="http://schemas.microsoft.com/office/drawing/2014/main" id="{406845F6-CBC3-331D-D1BF-614FE1C82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5962"/>
            <a:ext cx="4766667" cy="3810000"/>
          </a:xfrm>
          <a:prstGeom prst="rect">
            <a:avLst/>
          </a:prstGeom>
        </p:spPr>
      </p:pic>
      <p:pic>
        <p:nvPicPr>
          <p:cNvPr id="11" name="Picture 8" descr="image.png">
            <a:extLst>
              <a:ext uri="{FF2B5EF4-FFF2-40B4-BE49-F238E27FC236}">
                <a16:creationId xmlns:a16="http://schemas.microsoft.com/office/drawing/2014/main" id="{FF53204D-B118-23F1-2C80-D90B333EA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95487"/>
            <a:ext cx="4747617" cy="37909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C9A25B3-B68E-E575-E0B5-5FDA87837CCD}"/>
              </a:ext>
            </a:extLst>
          </p:cNvPr>
          <p:cNvSpPr txBox="1"/>
          <p:nvPr/>
        </p:nvSpPr>
        <p:spPr>
          <a:xfrm>
            <a:off x="6033492" y="2586037"/>
            <a:ext cx="282128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疾病風險預測與早期篩檢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82C9CE-9D11-413E-15C4-960AD788120F}"/>
              </a:ext>
            </a:extLst>
          </p:cNvPr>
          <p:cNvSpPr txBox="1"/>
          <p:nvPr/>
        </p:nvSpPr>
        <p:spPr>
          <a:xfrm>
            <a:off x="6033492" y="29003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病歷探勘：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協助醫療團隊進行預防性處置。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ED3517-1B72-2187-61BF-13AD6CFDF1F9}"/>
              </a:ext>
            </a:extLst>
          </p:cNvPr>
          <p:cNvSpPr txBox="1"/>
          <p:nvPr/>
        </p:nvSpPr>
        <p:spPr>
          <a:xfrm>
            <a:off x="6033492" y="363378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急診與病房資源調度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1CB92-21C6-31F8-7578-4D389EB65F20}"/>
              </a:ext>
            </a:extLst>
          </p:cNvPr>
          <p:cNvSpPr txBox="1"/>
          <p:nvPr/>
        </p:nvSpPr>
        <p:spPr>
          <a:xfrm>
            <a:off x="6033492" y="394811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需求預測：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優化醫護人力與病床資源配置。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FD980-EC0E-4A9A-6F86-1AB8457805D9}"/>
              </a:ext>
            </a:extLst>
          </p:cNvPr>
          <p:cNvSpPr txBox="1"/>
          <p:nvPr/>
        </p:nvSpPr>
        <p:spPr>
          <a:xfrm>
            <a:off x="6033492" y="46815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臨床試驗與藥物研發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EC8599-CA4A-DE20-6B30-4ABA7653777F}"/>
              </a:ext>
            </a:extLst>
          </p:cNvPr>
          <p:cNvSpPr txBox="1"/>
          <p:nvPr/>
        </p:nvSpPr>
        <p:spPr>
          <a:xfrm>
            <a:off x="6033492" y="4995862"/>
            <a:ext cx="41549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數據建模：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加速分子活性與副作用分析。</a:t>
            </a:r>
          </a:p>
        </p:txBody>
      </p:sp>
    </p:spTree>
    <p:extLst>
      <p:ext uri="{BB962C8B-B14F-4D97-AF65-F5344CB8AC3E}">
        <p14:creationId xmlns:p14="http://schemas.microsoft.com/office/powerpoint/2010/main" val="1588336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09600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09600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600" y="2395537"/>
            <a:ext cx="47625" cy="89535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3443287"/>
            <a:ext cx="47625" cy="89535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09600" y="4491037"/>
            <a:ext cx="47625" cy="89535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5732" y="1985962"/>
            <a:ext cx="4766667" cy="3810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3332" y="1772816"/>
            <a:ext cx="5116660" cy="40856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5825" y="2586037"/>
            <a:ext cx="216726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RFM 客戶價值分群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2900362"/>
            <a:ext cx="439864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受眾分級：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識別核心 VIP 與潛力客戶族群。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633787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數位廣告精準投放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948112"/>
            <a:ext cx="481061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轉化優化：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提高 CTR 與 CVR 廣告投資報酬率。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6815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社群輿情與情緒分析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4995862"/>
            <a:ext cx="46166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文字探勘：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即時掌握品牌滿意度與聲量變化。</a:t>
            </a:r>
          </a:p>
        </p:txBody>
      </p:sp>
      <p:sp>
        <p:nvSpPr>
          <p:cNvPr id="18" name="標題 17">
            <a:extLst>
              <a:ext uri="{FF2B5EF4-FFF2-40B4-BE49-F238E27FC236}">
                <a16:creationId xmlns:a16="http://schemas.microsoft.com/office/drawing/2014/main" id="{67B796A8-C459-5850-959D-E1CAFF2C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6.</a:t>
            </a:r>
            <a:r>
              <a:rPr lang="zh-TW" altLang="en-US" dirty="0"/>
              <a:t>行銷與客戶關係管理 </a:t>
            </a:r>
            <a:r>
              <a:rPr lang="en-US" altLang="zh-TW" dirty="0"/>
              <a:t>(Marketing &amp; CRM)</a:t>
            </a:r>
            <a:endParaRPr lang="zh-TW" altLang="en-US" dirty="0"/>
          </a:p>
        </p:txBody>
      </p:sp>
      <p:sp>
        <p:nvSpPr>
          <p:cNvPr id="21" name="投影片編號版面配置區 20">
            <a:extLst>
              <a:ext uri="{FF2B5EF4-FFF2-40B4-BE49-F238E27FC236}">
                <a16:creationId xmlns:a16="http://schemas.microsoft.com/office/drawing/2014/main" id="{EEC28AFB-E6D3-6011-EC59-7B60394B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531942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57267" y="23955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757267" y="344328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57267" y="4491037"/>
            <a:ext cx="5825132" cy="895350"/>
          </a:xfrm>
          <a:prstGeom prst="roundRect">
            <a:avLst>
              <a:gd name="adj" fmla="val 12765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757267" y="2395537"/>
            <a:ext cx="47625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57267" y="3443287"/>
            <a:ext cx="47625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57267" y="4491037"/>
            <a:ext cx="47625" cy="89535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85962"/>
            <a:ext cx="4766667" cy="3810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995487"/>
            <a:ext cx="4747617" cy="37909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3492" y="25860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車隊路徑與時間優化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3492" y="2900362"/>
            <a:ext cx="41549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動態演算法：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降低里程成本與配送時間。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3492" y="3633787"/>
            <a:ext cx="205184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共享車輛動態調度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3492" y="3948112"/>
            <a:ext cx="4154984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供需預測：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針對站點熱區進行預先補車。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3492" y="4681537"/>
            <a:ext cx="230832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>
                <a:solidFill>
                  <a:srgbClr val="1E293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油耗與營運成本控制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3492" y="4995862"/>
            <a:ext cx="4385816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b="1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駕駛行為分析：</a:t>
            </a:r>
            <a:r>
              <a:rPr b="0" i="0" u="none">
                <a:solidFill>
                  <a:srgbClr val="64748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優化車輛磨損與能源效率。</a:t>
            </a:r>
          </a:p>
        </p:txBody>
      </p:sp>
      <p:sp>
        <p:nvSpPr>
          <p:cNvPr id="18" name="標題 17">
            <a:extLst>
              <a:ext uri="{FF2B5EF4-FFF2-40B4-BE49-F238E27FC236}">
                <a16:creationId xmlns:a16="http://schemas.microsoft.com/office/drawing/2014/main" id="{01119BCE-6131-6552-C717-55452E6B9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>
            <a:normAutofit/>
          </a:bodyPr>
          <a:lstStyle/>
          <a:p>
            <a:r>
              <a:rPr lang="en-US" altLang="zh-TW" dirty="0"/>
              <a:t>7.</a:t>
            </a:r>
            <a:r>
              <a:rPr lang="zh-TW" altLang="en-US" dirty="0"/>
              <a:t>智慧交通與物流 </a:t>
            </a:r>
            <a:r>
              <a:rPr lang="en-US" altLang="zh-TW" dirty="0"/>
              <a:t>(Transportation)</a:t>
            </a:r>
            <a:endParaRPr lang="zh-TW" altLang="en-US" dirty="0"/>
          </a:p>
        </p:txBody>
      </p: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C96489C7-E87F-B562-9E54-6060EA76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43724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845D99-0D09-468A-8EE8-CC2B3227A7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5.</a:t>
            </a:r>
            <a:r>
              <a:rPr lang="zh-TW" altLang="en-US" dirty="0"/>
              <a:t>模型績效指標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AF4ECD-DD45-42F4-A8D6-556AAB9746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6FC42D-1EAE-7E19-AFC9-8CA9FBC652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070850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D29439F-63CD-3A74-AF89-4F6C61AB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變數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78259FC-4322-B400-E2D7-80E4DBD5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44</a:t>
            </a:fld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9D5F47-6DE5-3DD0-FEE0-AF08E0765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46" y="1340768"/>
            <a:ext cx="9617509" cy="541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14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364151-CC4C-49EF-8A70-5CDBB1AE6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數值模型績效指標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E4C906-EDAB-4188-A0EA-46387A41C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C00000"/>
                </a:solidFill>
              </a:rPr>
              <a:t>不可</a:t>
            </a:r>
            <a:r>
              <a:rPr lang="zh-TW" altLang="en-US" dirty="0"/>
              <a:t>直接使用誤差的算術平均</a:t>
            </a:r>
            <a:r>
              <a:rPr lang="en-US" altLang="zh-TW" dirty="0"/>
              <a:t>!</a:t>
            </a:r>
          </a:p>
          <a:p>
            <a:endParaRPr lang="en-US" altLang="zh-TW" dirty="0"/>
          </a:p>
          <a:p>
            <a:r>
              <a:rPr lang="zh-TW" altLang="en-US" dirty="0"/>
              <a:t>均方誤差 </a:t>
            </a:r>
            <a:r>
              <a:rPr lang="en-US" altLang="zh-TW" dirty="0"/>
              <a:t>(Mean Squared</a:t>
            </a:r>
            <a:r>
              <a:rPr lang="zh-TW" altLang="en-US" dirty="0"/>
              <a:t> </a:t>
            </a:r>
            <a:r>
              <a:rPr lang="en-US" altLang="zh-TW" dirty="0"/>
              <a:t>Error, MSE) </a:t>
            </a:r>
          </a:p>
          <a:p>
            <a:endParaRPr lang="en-US" altLang="zh-TW" dirty="0"/>
          </a:p>
          <a:p>
            <a:r>
              <a:rPr lang="zh-TW" altLang="en-US" dirty="0"/>
              <a:t>均方根誤差 </a:t>
            </a:r>
            <a:r>
              <a:rPr lang="en-US" altLang="zh-TW" dirty="0"/>
              <a:t>(Root Mean Squared Error, RMSE) 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平均絕對誤差 </a:t>
            </a:r>
            <a:r>
              <a:rPr lang="en-US" altLang="zh-TW" dirty="0"/>
              <a:t>(Mean Absolute Error, MAE)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7F6060F-CFEF-493A-B25B-9906D2DDA038}"/>
                  </a:ext>
                </a:extLst>
              </p:cNvPr>
              <p:cNvSpPr txBox="1"/>
              <p:nvPr/>
            </p:nvSpPr>
            <p:spPr>
              <a:xfrm>
                <a:off x="6824731" y="2852936"/>
                <a:ext cx="2288896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kumimoji="0" lang="en-US" altLang="zh-TW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TW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0"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0"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altLang="zh-TW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kumimoji="0" lang="en-US" altLang="zh-TW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kumimoji="0" lang="en-US" altLang="zh-TW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kumimoji="0" lang="zh-TW" altLang="en-US" dirty="0">
                  <a:solidFill>
                    <a:srgbClr val="C00000"/>
                  </a:solidFill>
                  <a:latin typeface="Times New Roman"/>
                  <a:ea typeface="新細明體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A7F6060F-CFEF-493A-B25B-9906D2DDA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731" y="2852936"/>
                <a:ext cx="2288896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185C07E-D279-4722-9C60-E3E01F544961}"/>
                  </a:ext>
                </a:extLst>
              </p:cNvPr>
              <p:cNvSpPr txBox="1"/>
              <p:nvPr/>
            </p:nvSpPr>
            <p:spPr>
              <a:xfrm>
                <a:off x="7104112" y="4149080"/>
                <a:ext cx="2613536" cy="1077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i="1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kumimoji="0" lang="en-US" altLang="zh-TW" i="1">
                          <a:solidFill>
                            <a:srgbClr val="66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altLang="zh-TW" i="1">
                              <a:solidFill>
                                <a:srgbClr val="66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0" lang="en-US" altLang="zh-TW" i="1">
                                  <a:solidFill>
                                    <a:srgbClr val="66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kumimoji="0" lang="en-US" altLang="zh-TW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0" lang="en-US" altLang="zh-TW" i="1">
                                          <a:solidFill>
                                            <a:srgbClr val="66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TW" i="1">
                                              <a:solidFill>
                                                <a:srgbClr val="66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TW" i="1">
                                              <a:solidFill>
                                                <a:srgbClr val="66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TW" i="1">
                                              <a:solidFill>
                                                <a:srgbClr val="66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0" lang="en-US" altLang="zh-TW" i="1">
                                          <a:solidFill>
                                            <a:srgbClr val="66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kumimoji="0" lang="en-US" altLang="zh-TW" i="1">
                                              <a:solidFill>
                                                <a:srgbClr val="6600FF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TW" i="1">
                                                  <a:solidFill>
                                                    <a:srgbClr val="66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TW" i="1">
                                                  <a:solidFill>
                                                    <a:srgbClr val="66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altLang="zh-TW" i="1">
                                                  <a:solidFill>
                                                    <a:srgbClr val="6600FF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kumimoji="0" lang="en-US" altLang="zh-TW" i="1">
                                      <a:solidFill>
                                        <a:srgbClr val="6600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kumimoji="0" lang="zh-TW" altLang="en-US" dirty="0">
                  <a:solidFill>
                    <a:srgbClr val="6600FF"/>
                  </a:solidFill>
                  <a:latin typeface="Times New Roman"/>
                  <a:ea typeface="新細明體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185C07E-D279-4722-9C60-E3E01F544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112" y="4149080"/>
                <a:ext cx="2613536" cy="1077603"/>
              </a:xfrm>
              <a:prstGeom prst="rect">
                <a:avLst/>
              </a:prstGeom>
              <a:blipFill>
                <a:blip r:embed="rId3"/>
                <a:stretch>
                  <a:fillRect b="-5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EAC9E73-5F29-403F-BB78-717DDB610B22}"/>
                  </a:ext>
                </a:extLst>
              </p:cNvPr>
              <p:cNvSpPr txBox="1"/>
              <p:nvPr/>
            </p:nvSpPr>
            <p:spPr>
              <a:xfrm>
                <a:off x="6824731" y="5853695"/>
                <a:ext cx="2160079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𝑀𝐴𝐸</m:t>
                      </m:r>
                      <m:r>
                        <a:rPr kumimoji="0" lang="en-US" altLang="zh-TW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TW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altLang="zh-TW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TW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TW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altLang="zh-TW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altLang="zh-TW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kumimoji="0" lang="en-US" altLang="zh-TW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0" lang="en-US" altLang="zh-TW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nary>
                    </m:oMath>
                  </m:oMathPara>
                </a14:m>
                <a:endParaRPr kumimoji="0" lang="zh-TW" altLang="en-US" dirty="0">
                  <a:solidFill>
                    <a:srgbClr val="0070C0"/>
                  </a:solidFill>
                  <a:latin typeface="Times New Roman"/>
                  <a:ea typeface="新細明體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6EAC9E73-5F29-403F-BB78-717DDB610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731" y="5853695"/>
                <a:ext cx="2160079" cy="7562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群組 7">
            <a:extLst>
              <a:ext uri="{FF2B5EF4-FFF2-40B4-BE49-F238E27FC236}">
                <a16:creationId xmlns:a16="http://schemas.microsoft.com/office/drawing/2014/main" id="{48862B96-E50E-C955-0C8D-F64A4B88150F}"/>
              </a:ext>
            </a:extLst>
          </p:cNvPr>
          <p:cNvGrpSpPr/>
          <p:nvPr/>
        </p:nvGrpSpPr>
        <p:grpSpPr>
          <a:xfrm>
            <a:off x="5745018" y="1736663"/>
            <a:ext cx="2971127" cy="756233"/>
            <a:chOff x="5745018" y="2098694"/>
            <a:chExt cx="2971127" cy="756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01C85B27-FE49-4084-B900-1B6772707AF6}"/>
                    </a:ext>
                  </a:extLst>
                </p:cNvPr>
                <p:cNvSpPr txBox="1"/>
                <p:nvPr/>
              </p:nvSpPr>
              <p:spPr>
                <a:xfrm>
                  <a:off x="5832343" y="2098694"/>
                  <a:ext cx="2883802" cy="7562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fontAlgn="auto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𝑇𝑜𝑡𝑎𝑙</m:t>
                        </m:r>
                        <m:r>
                          <a:rPr kumimoji="0"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𝑒𝑟𝑟𝑜𝑟</m:t>
                        </m:r>
                        <m:r>
                          <a:rPr kumimoji="0" lang="en-US" altLang="zh-TW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US" altLang="zh-TW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ctrlPr>
                                  <a:rPr kumimoji="0" lang="en-US" altLang="zh-TW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TW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TW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TW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altLang="zh-TW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kumimoji="0" lang="en-US" altLang="zh-TW" i="1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kumimoji="0" lang="en-US" altLang="zh-TW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TW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kumimoji="0" lang="en-US" altLang="zh-TW" i="1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</m:nary>
                      </m:oMath>
                    </m:oMathPara>
                  </a14:m>
                  <a:endParaRPr kumimoji="0" lang="zh-TW" altLang="en-US" dirty="0">
                    <a:solidFill>
                      <a:srgbClr val="0070C0"/>
                    </a:solidFill>
                    <a:latin typeface="Times New Roman"/>
                    <a:ea typeface="新細明體"/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01C85B27-FE49-4084-B900-1B6772707A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2343" y="2098694"/>
                  <a:ext cx="2883802" cy="7562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C5E10B04-D958-4A40-B211-5B0E6AE0261C}"/>
                </a:ext>
              </a:extLst>
            </p:cNvPr>
            <p:cNvCxnSpPr/>
            <p:nvPr/>
          </p:nvCxnSpPr>
          <p:spPr>
            <a:xfrm flipV="1">
              <a:off x="5832343" y="2272145"/>
              <a:ext cx="1187293" cy="452582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2CEAAB00-91A8-43C2-A241-81DB0F4E25AA}"/>
                </a:ext>
              </a:extLst>
            </p:cNvPr>
            <p:cNvCxnSpPr>
              <a:cxnSpLocks/>
            </p:cNvCxnSpPr>
            <p:nvPr/>
          </p:nvCxnSpPr>
          <p:spPr>
            <a:xfrm>
              <a:off x="5745018" y="2272145"/>
              <a:ext cx="1274618" cy="582782"/>
            </a:xfrm>
            <a:prstGeom prst="line">
              <a:avLst/>
            </a:prstGeom>
            <a:ln w="38100">
              <a:solidFill>
                <a:srgbClr val="C0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17F29C06-3587-86D8-379D-46FFCEDE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920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  <p:bldP spid="7" grpId="0" build="allAtOnce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58A1F8-A2AA-4A12-BF2A-68186525A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類別模型績效指標 </a:t>
            </a:r>
            <a:r>
              <a:rPr lang="en-US" altLang="zh-TW" dirty="0"/>
              <a:t>- </a:t>
            </a:r>
            <a:r>
              <a:rPr lang="zh-TW" altLang="en-US" dirty="0"/>
              <a:t>混淆矩陣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479C164-D740-4DBF-8DE8-41CFC118C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http://rwepa.blogspot.com/2013/01/rocr-roc-curve.html</a:t>
            </a:r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1C68F2-3F08-44AA-823B-516755C51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675" y="1988121"/>
            <a:ext cx="6316651" cy="453650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D3CAC4-3BFB-B0E1-5BC0-28595345B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46</a:t>
            </a:fld>
            <a:endParaRPr lang="en-US" altLang="zh-TW" dirty="0"/>
          </a:p>
        </p:txBody>
      </p:sp>
      <p:sp>
        <p:nvSpPr>
          <p:cNvPr id="3" name="語音泡泡: 圓角矩形 2">
            <a:extLst>
              <a:ext uri="{FF2B5EF4-FFF2-40B4-BE49-F238E27FC236}">
                <a16:creationId xmlns:a16="http://schemas.microsoft.com/office/drawing/2014/main" id="{6D7E5B0C-8DAF-D642-F074-30A1FB843424}"/>
              </a:ext>
            </a:extLst>
          </p:cNvPr>
          <p:cNvSpPr/>
          <p:nvPr/>
        </p:nvSpPr>
        <p:spPr>
          <a:xfrm>
            <a:off x="8328248" y="4869160"/>
            <a:ext cx="2880320" cy="931114"/>
          </a:xfrm>
          <a:prstGeom prst="wedgeRoundRectCallout">
            <a:avLst>
              <a:gd name="adj1" fmla="val -58839"/>
              <a:gd name="adj2" fmla="val 18600"/>
              <a:gd name="adj3" fmla="val 1666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理解混淆矩陣常用指標</a:t>
            </a:r>
          </a:p>
        </p:txBody>
      </p:sp>
    </p:spTree>
    <p:extLst>
      <p:ext uri="{BB962C8B-B14F-4D97-AF65-F5344CB8AC3E}">
        <p14:creationId xmlns:p14="http://schemas.microsoft.com/office/powerpoint/2010/main" val="36782013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B016AE-0164-43D4-A89C-912BBEAE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zh-TW" altLang="en-US" dirty="0"/>
              <a:t>如何學習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31DAFA22-9981-4667-8866-4057C7F94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4831740"/>
          </a:xfrm>
        </p:spPr>
        <p:txBody>
          <a:bodyPr/>
          <a:lstStyle/>
          <a:p>
            <a:r>
              <a:rPr lang="zh-TW" altLang="en-US" dirty="0"/>
              <a:t>熟悉教材內容</a:t>
            </a:r>
            <a:endParaRPr lang="en-US" altLang="zh-TW" dirty="0"/>
          </a:p>
          <a:p>
            <a:r>
              <a:rPr lang="zh-TW" altLang="en-US" dirty="0"/>
              <a:t>將教材內容的資料集改為工作資料集</a:t>
            </a:r>
            <a:r>
              <a:rPr lang="en-US" altLang="zh-TW" dirty="0"/>
              <a:t>(</a:t>
            </a:r>
            <a:r>
              <a:rPr lang="zh-TW" altLang="en-US" dirty="0"/>
              <a:t>企業</a:t>
            </a:r>
            <a:r>
              <a:rPr lang="en-US" altLang="zh-TW" dirty="0"/>
              <a:t>, </a:t>
            </a:r>
            <a:r>
              <a:rPr lang="zh-TW" altLang="en-US" dirty="0"/>
              <a:t>學術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遇到問題時</a:t>
            </a:r>
            <a:r>
              <a:rPr lang="en-US" altLang="zh-TW" dirty="0"/>
              <a:t>, </a:t>
            </a:r>
            <a:r>
              <a:rPr lang="zh-TW" altLang="en-US" dirty="0"/>
              <a:t>想辦法</a:t>
            </a:r>
            <a:r>
              <a:rPr lang="zh-TW" altLang="en-US" dirty="0">
                <a:solidFill>
                  <a:srgbClr val="C00000"/>
                </a:solidFill>
              </a:rPr>
              <a:t>尋找答案</a:t>
            </a:r>
            <a:endParaRPr lang="en-US" altLang="zh-TW" dirty="0">
              <a:solidFill>
                <a:srgbClr val="C00000"/>
              </a:solidFill>
            </a:endParaRPr>
          </a:p>
          <a:p>
            <a:r>
              <a:rPr lang="zh-TW" altLang="en-US" dirty="0"/>
              <a:t>掌握 </a:t>
            </a:r>
            <a:r>
              <a:rPr lang="en-US" altLang="zh-TW" dirty="0"/>
              <a:t>APC</a:t>
            </a:r>
            <a:r>
              <a:rPr lang="zh-TW" altLang="en-US" dirty="0"/>
              <a:t>方法</a:t>
            </a:r>
            <a:endParaRPr lang="en-US" altLang="zh-TW" dirty="0"/>
          </a:p>
          <a:p>
            <a:r>
              <a:rPr lang="zh-TW" altLang="en-US" dirty="0"/>
              <a:t>掌握 ①摘要</a:t>
            </a:r>
            <a:r>
              <a:rPr lang="en-US" altLang="zh-TW" dirty="0"/>
              <a:t> </a:t>
            </a:r>
            <a:r>
              <a:rPr lang="zh-TW" altLang="en-US" dirty="0"/>
              <a:t>②繪圖</a:t>
            </a:r>
            <a:r>
              <a:rPr lang="en-US" altLang="zh-TW" dirty="0"/>
              <a:t> </a:t>
            </a:r>
            <a:r>
              <a:rPr lang="zh-TW" altLang="en-US" dirty="0"/>
              <a:t>③建模</a:t>
            </a:r>
            <a:endParaRPr lang="en-US" altLang="zh-TW" dirty="0"/>
          </a:p>
          <a:p>
            <a:r>
              <a:rPr lang="zh-TW" altLang="en-US" dirty="0"/>
              <a:t>參考網路應用文章 </a:t>
            </a:r>
            <a:r>
              <a:rPr lang="en-US" altLang="zh-TW" dirty="0"/>
              <a:t>(</a:t>
            </a:r>
            <a:r>
              <a:rPr lang="zh-TW" altLang="en-US" dirty="0"/>
              <a:t>進階</a:t>
            </a:r>
            <a:r>
              <a:rPr lang="en-US" altLang="zh-TW" dirty="0"/>
              <a:t>) &amp; </a:t>
            </a:r>
            <a:r>
              <a:rPr lang="zh-TW" altLang="en-US" dirty="0"/>
              <a:t>學術論文</a:t>
            </a:r>
          </a:p>
        </p:txBody>
      </p:sp>
      <p:pic>
        <p:nvPicPr>
          <p:cNvPr id="9" name="圖形 8" descr="畢業帽">
            <a:extLst>
              <a:ext uri="{FF2B5EF4-FFF2-40B4-BE49-F238E27FC236}">
                <a16:creationId xmlns:a16="http://schemas.microsoft.com/office/drawing/2014/main" id="{62363A8A-B6BE-40EC-8A9C-D854211F73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6272" y="5018092"/>
            <a:ext cx="1702198" cy="1702198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4EAC2648-A57E-4C79-9DDF-86146FF1D542}"/>
              </a:ext>
            </a:extLst>
          </p:cNvPr>
          <p:cNvGrpSpPr/>
          <p:nvPr/>
        </p:nvGrpSpPr>
        <p:grpSpPr>
          <a:xfrm>
            <a:off x="6860512" y="5312126"/>
            <a:ext cx="1213218" cy="1213218"/>
            <a:chOff x="6315766" y="5187582"/>
            <a:chExt cx="1213218" cy="1213218"/>
          </a:xfrm>
        </p:grpSpPr>
        <p:pic>
          <p:nvPicPr>
            <p:cNvPr id="5" name="圖形 4" descr="上升趨勢">
              <a:extLst>
                <a:ext uri="{FF2B5EF4-FFF2-40B4-BE49-F238E27FC236}">
                  <a16:creationId xmlns:a16="http://schemas.microsoft.com/office/drawing/2014/main" id="{5E504FE1-5501-4C00-9A31-B1C8A3AB8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15766" y="5187582"/>
              <a:ext cx="1063218" cy="1063218"/>
            </a:xfrm>
            <a:prstGeom prst="rect">
              <a:avLst/>
            </a:prstGeom>
          </p:spPr>
        </p:pic>
        <p:pic>
          <p:nvPicPr>
            <p:cNvPr id="8" name="圖形 7" descr="業績成長">
              <a:extLst>
                <a:ext uri="{FF2B5EF4-FFF2-40B4-BE49-F238E27FC236}">
                  <a16:creationId xmlns:a16="http://schemas.microsoft.com/office/drawing/2014/main" id="{3399F736-5FDB-476D-9045-5E8420875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465766" y="5337582"/>
              <a:ext cx="1063218" cy="1063218"/>
            </a:xfrm>
            <a:prstGeom prst="rect">
              <a:avLst/>
            </a:prstGeom>
          </p:spPr>
        </p:pic>
      </p:grpSp>
      <p:sp>
        <p:nvSpPr>
          <p:cNvPr id="15" name="想法泡泡: 雲朵 14">
            <a:extLst>
              <a:ext uri="{FF2B5EF4-FFF2-40B4-BE49-F238E27FC236}">
                <a16:creationId xmlns:a16="http://schemas.microsoft.com/office/drawing/2014/main" id="{13B88BB8-E975-4BFC-AF77-D60A5E57F44A}"/>
              </a:ext>
            </a:extLst>
          </p:cNvPr>
          <p:cNvSpPr/>
          <p:nvPr/>
        </p:nvSpPr>
        <p:spPr>
          <a:xfrm>
            <a:off x="1017548" y="5293945"/>
            <a:ext cx="2304256" cy="989381"/>
          </a:xfrm>
          <a:prstGeom prst="cloudCallout">
            <a:avLst>
              <a:gd name="adj1" fmla="val -31780"/>
              <a:gd name="adj2" fmla="val 4073"/>
            </a:avLst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>
                <a:solidFill>
                  <a:srgbClr val="C00000"/>
                </a:solidFill>
                <a:latin typeface="Verdana Pro Black" panose="020B0A04030504040204" pitchFamily="34" charset="0"/>
              </a:rPr>
              <a:t>WHY!</a:t>
            </a:r>
            <a:endParaRPr lang="zh-TW" altLang="en-US" sz="2800" dirty="0">
              <a:solidFill>
                <a:srgbClr val="C00000"/>
              </a:solidFill>
              <a:latin typeface="Verdana Pro Black" panose="020B0A04030504040204" pitchFamily="34" charset="0"/>
            </a:endParaRPr>
          </a:p>
        </p:txBody>
      </p:sp>
      <p:pic>
        <p:nvPicPr>
          <p:cNvPr id="17" name="圖形 16" descr="返回 (從右至左)">
            <a:extLst>
              <a:ext uri="{FF2B5EF4-FFF2-40B4-BE49-F238E27FC236}">
                <a16:creationId xmlns:a16="http://schemas.microsoft.com/office/drawing/2014/main" id="{5EA468D6-6569-4A46-9B06-1DDC964166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91375" y="5331200"/>
            <a:ext cx="914400" cy="914400"/>
          </a:xfrm>
          <a:prstGeom prst="rect">
            <a:avLst/>
          </a:prstGeom>
        </p:spPr>
      </p:pic>
      <p:pic>
        <p:nvPicPr>
          <p:cNvPr id="18" name="圖形 17" descr="返回 (從右至左)">
            <a:extLst>
              <a:ext uri="{FF2B5EF4-FFF2-40B4-BE49-F238E27FC236}">
                <a16:creationId xmlns:a16="http://schemas.microsoft.com/office/drawing/2014/main" id="{7F6B0A1E-9E9C-438E-89E5-15E27A9560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79749" y="5293945"/>
            <a:ext cx="914400" cy="914400"/>
          </a:xfrm>
          <a:prstGeom prst="rect">
            <a:avLst/>
          </a:prstGeom>
        </p:spPr>
      </p:pic>
      <p:pic>
        <p:nvPicPr>
          <p:cNvPr id="1026" name="Picture 2" descr="新台幣匯率收27.816元、升值9.2分創24年新高- 財經- 中時新聞網">
            <a:extLst>
              <a:ext uri="{FF2B5EF4-FFF2-40B4-BE49-F238E27FC236}">
                <a16:creationId xmlns:a16="http://schemas.microsoft.com/office/drawing/2014/main" id="{3FA2A5F7-04B3-413D-A10F-E921FA048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105" y="5401547"/>
            <a:ext cx="1211594" cy="844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615686-6871-42DA-AEAA-769114C73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47</a:t>
            </a:fld>
            <a:endParaRPr lang="en-US" altLang="zh-TW" dirty="0"/>
          </a:p>
        </p:txBody>
      </p:sp>
      <p:sp>
        <p:nvSpPr>
          <p:cNvPr id="10" name="語音泡泡: 圓角矩形 9">
            <a:extLst>
              <a:ext uri="{FF2B5EF4-FFF2-40B4-BE49-F238E27FC236}">
                <a16:creationId xmlns:a16="http://schemas.microsoft.com/office/drawing/2014/main" id="{C599AF2B-DAEB-3F9B-D4C9-C416A20B35F8}"/>
              </a:ext>
            </a:extLst>
          </p:cNvPr>
          <p:cNvSpPr/>
          <p:nvPr/>
        </p:nvSpPr>
        <p:spPr>
          <a:xfrm>
            <a:off x="5879976" y="2492896"/>
            <a:ext cx="5832648" cy="1415257"/>
          </a:xfrm>
          <a:prstGeom prst="wedgeRoundRectCallout">
            <a:avLst>
              <a:gd name="adj1" fmla="val -52906"/>
              <a:gd name="adj2" fmla="val -34089"/>
              <a:gd name="adj3" fmla="val 16667"/>
            </a:avLst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D006F96F-DD6B-F06C-1343-E287A91B1F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77255" y="2636912"/>
            <a:ext cx="5516118" cy="107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124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123CDA-DEFF-3D6C-A66F-16486AF0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學習目標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2E67485-71B0-A354-41E9-DB73739D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48</a:t>
            </a:fld>
            <a:endParaRPr lang="en-US" altLang="zh-TW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A70A5247-514C-2988-0311-09512F7233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2256314"/>
              </p:ext>
            </p:extLst>
          </p:nvPr>
        </p:nvGraphicFramePr>
        <p:xfrm>
          <a:off x="5375920" y="1340768"/>
          <a:ext cx="7304360" cy="48695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圖片 4">
            <a:extLst>
              <a:ext uri="{FF2B5EF4-FFF2-40B4-BE49-F238E27FC236}">
                <a16:creationId xmlns:a16="http://schemas.microsoft.com/office/drawing/2014/main" id="{3405E884-21BF-ECD2-DF30-01EB9FE7AD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4237" y="1628800"/>
            <a:ext cx="847725" cy="7715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ABCE462-F939-F86F-3A21-EC2E52F8C50F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21621" y="5207837"/>
            <a:ext cx="929603" cy="79208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B659A97-76A9-2C24-EA7B-58F0198299F2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44072" y="2918888"/>
            <a:ext cx="900126" cy="92155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9EAFFFC-B49F-5DFB-9BB1-FAFF2526BD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0050" y="2894986"/>
            <a:ext cx="962546" cy="9394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912984F-00BC-89C6-D54B-234A62E9CE7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590299" y="5218518"/>
            <a:ext cx="1134244" cy="597427"/>
          </a:xfrm>
          <a:prstGeom prst="rect">
            <a:avLst/>
          </a:prstGeom>
        </p:spPr>
      </p:pic>
      <p:pic>
        <p:nvPicPr>
          <p:cNvPr id="10" name="圖形 9" descr="核取記號">
            <a:extLst>
              <a:ext uri="{FF2B5EF4-FFF2-40B4-BE49-F238E27FC236}">
                <a16:creationId xmlns:a16="http://schemas.microsoft.com/office/drawing/2014/main" id="{508D57E8-95E2-485C-E287-AD95262D52A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40416" y="1628800"/>
            <a:ext cx="529208" cy="529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FCAF72F-BE23-F8B3-9101-284AEB62453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391191" y="1900289"/>
            <a:ext cx="2987824" cy="198939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CF500C5-E8BF-F6FB-B998-7D7E4A6BF82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7225" y="2085208"/>
            <a:ext cx="1852381" cy="1799456"/>
          </a:xfrm>
          <a:prstGeom prst="rect">
            <a:avLst/>
          </a:prstGeom>
        </p:spPr>
      </p:pic>
      <p:grpSp>
        <p:nvGrpSpPr>
          <p:cNvPr id="14" name="群組 13">
            <a:extLst>
              <a:ext uri="{FF2B5EF4-FFF2-40B4-BE49-F238E27FC236}">
                <a16:creationId xmlns:a16="http://schemas.microsoft.com/office/drawing/2014/main" id="{D0C1C2BC-BFD6-8523-2846-07D125C88CA0}"/>
              </a:ext>
            </a:extLst>
          </p:cNvPr>
          <p:cNvGrpSpPr>
            <a:grpSpLocks noChangeAspect="1"/>
          </p:cNvGrpSpPr>
          <p:nvPr/>
        </p:nvGrpSpPr>
        <p:grpSpPr>
          <a:xfrm>
            <a:off x="838200" y="4700685"/>
            <a:ext cx="1445901" cy="1035666"/>
            <a:chOff x="1457400" y="1725069"/>
            <a:chExt cx="2378871" cy="1703931"/>
          </a:xfrm>
          <a:solidFill>
            <a:srgbClr val="C00000"/>
          </a:solidFill>
        </p:grpSpPr>
        <p:sp>
          <p:nvSpPr>
            <p:cNvPr id="15" name="流程圖: 結束點 14">
              <a:extLst>
                <a:ext uri="{FF2B5EF4-FFF2-40B4-BE49-F238E27FC236}">
                  <a16:creationId xmlns:a16="http://schemas.microsoft.com/office/drawing/2014/main" id="{F5033008-54E7-735D-64CC-6B637E50C6DC}"/>
                </a:ext>
              </a:extLst>
            </p:cNvPr>
            <p:cNvSpPr/>
            <p:nvPr/>
          </p:nvSpPr>
          <p:spPr>
            <a:xfrm>
              <a:off x="1460007" y="1725069"/>
              <a:ext cx="2376264" cy="72008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solidFill>
                  <a:schemeClr val="tx2"/>
                </a:solidFill>
                <a:ea typeface="微軟正黑體" panose="020B0604030504040204" pitchFamily="34" charset="-120"/>
              </a:endParaRPr>
            </a:p>
          </p:txBody>
        </p:sp>
        <p:sp>
          <p:nvSpPr>
            <p:cNvPr id="16" name="流程圖: 結束點 15">
              <a:extLst>
                <a:ext uri="{FF2B5EF4-FFF2-40B4-BE49-F238E27FC236}">
                  <a16:creationId xmlns:a16="http://schemas.microsoft.com/office/drawing/2014/main" id="{A0E9CC2E-B714-9481-0052-DC791537E3EF}"/>
                </a:ext>
              </a:extLst>
            </p:cNvPr>
            <p:cNvSpPr/>
            <p:nvPr/>
          </p:nvSpPr>
          <p:spPr>
            <a:xfrm>
              <a:off x="1457400" y="2708920"/>
              <a:ext cx="2376264" cy="720080"/>
            </a:xfrm>
            <a:prstGeom prst="flowChartTerminator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solidFill>
                  <a:schemeClr val="tx2"/>
                </a:solidFill>
                <a:ea typeface="微軟正黑體" panose="020B0604030504040204" pitchFamily="34" charset="-120"/>
              </a:endParaRPr>
            </a:p>
          </p:txBody>
        </p:sp>
      </p:grpSp>
      <p:pic>
        <p:nvPicPr>
          <p:cNvPr id="17" name="Picture 2" descr="ãvalueãçåçæå°çµæ">
            <a:extLst>
              <a:ext uri="{FF2B5EF4-FFF2-40B4-BE49-F238E27FC236}">
                <a16:creationId xmlns:a16="http://schemas.microsoft.com/office/drawing/2014/main" id="{7ED3EDDE-0AE5-B627-575B-7B64A1924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5869" y="4097128"/>
            <a:ext cx="3401648" cy="190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2466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180474-A705-4ADD-930A-82B64513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1"/>
            <a:ext cx="10515600" cy="780472"/>
          </a:xfrm>
        </p:spPr>
        <p:txBody>
          <a:bodyPr/>
          <a:lstStyle/>
          <a:p>
            <a:r>
              <a:rPr lang="zh-TW" altLang="en-US" dirty="0"/>
              <a:t>參考資料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FB7506F-5197-DF61-B331-DE5E1D089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105" y="6476422"/>
            <a:ext cx="2743200" cy="365125"/>
          </a:xfrm>
        </p:spPr>
        <p:txBody>
          <a:bodyPr/>
          <a:lstStyle/>
          <a:p>
            <a:fld id="{B1E12A47-2836-4B6C-9741-462D60D86441}" type="slidenum">
              <a:rPr lang="en-US" altLang="zh-TW" smtClean="0"/>
              <a:pPr/>
              <a:t>49</a:t>
            </a:fld>
            <a:endParaRPr lang="en-US" altLang="zh-TW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6B10BC8-21AE-4BBB-99D1-35AE6AEC6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5223"/>
            <a:ext cx="10515600" cy="5055576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RWEPA: </a:t>
            </a:r>
            <a:br>
              <a:rPr lang="en-US" altLang="zh-TW" sz="2000" dirty="0"/>
            </a:br>
            <a:r>
              <a:rPr lang="en-US" altLang="zh-TW" sz="2000" dirty="0">
                <a:hlinkClick r:id="rId2"/>
              </a:rPr>
              <a:t>http://rwepa.blogspot.com/</a:t>
            </a:r>
            <a:r>
              <a:rPr lang="en-US" altLang="zh-TW" sz="2000" dirty="0"/>
              <a:t> </a:t>
            </a:r>
          </a:p>
          <a:p>
            <a:r>
              <a:rPr lang="en-US" altLang="zh-TW" sz="2000" dirty="0"/>
              <a:t>YouTube: </a:t>
            </a:r>
            <a:br>
              <a:rPr lang="en-US" altLang="zh-TW" sz="2000" dirty="0"/>
            </a:br>
            <a:r>
              <a:rPr lang="en-US" altLang="zh-TW" sz="2000" dirty="0">
                <a:hlinkClick r:id="rId3"/>
              </a:rPr>
              <a:t>https://www.youtube.com/@alan9956</a:t>
            </a:r>
            <a:endParaRPr lang="en-US" altLang="zh-TW" sz="2000" dirty="0"/>
          </a:p>
          <a:p>
            <a:r>
              <a:rPr lang="zh-TW" altLang="en-US" sz="2000" dirty="0">
                <a:solidFill>
                  <a:srgbClr val="C00000"/>
                </a:solidFill>
              </a:rPr>
              <a:t>教學 </a:t>
            </a:r>
            <a:r>
              <a:rPr lang="en-US" altLang="zh-TW" sz="2000" dirty="0">
                <a:solidFill>
                  <a:srgbClr val="C00000"/>
                </a:solidFill>
              </a:rPr>
              <a:t>Power BI</a:t>
            </a:r>
            <a:r>
              <a:rPr lang="en-US" altLang="zh-TW" sz="2000" dirty="0"/>
              <a:t>: </a:t>
            </a:r>
            <a:br>
              <a:rPr lang="en-US" altLang="zh-TW" sz="2000" dirty="0"/>
            </a:br>
            <a:r>
              <a:rPr lang="en-US" altLang="zh-TW" sz="2000" dirty="0">
                <a:highlight>
                  <a:srgbClr val="FFFF00"/>
                </a:highlight>
                <a:hlinkClick r:id="rId4"/>
              </a:rPr>
              <a:t>https://github.com/rwepa/teaching-powerbi</a:t>
            </a:r>
            <a:r>
              <a:rPr lang="en-US" altLang="zh-TW" sz="2000" dirty="0">
                <a:highlight>
                  <a:srgbClr val="FFFF00"/>
                </a:highlight>
              </a:rPr>
              <a:t> </a:t>
            </a:r>
          </a:p>
          <a:p>
            <a:r>
              <a:rPr lang="zh-TW" altLang="en-US" sz="2000" dirty="0"/>
              <a:t>★★★</a:t>
            </a:r>
            <a:r>
              <a:rPr lang="en-US" altLang="zh-TW" sz="2000" dirty="0"/>
              <a:t>R</a:t>
            </a:r>
            <a:r>
              <a:rPr lang="zh-TW" altLang="en-US" sz="2000" dirty="0"/>
              <a:t>入門資料分析與視覺化</a:t>
            </a:r>
            <a:r>
              <a:rPr lang="en-US" altLang="zh-TW" sz="2000" dirty="0"/>
              <a:t>(</a:t>
            </a:r>
            <a:r>
              <a:rPr lang="zh-TW" altLang="en-US" sz="2000" dirty="0"/>
              <a:t>付費</a:t>
            </a:r>
            <a:r>
              <a:rPr lang="en-US" altLang="zh-TW" sz="2000" dirty="0"/>
              <a:t>,</a:t>
            </a:r>
            <a:r>
              <a:rPr lang="zh-TW" altLang="en-US" sz="2000" dirty="0"/>
              <a:t>字幕</a:t>
            </a:r>
            <a:r>
              <a:rPr lang="en-US" altLang="zh-TW" sz="2000" dirty="0"/>
              <a:t>): </a:t>
            </a:r>
            <a:r>
              <a:rPr lang="en-US" altLang="zh-TW" sz="2000" dirty="0">
                <a:hlinkClick r:id="rId5"/>
              </a:rPr>
              <a:t>https://mastertalks.tw/products/r?ref=MCLEE</a:t>
            </a:r>
            <a:r>
              <a:rPr lang="en-US" altLang="zh-TW" sz="2000" dirty="0"/>
              <a:t>  </a:t>
            </a:r>
          </a:p>
          <a:p>
            <a:r>
              <a:rPr lang="zh-TW" altLang="en-US" sz="2000" dirty="0"/>
              <a:t>★★★</a:t>
            </a:r>
            <a:r>
              <a:rPr lang="en-US" altLang="zh-TW" sz="2000" dirty="0"/>
              <a:t>R</a:t>
            </a:r>
            <a:r>
              <a:rPr lang="zh-TW" altLang="en-US" sz="2000" dirty="0"/>
              <a:t>商業預測與應用</a:t>
            </a:r>
            <a:r>
              <a:rPr lang="en-US" altLang="zh-TW" sz="2000" dirty="0"/>
              <a:t>(</a:t>
            </a:r>
            <a:r>
              <a:rPr lang="zh-TW" altLang="en-US" sz="2000" dirty="0"/>
              <a:t>付費</a:t>
            </a:r>
            <a:r>
              <a:rPr lang="en-US" altLang="zh-TW" sz="2000" dirty="0"/>
              <a:t>,</a:t>
            </a:r>
            <a:r>
              <a:rPr lang="zh-TW" altLang="en-US" sz="2000" dirty="0"/>
              <a:t>字幕</a:t>
            </a:r>
            <a:r>
              <a:rPr lang="en-US" altLang="zh-TW" sz="2000" dirty="0"/>
              <a:t>): </a:t>
            </a:r>
            <a:br>
              <a:rPr lang="en-US" altLang="zh-TW" sz="2000" dirty="0"/>
            </a:br>
            <a:r>
              <a:rPr lang="en-US" altLang="zh-TW" sz="2000" dirty="0">
                <a:hlinkClick r:id="rId6"/>
              </a:rPr>
              <a:t>https://mastertalks.tw/products/r-2?ref=MCLEE</a:t>
            </a:r>
            <a:r>
              <a:rPr lang="en-US" altLang="zh-TW" sz="2000" dirty="0"/>
              <a:t> </a:t>
            </a:r>
          </a:p>
          <a:p>
            <a:r>
              <a:rPr lang="en-US" altLang="zh-TW" sz="2000" dirty="0"/>
              <a:t>Python</a:t>
            </a:r>
            <a:r>
              <a:rPr lang="zh-TW" altLang="en-US" sz="2000" dirty="0"/>
              <a:t>程式設計</a:t>
            </a:r>
            <a:r>
              <a:rPr lang="en-US" altLang="zh-TW" sz="2000" dirty="0"/>
              <a:t>PDF(</a:t>
            </a:r>
            <a:r>
              <a:rPr lang="zh-TW" altLang="en-US" sz="2000" dirty="0"/>
              <a:t>免費</a:t>
            </a:r>
            <a:r>
              <a:rPr lang="en-US" altLang="zh-TW" sz="2000" dirty="0"/>
              <a:t>): </a:t>
            </a:r>
            <a:r>
              <a:rPr lang="en-US" altLang="zh-TW" sz="2000" dirty="0">
                <a:hlinkClick r:id="rId7"/>
              </a:rPr>
              <a:t>https://rwepa.blogspot.com/2020/02/pythonprogramminglee.html</a:t>
            </a:r>
            <a:r>
              <a:rPr lang="en-US" altLang="zh-TW" sz="2000" dirty="0"/>
              <a:t> </a:t>
            </a:r>
          </a:p>
          <a:p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073641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 idx="4294967295"/>
          </p:nvPr>
        </p:nvSpPr>
        <p:spPr>
          <a:xfrm>
            <a:off x="1803400" y="1484784"/>
            <a:ext cx="8585200" cy="281964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TW" altLang="en-US" sz="7300" dirty="0"/>
              <a:t>謝謝您的聆聽</a:t>
            </a:r>
            <a:br>
              <a:rPr lang="en-US" altLang="zh-TW" sz="6000" dirty="0"/>
            </a:br>
            <a:r>
              <a:rPr lang="en-US" altLang="zh-TW" b="1" dirty="0">
                <a:solidFill>
                  <a:srgbClr val="C00000"/>
                </a:solidFill>
              </a:rPr>
              <a:t>Q &amp; A</a:t>
            </a:r>
            <a:endParaRPr lang="zh-TW" altLang="en-US" sz="6000" b="1" dirty="0">
              <a:solidFill>
                <a:srgbClr val="C00000"/>
              </a:solidFill>
            </a:endParaRPr>
          </a:p>
        </p:txBody>
      </p:sp>
      <p:sp>
        <p:nvSpPr>
          <p:cNvPr id="6" name="副標題 5">
            <a:extLst>
              <a:ext uri="{FF2B5EF4-FFF2-40B4-BE49-F238E27FC236}">
                <a16:creationId xmlns:a16="http://schemas.microsoft.com/office/drawing/2014/main" id="{41E498DD-5EC0-4705-ACAE-08DD69161EF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35188" y="4437533"/>
            <a:ext cx="7921625" cy="1655763"/>
          </a:xfrm>
        </p:spPr>
        <p:txBody>
          <a:bodyPr/>
          <a:lstStyle/>
          <a:p>
            <a:pPr marL="0" indent="0" algn="ctr">
              <a:buNone/>
            </a:pPr>
            <a:r>
              <a:rPr lang="zh-TW" altLang="en-US" sz="3600" dirty="0">
                <a:solidFill>
                  <a:schemeClr val="tx2"/>
                </a:solidFill>
                <a:latin typeface="新細明體" panose="02020500000000000000" pitchFamily="18" charset="-120"/>
              </a:rPr>
              <a:t>李明昌</a:t>
            </a:r>
            <a:endParaRPr lang="en-US" altLang="zh-TW" sz="3600" dirty="0">
              <a:solidFill>
                <a:schemeClr val="tx2"/>
              </a:solidFill>
              <a:latin typeface="新細明體" panose="02020500000000000000" pitchFamily="18" charset="-120"/>
            </a:endParaRPr>
          </a:p>
          <a:p>
            <a:pPr marL="0" indent="0" algn="ctr">
              <a:buNone/>
            </a:pPr>
            <a:r>
              <a:rPr lang="en-US" altLang="zh-TW" sz="2400" dirty="0">
                <a:solidFill>
                  <a:srgbClr val="7030A0"/>
                </a:solidFill>
                <a:latin typeface="Script MT Bold" panose="03040602040607080904" pitchFamily="66" charset="0"/>
                <a:ea typeface="標楷體" panose="03000509000000000000" pitchFamily="65" charset="-120"/>
              </a:rPr>
              <a:t>alan9956</a:t>
            </a:r>
            <a:r>
              <a:rPr lang="en-US" altLang="zh-TW" sz="2400" dirty="0">
                <a:solidFill>
                  <a:schemeClr val="tx2"/>
                </a:solidFill>
                <a:latin typeface="Script MT Bold" panose="03040602040607080904" pitchFamily="66" charset="0"/>
                <a:ea typeface="標楷體" panose="03000509000000000000" pitchFamily="65" charset="-120"/>
              </a:rPr>
              <a:t>@gmail.com</a:t>
            </a:r>
          </a:p>
        </p:txBody>
      </p:sp>
      <p:sp>
        <p:nvSpPr>
          <p:cNvPr id="4" name="矩形 3"/>
          <p:cNvSpPr/>
          <p:nvPr/>
        </p:nvSpPr>
        <p:spPr>
          <a:xfrm>
            <a:off x="4066438" y="5661248"/>
            <a:ext cx="41793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</a:t>
            </a:r>
            <a:r>
              <a:rPr lang="en-US" altLang="zh-TW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rwepa</a:t>
            </a:r>
            <a:r>
              <a:rPr lang="en-US" altLang="zh-TW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.blogspot.tw/</a:t>
            </a:r>
            <a:endParaRPr lang="zh-TW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7998D31-40F7-4110-8F39-C0D430F08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4182616"/>
            <a:ext cx="1657350" cy="1733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DE3E22-D698-4B4C-B3D4-E40AD0015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12A47-2836-4B6C-9741-462D60D86441}" type="slidenum">
              <a:rPr lang="en-US" altLang="zh-TW" smtClean="0"/>
              <a:pPr>
                <a:defRPr/>
              </a:pPr>
              <a:t>50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85192439"/>
      </p:ext>
    </p:extLst>
  </p:cSld>
  <p:clrMapOvr>
    <a:masterClrMapping/>
  </p:clrMapOvr>
</p:sld>
</file>

<file path=ppt/theme/theme1.xml><?xml version="1.0" encoding="utf-8"?>
<a:theme xmlns:a="http://schemas.openxmlformats.org/drawingml/2006/main" name="2020-佈景主題-橫條-4比3比例">
  <a:themeElements>
    <a:clrScheme name="自訂 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0563C1"/>
      </a:folHlink>
    </a:clrScheme>
    <a:fontScheme name="自訂 1">
      <a:majorFont>
        <a:latin typeface="新細明體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2020-佈景主題-橫條-4比3比例" id="{1FE5FB97-7F06-4D60-ADCC-BB200E22BBFC}" vid="{9528486C-D54A-4025-BC93-DF7E9FAB7AA3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81103</TotalTime>
  <Words>2228</Words>
  <Application>Microsoft Office PowerPoint</Application>
  <PresentationFormat>寬螢幕</PresentationFormat>
  <Paragraphs>390</Paragraphs>
  <Slides>50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50</vt:i4>
      </vt:variant>
    </vt:vector>
  </HeadingPairs>
  <TitlesOfParts>
    <vt:vector size="63" baseType="lpstr">
      <vt:lpstr>aktiv-grotesk</vt:lpstr>
      <vt:lpstr>inherit</vt:lpstr>
      <vt:lpstr>微軟正黑體</vt:lpstr>
      <vt:lpstr>新細明體</vt:lpstr>
      <vt:lpstr>Arial</vt:lpstr>
      <vt:lpstr>Calibri</vt:lpstr>
      <vt:lpstr>Cambria Math</vt:lpstr>
      <vt:lpstr>Script MT Bold</vt:lpstr>
      <vt:lpstr>Times New Roman</vt:lpstr>
      <vt:lpstr>Verdana</vt:lpstr>
      <vt:lpstr>Verdana Pro Black</vt:lpstr>
      <vt:lpstr>Wingdings</vt:lpstr>
      <vt:lpstr>2020-佈景主題-橫條-4比3比例</vt:lpstr>
      <vt:lpstr>李明昌博士 </vt:lpstr>
      <vt:lpstr>大綱</vt:lpstr>
      <vt:lpstr>1.資料分析架構暨APC方法</vt:lpstr>
      <vt:lpstr>★★★資料分析架構APC方法</vt:lpstr>
      <vt:lpstr>2.資料分析暨視覺化應用</vt:lpstr>
      <vt:lpstr>Excel 下拉式選單與條件式格式設定教學</vt:lpstr>
      <vt:lpstr>資料分析/視覺化應用</vt:lpstr>
      <vt:lpstr>中央氣象局 1,600萬筆資料</vt:lpstr>
      <vt:lpstr>保險預測模型</vt:lpstr>
      <vt:lpstr>空間圓餅圖離群值分析</vt:lpstr>
      <vt:lpstr>2020新型冠狀病毒視覺化</vt:lpstr>
      <vt:lpstr>shiny 顧客連接分析</vt:lpstr>
      <vt:lpstr>品質管制圖(quality control chart)應用</vt:lpstr>
      <vt:lpstr>Taiwan Stock App</vt:lpstr>
      <vt:lpstr>離子資料分析與視覺化應用</vt:lpstr>
      <vt:lpstr>RWEPA | shiny企業實務應用 第4集-shiny銷售儀表板</vt:lpstr>
      <vt:lpstr>shiny企業實務應用 第6集-小明算命師(下) - 第1季完結篇</vt:lpstr>
      <vt:lpstr>Tableau - 智慧製造應用</vt:lpstr>
      <vt:lpstr>登山路線視覺化分析平台 (Python + Streamlit)</vt:lpstr>
      <vt:lpstr>銷售儀表板2025 (Python + Streamlit)</vt:lpstr>
      <vt:lpstr>RWEPA(小明) | PDF2MP3</vt:lpstr>
      <vt:lpstr>R 入門資料分析與視覺化應用(7小時28分鐘)</vt:lpstr>
      <vt:lpstr>R 商業預測應用(8小時53分鐘)</vt:lpstr>
      <vt:lpstr>免費 Anaconda + Pandas 實作教學</vt:lpstr>
      <vt:lpstr>Python 程式設計-李明昌 免費電子書</vt:lpstr>
      <vt:lpstr>3.CRISP-DM 簡介</vt:lpstr>
      <vt:lpstr>CRISP-DM</vt:lpstr>
      <vt:lpstr>CRISP-DM 資料探勘流程(續)</vt:lpstr>
      <vt:lpstr>1.商業理解</vt:lpstr>
      <vt:lpstr>2.資料理解</vt:lpstr>
      <vt:lpstr>3.資料準備 </vt:lpstr>
      <vt:lpstr>4.模型建立、5.評估與測試</vt:lpstr>
      <vt:lpstr>6.佈署應用</vt:lpstr>
      <vt:lpstr>CRISP-DM 資料探勘流程(續)</vt:lpstr>
      <vt:lpstr>4.七大核心產業應用指南</vt:lpstr>
      <vt:lpstr>1.金融與保險業 (Financial &amp; Insurance)</vt:lpstr>
      <vt:lpstr>2.零售與電子商務 (Retail &amp; E-commerce)</vt:lpstr>
      <vt:lpstr>3.製造業與工業 4.0 (Manufacturing)</vt:lpstr>
      <vt:lpstr>4.電信與數位服務 (Telecommunications)</vt:lpstr>
      <vt:lpstr>5.醫療健康與生物資訊 (Healthcare)</vt:lpstr>
      <vt:lpstr>6.行銷與客戶關係管理 (Marketing &amp; CRM)</vt:lpstr>
      <vt:lpstr>7.智慧交通與物流 (Transportation)</vt:lpstr>
      <vt:lpstr>5.模型績效指標</vt:lpstr>
      <vt:lpstr>變數</vt:lpstr>
      <vt:lpstr>數值模型績效指標</vt:lpstr>
      <vt:lpstr>類別模型績效指標 - 混淆矩陣</vt:lpstr>
      <vt:lpstr>如何學習?</vt:lpstr>
      <vt:lpstr>學習目標</vt:lpstr>
      <vt:lpstr>參考資料</vt:lpstr>
      <vt:lpstr>謝謝您的聆聽 Q &amp; A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 with R</dc:title>
  <dc:creator>Administrator</dc:creator>
  <cp:keywords>R</cp:keywords>
  <cp:lastModifiedBy>ALAN LEE</cp:lastModifiedBy>
  <cp:revision>3047</cp:revision>
  <cp:lastPrinted>2024-05-14T15:08:21Z</cp:lastPrinted>
  <dcterms:created xsi:type="dcterms:W3CDTF">2006-05-04T01:39:56Z</dcterms:created>
  <dcterms:modified xsi:type="dcterms:W3CDTF">2026-10-14T09:07:31Z</dcterms:modified>
</cp:coreProperties>
</file>